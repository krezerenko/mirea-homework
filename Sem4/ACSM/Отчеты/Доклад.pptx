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692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/>
          <p:nvPr/>
        </p:nvSpPr>
        <p:spPr>
          <a:xfrm>
            <a:off x="361950" y="523875"/>
            <a:ext cx="177927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Моделирование поведения систем с помощью диаграмм активностей UML</a:t>
            </a:r>
            <a:endParaRPr lang="en-US" sz="7200" dirty="0"/>
          </a:p>
        </p:txBody>
      </p:sp>
      <p:sp>
        <p:nvSpPr>
          <p:cNvPr id="3" name="H1"/>
          <p:cNvSpPr/>
          <p:nvPr/>
        </p:nvSpPr>
        <p:spPr>
          <a:xfrm>
            <a:off x="12601575" y="8382000"/>
            <a:ext cx="55435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Работа выполнена:
студентами группы ИКБО-20-23
Комисариком М.А.
Кузнецовым Л.А.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9050" y="876300"/>
            <a:ext cx="12858750" cy="91059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895350" y="323850"/>
            <a:ext cx="25717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UML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86850" y="1962150"/>
            <a:ext cx="8486775" cy="6362700"/>
          </a:xfrm>
          <a:prstGeom prst="rect">
            <a:avLst/>
          </a:prstGeom>
        </p:spPr>
      </p:pic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250" y="4838700"/>
            <a:ext cx="5067300" cy="3771900"/>
          </a:xfrm>
          <a:prstGeom prst="rect">
            <a:avLst/>
          </a:prstGeom>
        </p:spPr>
      </p:pic>
      <p:pic>
        <p:nvPicPr>
          <p:cNvPr id="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1812123"/>
            <a:ext cx="18288000" cy="7972425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971550" y="504825"/>
            <a:ext cx="71723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Структура UML</a:t>
            </a:r>
            <a:endParaRPr lang="en-US" sz="7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10050" y="4133850"/>
            <a:ext cx="9867900" cy="5095875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952500" y="1009650"/>
            <a:ext cx="112776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Диаграмма активностей</a:t>
            </a:r>
            <a:endParaRPr lang="en-US" sz="7200" dirty="0"/>
          </a:p>
        </p:txBody>
      </p:sp>
      <p:sp>
        <p:nvSpPr>
          <p:cNvPr id="4" name="Body 1"/>
          <p:cNvSpPr/>
          <p:nvPr/>
        </p:nvSpPr>
        <p:spPr>
          <a:xfrm>
            <a:off x="1047750" y="2705100"/>
            <a:ext cx="162687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4"/>
              </a:lnSpc>
            </a:pPr>
            <a:r>
              <a:rPr lang="en-US" sz="2700" b="1" kern="0" spc="-7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Диаграмма</a:t>
            </a:r>
            <a:r>
              <a:rPr lang="en-US" sz="27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700" b="1" kern="0" spc="-7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активностей</a:t>
            </a:r>
            <a:r>
              <a:rPr lang="en-US" sz="27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</a:t>
            </a:r>
            <a:r>
              <a:rPr lang="en-US" sz="2700" b="1" kern="0" spc="-7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деятельности</a:t>
            </a:r>
            <a:r>
              <a:rPr lang="en-US" sz="27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)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создается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для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детализации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прецедентов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(use case),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выделенных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в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диаграмме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прецедентов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.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Диаграммы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деятельности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служат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для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иллюстрации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последовательности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2700" kern="0" spc="-75" dirty="0" err="1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действий</a:t>
            </a: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.</a:t>
            </a:r>
            <a:endParaRPr lang="en-US" sz="2700" dirty="0"/>
          </a:p>
          <a:p>
            <a:pPr marL="0" indent="0" algn="l">
              <a:lnSpc>
                <a:spcPts val="3564"/>
              </a:lnSpc>
              <a:buNone/>
            </a:pP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7325" y="2438400"/>
            <a:ext cx="11925300" cy="7077075"/>
          </a:xfrm>
          <a:prstGeom prst="rect">
            <a:avLst/>
          </a:prstGeom>
        </p:spPr>
      </p:pic>
      <p:sp>
        <p:nvSpPr>
          <p:cNvPr id="3" name="Header 3"/>
          <p:cNvSpPr/>
          <p:nvPr/>
        </p:nvSpPr>
        <p:spPr>
          <a:xfrm>
            <a:off x="1123950" y="2809875"/>
            <a:ext cx="140398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27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Действие (Action)
Начало (Initial)
Конец (Final)
Поток (Control flow)</a:t>
            </a:r>
            <a:endParaRPr lang="en-US" sz="2700" dirty="0"/>
          </a:p>
        </p:txBody>
      </p:sp>
      <p:sp>
        <p:nvSpPr>
          <p:cNvPr id="4" name="Title"/>
          <p:cNvSpPr/>
          <p:nvPr/>
        </p:nvSpPr>
        <p:spPr>
          <a:xfrm>
            <a:off x="1123950" y="895350"/>
            <a:ext cx="947737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элементы</a:t>
            </a:r>
            <a:endParaRPr lang="en-US" sz="7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7775" y="2609850"/>
            <a:ext cx="15440025" cy="59436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90550" y="342900"/>
            <a:ext cx="107061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Логические операторы</a:t>
            </a:r>
            <a:endParaRPr lang="en-US" sz="7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62900" y="3305175"/>
            <a:ext cx="9382125" cy="6677025"/>
          </a:xfrm>
          <a:prstGeom prst="rect">
            <a:avLst/>
          </a:prstGeom>
        </p:spPr>
      </p:pic>
      <p:pic>
        <p:nvPicPr>
          <p:cNvPr id="3" name="image 2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" y="3790950"/>
            <a:ext cx="7353300" cy="5705475"/>
          </a:xfrm>
          <a:prstGeom prst="rect">
            <a:avLst/>
          </a:prstGeom>
        </p:spPr>
      </p:pic>
      <p:sp>
        <p:nvSpPr>
          <p:cNvPr id="4" name="Body 1"/>
          <p:cNvSpPr/>
          <p:nvPr/>
        </p:nvSpPr>
        <p:spPr>
          <a:xfrm>
            <a:off x="1600200" y="2105025"/>
            <a:ext cx="15116175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kern="0" spc="-75" dirty="0">
                <a:solidFill>
                  <a:srgbClr val="000000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Деятельность, которая состоит из нескольких более простых действий, может быть представлена на диаграмме активности в виде </a:t>
            </a:r>
            <a:r>
              <a:rPr lang="en-US" sz="27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составной деятельности (structured activity)</a:t>
            </a:r>
            <a:endParaRPr lang="en-US" sz="2700" dirty="0"/>
          </a:p>
        </p:txBody>
      </p:sp>
      <p:sp>
        <p:nvSpPr>
          <p:cNvPr id="5" name="Title"/>
          <p:cNvSpPr/>
          <p:nvPr/>
        </p:nvSpPr>
        <p:spPr>
          <a:xfrm>
            <a:off x="1076325" y="647700"/>
            <a:ext cx="114871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Составная деятельность</a:t>
            </a:r>
            <a:endParaRPr lang="en-US" sz="7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44175" y="2114550"/>
            <a:ext cx="7400925" cy="6248400"/>
          </a:xfrm>
          <a:prstGeom prst="rect">
            <a:avLst/>
          </a:prstGeom>
        </p:spPr>
      </p:pic>
      <p:pic>
        <p:nvPicPr>
          <p:cNvPr id="3" name="image 1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8750" y="4619625"/>
            <a:ext cx="5943600" cy="5000625"/>
          </a:xfrm>
          <a:prstGeom prst="rect">
            <a:avLst/>
          </a:prstGeom>
        </p:spPr>
      </p:pic>
      <p:sp>
        <p:nvSpPr>
          <p:cNvPr id="4" name="Title"/>
          <p:cNvSpPr/>
          <p:nvPr/>
        </p:nvSpPr>
        <p:spPr>
          <a:xfrm>
            <a:off x="657225" y="476250"/>
            <a:ext cx="114871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Разбиение деятельности</a:t>
            </a:r>
            <a:endParaRPr lang="en-US" sz="7200" dirty="0"/>
          </a:p>
        </p:txBody>
      </p:sp>
      <p:sp>
        <p:nvSpPr>
          <p:cNvPr id="5" name="Header 3"/>
          <p:cNvSpPr/>
          <p:nvPr/>
        </p:nvSpPr>
        <p:spPr>
          <a:xfrm>
            <a:off x="657225" y="2114550"/>
            <a:ext cx="99155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Применяется для представления деятельности того или иного экземпляра класса
 </a:t>
            </a:r>
            <a:endParaRPr lang="en-US" sz="2700" dirty="0"/>
          </a:p>
        </p:txBody>
      </p:sp>
      <p:sp>
        <p:nvSpPr>
          <p:cNvPr id="6" name="Header 3"/>
          <p:cNvSpPr/>
          <p:nvPr/>
        </p:nvSpPr>
        <p:spPr>
          <a:xfrm>
            <a:off x="657225" y="3381375"/>
            <a:ext cx="9610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Графическое обозначение разбиения деятельности получило название “плавательные дорожки”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82425" y="1781175"/>
            <a:ext cx="3981450" cy="7667625"/>
          </a:xfrm>
          <a:prstGeom prst="rect">
            <a:avLst/>
          </a:prstGeom>
        </p:spPr>
      </p:pic>
      <p:pic>
        <p:nvPicPr>
          <p:cNvPr id="3" name="image 1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525" y="1581150"/>
            <a:ext cx="10086975" cy="8077200"/>
          </a:xfrm>
          <a:prstGeom prst="rect">
            <a:avLst/>
          </a:prstGeom>
        </p:spPr>
      </p:pic>
      <p:sp>
        <p:nvSpPr>
          <p:cNvPr id="4" name="Title"/>
          <p:cNvSpPr/>
          <p:nvPr/>
        </p:nvSpPr>
        <p:spPr>
          <a:xfrm>
            <a:off x="628650" y="323850"/>
            <a:ext cx="152209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Пример диаграммы активностей</a:t>
            </a:r>
            <a:endParaRPr lang="en-US" sz="7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525" y="4048125"/>
            <a:ext cx="101060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Спасибо за внимание!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</Words>
  <Application>Microsoft Office PowerPoint</Application>
  <PresentationFormat>Произвольный</PresentationFormat>
  <Paragraphs>26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 Bold</vt:lpstr>
      <vt:lpstr>Inter Regular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Mike Komi</cp:lastModifiedBy>
  <cp:revision>2</cp:revision>
  <dcterms:created xsi:type="dcterms:W3CDTF">2025-05-06T08:39:25Z</dcterms:created>
  <dcterms:modified xsi:type="dcterms:W3CDTF">2025-05-06T08:42:08Z</dcterms:modified>
</cp:coreProperties>
</file>