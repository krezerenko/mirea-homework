
<file path=[Content_Types].xml><?xml version="1.0" encoding="utf-8"?>
<Types xmlns="http://schemas.openxmlformats.org/package/2006/content-types">
  <Default Extension="svg" ContentType="image/svg+xml"/>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Layouts/slideLayout9.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slideLayouts/slideLayout8.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slideLayouts/slideLayout6.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12192000" cy="6858000"/>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21E4AEA4-8DFA-4A89-87EB-49C32662AFE0}">
  <a:tblStyle styleId="{21E4AEA4-8DFA-4A89-87EB-49C32662AFE0}" styleName="Средний стиль 2 — акцент 2">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fill>
          <a:solidFill>
            <a:schemeClr val="accent2">
              <a:tint val="40000"/>
            </a:schemeClr>
          </a:solidFill>
        </a:fill>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a:solidFill>
                <a:schemeClr val="lt1"/>
              </a:solidFill>
            </a:ln>
          </a:top>
        </a:tcBdr>
        <a:fill>
          <a:solidFill>
            <a:schemeClr val="accent2"/>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2"/>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1" d="100"/>
          <a:sy n="101" d="100"/>
        </p:scale>
        <p:origin x="144" y="28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Титульный слайд">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524000" y="1122363"/>
            <a:ext cx="9144000" cy="2387600"/>
          </a:xfrm>
        </p:spPr>
        <p:txBody>
          <a:bodyPr anchor="b"/>
          <a:lstStyle>
            <a:lvl1pPr algn="ctr">
              <a:defRPr sz="6000"/>
            </a:lvl1pPr>
          </a:lstStyle>
          <a:p>
            <a:pPr>
              <a:defRPr/>
            </a:pPr>
            <a:r>
              <a:rPr lang="ru-RU"/>
              <a:t>Образец заголовка</a:t>
            </a:r>
            <a:endParaRPr/>
          </a:p>
        </p:txBody>
      </p:sp>
      <p:sp>
        <p:nvSpPr>
          <p:cNvPr id="3" name="Подзаголовок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ru-RU"/>
              <a:t>Образец подзаголовка</a:t>
            </a:r>
            <a:endParaRPr/>
          </a:p>
        </p:txBody>
      </p:sp>
      <p:sp>
        <p:nvSpPr>
          <p:cNvPr id="4" name="Дата 3"/>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Заголовок и объект">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a:p>
        </p:txBody>
      </p:sp>
      <p:sp>
        <p:nvSpPr>
          <p:cNvPr id="3" name="Объект 2"/>
          <p:cNvSpPr>
            <a:spLocks noGrp="1"/>
          </p:cNvSpPr>
          <p:nvPr>
            <p:ph idx="1"/>
          </p:nvPr>
        </p:nvSpPr>
        <p:spPr bwMode="auto"/>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4" name="Дата 3"/>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Заголовок раздела">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1850" y="1709738"/>
            <a:ext cx="10515600" cy="2852737"/>
          </a:xfrm>
        </p:spPr>
        <p:txBody>
          <a:bodyPr anchor="b"/>
          <a:lstStyle>
            <a:lvl1pPr>
              <a:defRPr sz="6000"/>
            </a:lvl1pPr>
          </a:lstStyle>
          <a:p>
            <a:pPr>
              <a:defRPr/>
            </a:pPr>
            <a:r>
              <a:rPr lang="ru-RU"/>
              <a:t>Образец заголовка</a:t>
            </a:r>
            <a:endParaRPr/>
          </a:p>
        </p:txBody>
      </p:sp>
      <p:sp>
        <p:nvSpPr>
          <p:cNvPr id="3" name="Текст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ru-RU"/>
              <a:t>Образец текста</a:t>
            </a:r>
            <a:endParaRPr/>
          </a:p>
        </p:txBody>
      </p:sp>
      <p:sp>
        <p:nvSpPr>
          <p:cNvPr id="4" name="Дата 3"/>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Два объекта">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a:p>
        </p:txBody>
      </p:sp>
      <p:sp>
        <p:nvSpPr>
          <p:cNvPr id="3" name="Объект 2"/>
          <p:cNvSpPr>
            <a:spLocks noGrp="1"/>
          </p:cNvSpPr>
          <p:nvPr>
            <p:ph sz="half" idx="1"/>
          </p:nvPr>
        </p:nvSpPr>
        <p:spPr bwMode="auto">
          <a:xfrm>
            <a:off x="838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4" name="Объект 3"/>
          <p:cNvSpPr>
            <a:spLocks noGrp="1"/>
          </p:cNvSpPr>
          <p:nvPr>
            <p:ph sz="half" idx="2"/>
          </p:nvPr>
        </p:nvSpPr>
        <p:spPr bwMode="auto">
          <a:xfrm>
            <a:off x="6172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5" name="Дата 4"/>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6" name="Нижний колонтитул 5"/>
          <p:cNvSpPr>
            <a:spLocks noGrp="1"/>
          </p:cNvSpPr>
          <p:nvPr>
            <p:ph type="ftr" sz="quarter" idx="11"/>
          </p:nvPr>
        </p:nvSpPr>
        <p:spPr bwMode="auto"/>
        <p:txBody>
          <a:bodyPr/>
          <a:lstStyle/>
          <a:p>
            <a:pPr>
              <a:defRPr/>
            </a:pPr>
            <a:endParaRPr lang="ru-RU"/>
          </a:p>
        </p:txBody>
      </p:sp>
      <p:sp>
        <p:nvSpPr>
          <p:cNvPr id="7" name="Номер слайда 6"/>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Сравнение">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9788" y="365125"/>
            <a:ext cx="10515600" cy="1325563"/>
          </a:xfrm>
        </p:spPr>
        <p:txBody>
          <a:bodyPr/>
          <a:lstStyle/>
          <a:p>
            <a:pPr>
              <a:defRPr/>
            </a:pPr>
            <a:r>
              <a:rPr lang="ru-RU"/>
              <a:t>Образец заголовка</a:t>
            </a:r>
            <a:endParaRPr/>
          </a:p>
        </p:txBody>
      </p:sp>
      <p:sp>
        <p:nvSpPr>
          <p:cNvPr id="3" name="Текст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4" name="Объект 3"/>
          <p:cNvSpPr>
            <a:spLocks noGrp="1"/>
          </p:cNvSpPr>
          <p:nvPr>
            <p:ph sz="half" idx="2"/>
          </p:nvPr>
        </p:nvSpPr>
        <p:spPr bwMode="auto">
          <a:xfrm>
            <a:off x="839788" y="2505074"/>
            <a:ext cx="5157787"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5" name="Текст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6" name="Объект 5"/>
          <p:cNvSpPr>
            <a:spLocks noGrp="1"/>
          </p:cNvSpPr>
          <p:nvPr>
            <p:ph sz="quarter" idx="4"/>
          </p:nvPr>
        </p:nvSpPr>
        <p:spPr bwMode="auto">
          <a:xfrm>
            <a:off x="6172200" y="2505074"/>
            <a:ext cx="5183188"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7" name="Дата 6"/>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8" name="Нижний колонтитул 7"/>
          <p:cNvSpPr>
            <a:spLocks noGrp="1"/>
          </p:cNvSpPr>
          <p:nvPr>
            <p:ph type="ftr" sz="quarter" idx="11"/>
          </p:nvPr>
        </p:nvSpPr>
        <p:spPr bwMode="auto"/>
        <p:txBody>
          <a:bodyPr/>
          <a:lstStyle/>
          <a:p>
            <a:pPr>
              <a:defRPr/>
            </a:pPr>
            <a:endParaRPr lang="ru-RU"/>
          </a:p>
        </p:txBody>
      </p:sp>
      <p:sp>
        <p:nvSpPr>
          <p:cNvPr id="9" name="Номер слайда 8"/>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Только заголовок">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a:p>
        </p:txBody>
      </p:sp>
      <p:sp>
        <p:nvSpPr>
          <p:cNvPr id="3" name="Дата 2"/>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Пустой слайд">
    <p:spTree>
      <p:nvGrpSpPr>
        <p:cNvPr id="1" name=""/>
        <p:cNvGrpSpPr/>
        <p:nvPr/>
      </p:nvGrpSpPr>
      <p:grpSpPr bwMode="auto">
        <a:xfrm>
          <a:off x="0" y="0"/>
          <a:ext cx="0" cy="0"/>
          <a:chOff x="0" y="0"/>
          <a:chExt cx="0" cy="0"/>
        </a:xfrm>
      </p:grpSpPr>
      <p:sp>
        <p:nvSpPr>
          <p:cNvPr id="2" name="Дата 1"/>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3" name="Нижний колонтитул 2"/>
          <p:cNvSpPr>
            <a:spLocks noGrp="1"/>
          </p:cNvSpPr>
          <p:nvPr>
            <p:ph type="ftr" sz="quarter" idx="11"/>
          </p:nvPr>
        </p:nvSpPr>
        <p:spPr bwMode="auto"/>
        <p:txBody>
          <a:bodyPr/>
          <a:lstStyle/>
          <a:p>
            <a:pPr>
              <a:defRPr/>
            </a:pPr>
            <a:endParaRPr lang="ru-RU"/>
          </a:p>
        </p:txBody>
      </p:sp>
      <p:sp>
        <p:nvSpPr>
          <p:cNvPr id="4" name="Номер слайда 3"/>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Объект с подписью">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a:p>
        </p:txBody>
      </p:sp>
      <p:sp>
        <p:nvSpPr>
          <p:cNvPr id="3" name="Объект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4"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5" name="Дата 4"/>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6" name="Нижний колонтитул 5"/>
          <p:cNvSpPr>
            <a:spLocks noGrp="1"/>
          </p:cNvSpPr>
          <p:nvPr>
            <p:ph type="ftr" sz="quarter" idx="11"/>
          </p:nvPr>
        </p:nvSpPr>
        <p:spPr bwMode="auto"/>
        <p:txBody>
          <a:bodyPr/>
          <a:lstStyle/>
          <a:p>
            <a:pPr>
              <a:defRPr/>
            </a:pPr>
            <a:endParaRPr lang="ru-RU"/>
          </a:p>
        </p:txBody>
      </p:sp>
      <p:sp>
        <p:nvSpPr>
          <p:cNvPr id="7" name="Номер слайда 6"/>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Рисунок с подписью">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a:p>
        </p:txBody>
      </p:sp>
      <p:sp>
        <p:nvSpPr>
          <p:cNvPr id="3" name="Рисунок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ru-RU"/>
          </a:p>
        </p:txBody>
      </p:sp>
      <p:sp>
        <p:nvSpPr>
          <p:cNvPr id="4"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5" name="Дата 4"/>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6" name="Нижний колонтитул 5"/>
          <p:cNvSpPr>
            <a:spLocks noGrp="1"/>
          </p:cNvSpPr>
          <p:nvPr>
            <p:ph type="ftr" sz="quarter" idx="11"/>
          </p:nvPr>
        </p:nvSpPr>
        <p:spPr bwMode="auto"/>
        <p:txBody>
          <a:bodyPr/>
          <a:lstStyle/>
          <a:p>
            <a:pPr>
              <a:defRPr/>
            </a:pPr>
            <a:endParaRPr lang="ru-RU"/>
          </a:p>
        </p:txBody>
      </p:sp>
      <p:sp>
        <p:nvSpPr>
          <p:cNvPr id="7" name="Номер слайда 6"/>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Заголовок и вертикальный текст">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a:p>
        </p:txBody>
      </p:sp>
      <p:sp>
        <p:nvSpPr>
          <p:cNvPr id="3" name="Вертикальный текст 2"/>
          <p:cNvSpPr>
            <a:spLocks noGrp="1"/>
          </p:cNvSpPr>
          <p:nvPr>
            <p:ph type="body" orient="vert" idx="1"/>
          </p:nvPr>
        </p:nvSpPr>
        <p:spPr bwMode="auto"/>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4" name="Дата 3"/>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Вертикальный заголовок и текст">
    <p:spTree>
      <p:nvGrpSpPr>
        <p:cNvPr id="1" name=""/>
        <p:cNvGrpSpPr/>
        <p:nvPr/>
      </p:nvGrpSpPr>
      <p:grpSpPr bwMode="auto">
        <a:xfrm>
          <a:off x="0" y="0"/>
          <a:ext cx="0" cy="0"/>
          <a:chOff x="0" y="0"/>
          <a:chExt cx="0" cy="0"/>
        </a:xfrm>
      </p:grpSpPr>
      <p:sp>
        <p:nvSpPr>
          <p:cNvPr id="2" name="Вертикальный заголовок 1"/>
          <p:cNvSpPr>
            <a:spLocks noGrp="1"/>
          </p:cNvSpPr>
          <p:nvPr>
            <p:ph type="title" orient="vert"/>
          </p:nvPr>
        </p:nvSpPr>
        <p:spPr bwMode="auto">
          <a:xfrm>
            <a:off x="8724900" y="365125"/>
            <a:ext cx="2628900" cy="5811838"/>
          </a:xfrm>
        </p:spPr>
        <p:txBody>
          <a:bodyPr vert="eaVert"/>
          <a:lstStyle/>
          <a:p>
            <a:pPr>
              <a:defRPr/>
            </a:pPr>
            <a:r>
              <a:rPr lang="ru-RU"/>
              <a:t>Образец заголовка</a:t>
            </a:r>
            <a:endParaRPr/>
          </a:p>
        </p:txBody>
      </p:sp>
      <p:sp>
        <p:nvSpPr>
          <p:cNvPr id="3" name="Вертикальный текст 2"/>
          <p:cNvSpPr>
            <a:spLocks noGrp="1"/>
          </p:cNvSpPr>
          <p:nvPr>
            <p:ph type="body" orient="vert" idx="1"/>
          </p:nvPr>
        </p:nvSpPr>
        <p:spPr bwMode="auto">
          <a:xfrm>
            <a:off x="838200" y="365125"/>
            <a:ext cx="7734300" cy="5811838"/>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4" name="Дата 3"/>
          <p:cNvSpPr>
            <a:spLocks noGrp="1"/>
          </p:cNvSpPr>
          <p:nvPr>
            <p:ph type="dt" sz="half" idx="10"/>
          </p:nvPr>
        </p:nvSpPr>
        <p:spPr bwMode="auto"/>
        <p:txBody>
          <a:bodyPr/>
          <a:lstStyle/>
          <a:p>
            <a:pPr>
              <a:defRPr/>
            </a:pPr>
            <a:fld id="{AFB1744B-C440-D945-B2AD-69A0E3577F1F}" type="datetimeFigureOut">
              <a:rPr lang="ru-RU"/>
              <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6C1FA387-4F00-0A4B-8E4B-DD2C7EC86FB1}" type="slidenum">
              <a:rPr lang="ru-RU"/>
              <a:t/>
            </a:fld>
            <a:endParaRPr lang="ru-RU"/>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blipFill>
          <a:blip r:embed="rId13">
            <a:lum/>
          </a:blip>
          <a:stretch/>
        </a:blipFill>
      </p:bgPr>
    </p:bg>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ru-RU"/>
              <a:t>Образец заголовка</a:t>
            </a:r>
            <a:endParaRPr/>
          </a:p>
        </p:txBody>
      </p:sp>
      <p:sp>
        <p:nvSpPr>
          <p:cNvPr id="3" name="Текст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4" name="Дата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FB1744B-C440-D945-B2AD-69A0E3577F1F}" type="datetimeFigureOut">
              <a:rPr lang="ru-RU"/>
              <a:t/>
            </a:fld>
            <a:endParaRPr lang="ru-RU"/>
          </a:p>
        </p:txBody>
      </p:sp>
      <p:sp>
        <p:nvSpPr>
          <p:cNvPr id="5" name="Нижний колонтитул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C1FA387-4F00-0A4B-8E4B-DD2C7EC86FB1}" type="slidenum">
              <a:rPr lang="ru-RU"/>
              <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media1.sv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 Id="rId3" Type="http://schemas.openxmlformats.org/officeDocument/2006/relationships/image" Target="../media/image20.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blipFill>
          <a:blip r:embed="rId2">
            <a:lum/>
          </a:blip>
          <a:stretch/>
        </a:blipFill>
      </p:bgPr>
    </p:bg>
    <p:spTree>
      <p:nvGrpSpPr>
        <p:cNvPr id="1" name=""/>
        <p:cNvGrpSpPr/>
        <p:nvPr/>
      </p:nvGrpSpPr>
      <p:grpSpPr bwMode="auto">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0">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endParaRPr lang="en-US"/>
          </a:p>
        </p:txBody>
      </p:sp>
      <p:sp>
        <p:nvSpPr>
          <p:cNvPr id="4" name="AutoShape 2"/>
          <p:cNvSpPr>
            <a:spLocks noChangeArrowheads="1" noChangeAspect="1"/>
          </p:cNvSpPr>
          <p:nvPr/>
        </p:nvSpPr>
        <p:spPr bwMode="auto">
          <a:xfrm>
            <a:off x="5943600" y="3276600"/>
            <a:ext cx="304800" cy="304800"/>
          </a:xfrm>
          <a:prstGeom prst="rect">
            <a:avLst/>
          </a:prstGeom>
          <a:noFill/>
        </p:spPr>
        <p:txBody>
          <a:bodyPr vert="horz" wrap="square" lIns="91440" tIns="45720" rIns="91440" bIns="45720" numCol="1" anchor="t" anchorCtr="0" compatLnSpc="1">
            <a:prstTxWarp prst="textNoShape"/>
          </a:bodyPr>
          <a:lstStyle/>
          <a:p>
            <a:pPr>
              <a:defRPr/>
            </a:pPr>
            <a:endParaRPr lang="en-US"/>
          </a:p>
        </p:txBody>
      </p:sp>
      <p:sp>
        <p:nvSpPr>
          <p:cNvPr id="5" name="AutoShape 4"/>
          <p:cNvSpPr>
            <a:spLocks noChangeArrowheads="1" noChangeAspect="1"/>
          </p:cNvSpPr>
          <p:nvPr/>
        </p:nvSpPr>
        <p:spPr bwMode="auto">
          <a:xfrm>
            <a:off x="6096000" y="3429000"/>
            <a:ext cx="304800" cy="304800"/>
          </a:xfrm>
          <a:prstGeom prst="rect">
            <a:avLst/>
          </a:prstGeom>
          <a:noFill/>
        </p:spPr>
        <p:txBody>
          <a:bodyPr vert="horz" wrap="square" lIns="91440" tIns="45720" rIns="91440" bIns="45720" numCol="1" anchor="t" anchorCtr="0" compatLnSpc="1">
            <a:prstTxWarp prst="textNoShape"/>
          </a:bodyPr>
          <a:lstStyle/>
          <a:p>
            <a:pPr>
              <a:defRPr/>
            </a:pPr>
            <a:endParaRPr lang="en-US"/>
          </a:p>
        </p:txBody>
      </p:sp>
      <p:graphicFrame>
        <p:nvGraphicFramePr>
          <p:cNvPr id="8" name="Таблица 7"/>
          <p:cNvGraphicFramePr>
            <a:graphicFrameLocks xmlns:a="http://schemas.openxmlformats.org/drawingml/2006/main" noGrp="1"/>
          </p:cNvGraphicFramePr>
          <p:nvPr/>
        </p:nvGraphicFramePr>
        <p:xfrm>
          <a:off x="757929" y="1299298"/>
          <a:ext cx="10371342" cy="2011680"/>
        </p:xfrm>
        <a:graphic>
          <a:graphicData uri="http://schemas.openxmlformats.org/drawingml/2006/table">
            <a:tbl>
              <a:tblPr firstRow="1" firstCol="1" lastRow="0" lastCol="0" bandRow="1" bandCol="0">
                <a:tableStyleId>{21E4AEA4-8DFA-4A89-87EB-49C32662AFE0}</a:tableStyleId>
              </a:tblPr>
              <a:tblGrid>
                <a:gridCol w="697346"/>
                <a:gridCol w="921316"/>
                <a:gridCol w="1483008"/>
                <a:gridCol w="5876301"/>
                <a:gridCol w="1393371"/>
              </a:tblGrid>
              <a:tr h="0">
                <a:tc>
                  <a:txBody>
                    <a:bodyPr/>
                    <a:p>
                      <a:pPr algn="ctr">
                        <a:spcAft>
                          <a:spcPts val="0"/>
                        </a:spcAft>
                        <a:defRPr/>
                      </a:pPr>
                      <a:r>
                        <a:rPr lang="ru-RU" sz="1200"/>
                        <a:t>Номер недели</a:t>
                      </a:r>
                      <a:endParaRPr lang="ru-RU" sz="1200" b="1">
                        <a:latin typeface="Times New Roman"/>
                        <a:ea typeface="Droid Sans Fallback"/>
                        <a:cs typeface="FreeSans"/>
                      </a:endParaRPr>
                    </a:p>
                  </a:txBody>
                  <a:tcPr marL="68580" marR="68580" marT="0" marB="0" anchor="ctr"/>
                </a:tc>
                <a:tc>
                  <a:txBody>
                    <a:bodyPr/>
                    <a:p>
                      <a:pPr algn="ctr">
                        <a:spcAft>
                          <a:spcPts val="0"/>
                        </a:spcAft>
                        <a:defRPr/>
                      </a:pPr>
                      <a:r>
                        <a:rPr lang="ru-RU" sz="1200"/>
                        <a:t>Номер практики</a:t>
                      </a:r>
                      <a:endParaRPr lang="ru-RU" sz="1200" b="1">
                        <a:latin typeface="Times New Roman"/>
                        <a:ea typeface="Droid Sans Fallback"/>
                        <a:cs typeface="FreeSans"/>
                      </a:endParaRPr>
                    </a:p>
                  </a:txBody>
                  <a:tcPr marL="68580" marR="68580" marT="0" marB="0" anchor="ctr"/>
                </a:tc>
                <a:tc>
                  <a:txBody>
                    <a:bodyPr/>
                    <a:p>
                      <a:pPr algn="ctr">
                        <a:spcAft>
                          <a:spcPts val="0"/>
                        </a:spcAft>
                        <a:defRPr/>
                      </a:pPr>
                      <a:r>
                        <a:rPr lang="ru-RU" sz="1200"/>
                        <a:t>Неделя выдачи</a:t>
                      </a:r>
                      <a:endParaRPr/>
                    </a:p>
                  </a:txBody>
                  <a:tcPr marL="68580" marR="68580" marT="0" marB="0" anchor="ctr"/>
                </a:tc>
                <a:tc>
                  <a:txBody>
                    <a:bodyPr/>
                    <a:p>
                      <a:pPr algn="ctr">
                        <a:spcAft>
                          <a:spcPts val="0"/>
                        </a:spcAft>
                        <a:defRPr/>
                      </a:pPr>
                      <a:r>
                        <a:rPr lang="ru-RU" sz="1200"/>
                        <a:t>Наименование практики</a:t>
                      </a:r>
                      <a:endParaRPr lang="ru-RU" sz="1200" b="1">
                        <a:latin typeface="Times New Roman"/>
                        <a:ea typeface="Droid Sans Fallback"/>
                        <a:cs typeface="FreeSans"/>
                      </a:endParaRPr>
                    </a:p>
                  </a:txBody>
                  <a:tcPr marL="68580" marR="68580" marT="0" marB="0" anchor="ctr"/>
                </a:tc>
                <a:tc>
                  <a:txBody>
                    <a:bodyPr/>
                    <a:p>
                      <a:pPr algn="ctr">
                        <a:spcAft>
                          <a:spcPts val="0"/>
                        </a:spcAft>
                        <a:defRPr/>
                      </a:pPr>
                      <a:r>
                        <a:rPr lang="ru-RU" sz="1200"/>
                        <a:t>Срок сдачи</a:t>
                      </a:r>
                      <a:endParaRPr lang="ru-RU" sz="1200" b="1">
                        <a:latin typeface="Times New Roman"/>
                        <a:ea typeface="Droid Sans Fallback"/>
                        <a:cs typeface="FreeSans"/>
                      </a:endParaRPr>
                    </a:p>
                  </a:txBody>
                  <a:tcPr marL="68580" marR="68580" marT="0" marB="0" anchor="ctr"/>
                </a:tc>
              </a:tr>
              <a:tr h="0">
                <a:tc>
                  <a:txBody>
                    <a:bodyPr/>
                    <a:p>
                      <a:pPr algn="just">
                        <a:spcAft>
                          <a:spcPts val="0"/>
                        </a:spcAft>
                        <a:defRPr/>
                      </a:pPr>
                      <a:r>
                        <a:rPr lang="ru-RU" sz="1200"/>
                        <a:t>1</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1</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 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Описание функционала системы.</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2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2</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2</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2 неделя</a:t>
                      </a:r>
                      <a:endParaRPr lang="ru-RU" sz="1200">
                        <a:latin typeface="Times New Roman"/>
                        <a:ea typeface="Droid Sans Fallback"/>
                        <a:cs typeface="FreeSans"/>
                      </a:endParaRPr>
                    </a:p>
                  </a:txBody>
                  <a:tcPr marL="68580" marR="68580" marT="0" marB="0"/>
                </a:tc>
                <a:tc>
                  <a:txBody>
                    <a:bodyPr/>
                    <a:p>
                      <a:pPr marL="0" algn="just" defTabSz="914400">
                        <a:spcAft>
                          <a:spcPts val="0"/>
                        </a:spcAft>
                        <a:defRPr/>
                      </a:pPr>
                      <a:r>
                        <a:rPr lang="ru-RU" sz="1200"/>
                        <a:t>Описание функций системы через диаграмму вариантов использования.</a:t>
                      </a:r>
                      <a:endParaRPr lang="ru-RU" sz="1200">
                        <a:solidFill>
                          <a:schemeClr val="dk1"/>
                        </a:solidFill>
                        <a:latin typeface="+mn-lt"/>
                        <a:ea typeface="+mn-ea"/>
                        <a:cs typeface="+mn-cs"/>
                      </a:endParaRPr>
                    </a:p>
                  </a:txBody>
                  <a:tcPr marL="68580" marR="68580" marT="0" marB="0"/>
                </a:tc>
                <a:tc>
                  <a:txBody>
                    <a:bodyPr/>
                    <a:p>
                      <a:pPr algn="just">
                        <a:spcAft>
                          <a:spcPts val="0"/>
                        </a:spcAft>
                        <a:defRPr/>
                      </a:pPr>
                      <a:r>
                        <a:rPr lang="ru-RU" sz="1200"/>
                        <a:t>3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3</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3</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4 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Диаграмма классов анализа.</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5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5</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4</a:t>
                      </a:r>
                      <a:endParaRPr lang="ru-RU" sz="1200">
                        <a:latin typeface="Times New Roman"/>
                        <a:ea typeface="Droid Sans Fallback"/>
                        <a:cs typeface="FreeSans"/>
                      </a:endParaRPr>
                    </a:p>
                  </a:txBody>
                  <a:tcPr marL="68580" marR="68580" marT="0" marB="0">
                    <a:solidFill>
                      <a:schemeClr val="accent2"/>
                    </a:solidFill>
                  </a:tcPr>
                </a:tc>
                <a:tc>
                  <a:txBody>
                    <a:bodyPr/>
                    <a:p>
                      <a:pPr algn="just">
                        <a:spcAft>
                          <a:spcPts val="0"/>
                        </a:spcAft>
                        <a:defRPr/>
                      </a:pPr>
                      <a:r>
                        <a:rPr lang="en-US" sz="1200"/>
                        <a:t>5</a:t>
                      </a:r>
                      <a:r>
                        <a:rPr lang="ru-RU" sz="1200"/>
                        <a:t> </a:t>
                      </a:r>
                      <a:r>
                        <a:rPr lang="ru-RU" sz="1200"/>
                        <a:t>неделя</a:t>
                      </a:r>
                      <a:endParaRPr lang="ru-RU" sz="1200">
                        <a:latin typeface="Times New Roman"/>
                        <a:ea typeface="Droid Sans Fallback"/>
                        <a:cs typeface="FreeSans"/>
                      </a:endParaRPr>
                    </a:p>
                  </a:txBody>
                  <a:tcPr marL="68580" marR="68580" marT="0" marB="0">
                    <a:solidFill>
                      <a:schemeClr val="accent2"/>
                    </a:solidFill>
                  </a:tcPr>
                </a:tc>
                <a:tc>
                  <a:txBody>
                    <a:bodyPr/>
                    <a:p>
                      <a:pPr algn="just">
                        <a:spcAft>
                          <a:spcPts val="0"/>
                        </a:spcAft>
                        <a:defRPr/>
                      </a:pPr>
                      <a:r>
                        <a:rPr lang="ru-RU" sz="1200"/>
                        <a:t>Построение UML – модели системы. Диаграмма последовательности.</a:t>
                      </a:r>
                      <a:endParaRPr lang="ru-RU" sz="1200">
                        <a:latin typeface="Times New Roman"/>
                        <a:ea typeface="Droid Sans Fallback"/>
                        <a:cs typeface="FreeSans"/>
                      </a:endParaRPr>
                    </a:p>
                  </a:txBody>
                  <a:tcPr marL="68580" marR="68580" marT="0" marB="0">
                    <a:solidFill>
                      <a:schemeClr val="accent2"/>
                    </a:solidFill>
                  </a:tcPr>
                </a:tc>
                <a:tc>
                  <a:txBody>
                    <a:bodyPr/>
                    <a:p>
                      <a:pPr algn="just">
                        <a:spcAft>
                          <a:spcPts val="0"/>
                        </a:spcAft>
                        <a:defRPr/>
                      </a:pPr>
                      <a:r>
                        <a:rPr lang="ru-RU" sz="1200"/>
                        <a:t>7 неделя</a:t>
                      </a:r>
                      <a:endParaRPr lang="ru-RU" sz="1200">
                        <a:latin typeface="Times New Roman"/>
                        <a:ea typeface="Droid Sans Fallback"/>
                        <a:cs typeface="FreeSans"/>
                      </a:endParaRPr>
                    </a:p>
                  </a:txBody>
                  <a:tcPr marL="68580" marR="68580" marT="0" marB="0">
                    <a:solidFill>
                      <a:schemeClr val="accent2"/>
                    </a:solidFill>
                  </a:tcPr>
                </a:tc>
              </a:tr>
              <a:tr h="0">
                <a:tc>
                  <a:txBody>
                    <a:bodyPr/>
                    <a:p>
                      <a:pPr algn="just">
                        <a:spcAft>
                          <a:spcPts val="0"/>
                        </a:spcAft>
                        <a:defRPr/>
                      </a:pPr>
                      <a:r>
                        <a:rPr lang="ru-RU" sz="1200"/>
                        <a:t>7</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5</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7</a:t>
                      </a:r>
                      <a:r>
                        <a:rPr lang="ru-RU" sz="1200"/>
                        <a:t> </a:t>
                      </a:r>
                      <a:r>
                        <a:rPr lang="ru-RU" sz="1200"/>
                        <a:t>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Диаграмма классов.</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9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9</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6</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9</a:t>
                      </a:r>
                      <a:r>
                        <a:rPr lang="ru-RU" sz="1200"/>
                        <a:t> </a:t>
                      </a:r>
                      <a:r>
                        <a:rPr lang="ru-RU" sz="1200"/>
                        <a:t>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Диаграмма деятельности.</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11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11</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7</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a:t>
                      </a:r>
                      <a:r>
                        <a:rPr lang="en-US" sz="1200"/>
                        <a:t>1</a:t>
                      </a:r>
                      <a:r>
                        <a:rPr lang="ru-RU" sz="1200"/>
                        <a:t> </a:t>
                      </a:r>
                      <a:r>
                        <a:rPr lang="ru-RU" sz="1200"/>
                        <a:t>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Диаграммы компонентов, развертывания.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13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13</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8</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12 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Доклад</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13-14 неделя</a:t>
                      </a:r>
                      <a:endParaRPr/>
                    </a:p>
                  </a:txBody>
                  <a:tcPr marL="68580" marR="68580" marT="0" marB="0"/>
                </a:tc>
              </a:tr>
              <a:tr h="0">
                <a:tc>
                  <a:txBody>
                    <a:bodyPr/>
                    <a:p>
                      <a:pPr algn="just">
                        <a:spcAft>
                          <a:spcPts val="0"/>
                        </a:spcAft>
                        <a:defRPr/>
                      </a:pPr>
                      <a:r>
                        <a:rPr lang="ru-RU" sz="1200"/>
                        <a:t>15</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9</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14 неделя</a:t>
                      </a:r>
                      <a:endParaRPr/>
                    </a:p>
                  </a:txBody>
                  <a:tcPr marL="68580" marR="68580" marT="0" marB="0"/>
                </a:tc>
                <a:tc>
                  <a:txBody>
                    <a:bodyPr/>
                    <a:p>
                      <a:pPr algn="just">
                        <a:spcAft>
                          <a:spcPts val="0"/>
                        </a:spcAft>
                        <a:defRPr/>
                      </a:pPr>
                      <a:r>
                        <a:rPr lang="en-US" sz="1200"/>
                        <a:t>Проек</a:t>
                      </a:r>
                      <a:r>
                        <a:rPr lang="ru-RU" sz="1200"/>
                        <a:t>т</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15-16 неделя</a:t>
                      </a:r>
                      <a:endParaRPr lang="ru-RU" sz="1200">
                        <a:latin typeface="Times New Roman"/>
                        <a:ea typeface="Droid Sans Fallback"/>
                        <a:cs typeface="FreeSans"/>
                      </a:endParaRPr>
                    </a:p>
                  </a:txBody>
                  <a:tcPr marL="68580" marR="68580" marT="0" marB="0"/>
                </a:tc>
              </a:tr>
            </a:tbl>
          </a:graphicData>
        </a:graphic>
      </p:graphicFrame>
      <p:graphicFrame>
        <p:nvGraphicFramePr>
          <p:cNvPr id="9" name="Таблица 8"/>
          <p:cNvGraphicFramePr>
            <a:graphicFrameLocks xmlns:a="http://schemas.openxmlformats.org/drawingml/2006/main" noGrp="1"/>
          </p:cNvGraphicFramePr>
          <p:nvPr/>
        </p:nvGraphicFramePr>
        <p:xfrm>
          <a:off x="2037273" y="3699422"/>
          <a:ext cx="7020560" cy="1645920"/>
        </p:xfrm>
        <a:graphic>
          <a:graphicData uri="http://schemas.openxmlformats.org/drawingml/2006/table">
            <a:tbl>
              <a:tblPr firstRow="1" firstCol="1" lastRow="0" lastCol="0" bandRow="1" bandCol="0">
                <a:tableStyleId>{21E4AEA4-8DFA-4A89-87EB-49C32662AFE0}</a:tableStyleId>
              </a:tblPr>
              <a:tblGrid>
                <a:gridCol w="1170305"/>
                <a:gridCol w="2700020"/>
                <a:gridCol w="3150235"/>
              </a:tblGrid>
              <a:tr h="365760">
                <a:tc>
                  <a:txBody>
                    <a:bodyPr/>
                    <a:p>
                      <a:pPr algn="ctr">
                        <a:spcAft>
                          <a:spcPts val="0"/>
                        </a:spcAft>
                        <a:defRPr/>
                      </a:pPr>
                      <a:r>
                        <a:rPr lang="ru-RU" sz="1200"/>
                        <a:t>Номер практики</a:t>
                      </a:r>
                      <a:endParaRPr lang="ru-RU" sz="1200" b="1">
                        <a:latin typeface="Times New Roman"/>
                        <a:ea typeface="Droid Sans Fallback"/>
                        <a:cs typeface="FreeSans"/>
                      </a:endParaRPr>
                    </a:p>
                  </a:txBody>
                  <a:tcPr marL="68580" marR="68580" marT="0" marB="0"/>
                </a:tc>
                <a:tc>
                  <a:txBody>
                    <a:bodyPr/>
                    <a:p>
                      <a:pPr algn="ctr">
                        <a:spcAft>
                          <a:spcPts val="0"/>
                        </a:spcAft>
                        <a:defRPr/>
                      </a:pPr>
                      <a:r>
                        <a:rPr lang="ru-RU" sz="1200"/>
                        <a:t>Максимальный балл при сдаче в срок</a:t>
                      </a:r>
                      <a:endParaRPr lang="ru-RU" sz="1200" b="1">
                        <a:latin typeface="Times New Roman"/>
                        <a:ea typeface="Droid Sans Fallback"/>
                        <a:cs typeface="FreeSans"/>
                      </a:endParaRPr>
                    </a:p>
                  </a:txBody>
                  <a:tcPr marL="68580" marR="68580" marT="0" marB="0"/>
                </a:tc>
                <a:tc>
                  <a:txBody>
                    <a:bodyPr/>
                    <a:p>
                      <a:pPr algn="ctr">
                        <a:spcAft>
                          <a:spcPts val="0"/>
                        </a:spcAft>
                        <a:defRPr/>
                      </a:pPr>
                      <a:r>
                        <a:rPr lang="ru-RU" sz="1200"/>
                        <a:t>Максимальный балл при сдаче после срока</a:t>
                      </a:r>
                      <a:endParaRPr lang="ru-RU" sz="1200" b="1">
                        <a:latin typeface="Times New Roman"/>
                        <a:ea typeface="Droid Sans Fallback"/>
                        <a:cs typeface="FreeSans"/>
                      </a:endParaRPr>
                    </a:p>
                  </a:txBody>
                  <a:tcPr marL="68580" marR="68580" marT="0" marB="0"/>
                </a:tc>
              </a:tr>
              <a:tr h="182880">
                <a:tc>
                  <a:txBody>
                    <a:bodyPr/>
                    <a:p>
                      <a:pPr algn="just">
                        <a:spcAft>
                          <a:spcPts val="0"/>
                        </a:spcAft>
                        <a:defRPr/>
                      </a:pPr>
                      <a:r>
                        <a:rPr lang="ru-RU" sz="1200"/>
                        <a:t>1</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5</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3</a:t>
                      </a:r>
                      <a:endParaRPr lang="ru-RU" sz="1200">
                        <a:latin typeface="Times New Roman"/>
                        <a:ea typeface="Droid Sans Fallback"/>
                        <a:cs typeface="FreeSans"/>
                      </a:endParaRPr>
                    </a:p>
                  </a:txBody>
                  <a:tcPr marL="68580" marR="68580" marT="0" marB="0"/>
                </a:tc>
              </a:tr>
              <a:tr h="182880">
                <a:tc>
                  <a:txBody>
                    <a:bodyPr/>
                    <a:p>
                      <a:pPr algn="just">
                        <a:spcAft>
                          <a:spcPts val="0"/>
                        </a:spcAft>
                        <a:defRPr/>
                      </a:pPr>
                      <a:r>
                        <a:rPr lang="ru-RU" sz="1200"/>
                        <a:t>2</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5</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3</a:t>
                      </a:r>
                      <a:endParaRPr lang="ru-RU" sz="1200">
                        <a:latin typeface="Times New Roman"/>
                        <a:ea typeface="Droid Sans Fallback"/>
                        <a:cs typeface="FreeSans"/>
                      </a:endParaRPr>
                    </a:p>
                  </a:txBody>
                  <a:tcPr marL="68580" marR="68580" marT="0" marB="0"/>
                </a:tc>
              </a:tr>
              <a:tr h="182880">
                <a:tc>
                  <a:txBody>
                    <a:bodyPr/>
                    <a:p>
                      <a:pPr algn="just">
                        <a:spcAft>
                          <a:spcPts val="0"/>
                        </a:spcAft>
                        <a:defRPr/>
                      </a:pPr>
                      <a:r>
                        <a:rPr lang="ru-RU" sz="1200"/>
                        <a:t>3</a:t>
                      </a:r>
                      <a:endParaRPr lang="ru-RU" sz="1200">
                        <a:latin typeface="Times New Roman"/>
                        <a:ea typeface="Droid Sans Fallback"/>
                        <a:cs typeface="FreeSans"/>
                      </a:endParaRPr>
                    </a:p>
                  </a:txBody>
                  <a:tcPr marL="68580" marR="68580" marT="0" marB="0"/>
                </a:tc>
                <a:tc>
                  <a:txBody>
                    <a:bodyPr/>
                    <a:p>
                      <a:pPr marL="0" algn="just" defTabSz="914400">
                        <a:spcAft>
                          <a:spcPts val="0"/>
                        </a:spcAft>
                        <a:defRPr/>
                      </a:pPr>
                      <a:r>
                        <a:rPr lang="ru-RU" sz="1200"/>
                        <a:t>8</a:t>
                      </a:r>
                      <a:endParaRPr lang="ru-RU" sz="1200">
                        <a:solidFill>
                          <a:schemeClr val="dk1"/>
                        </a:solidFill>
                        <a:latin typeface="+mn-lt"/>
                        <a:ea typeface="+mn-ea"/>
                        <a:cs typeface="+mn-cs"/>
                      </a:endParaRPr>
                    </a:p>
                  </a:txBody>
                  <a:tcPr marL="68580" marR="68580" marT="0" marB="0"/>
                </a:tc>
                <a:tc>
                  <a:txBody>
                    <a:bodyPr/>
                    <a:p>
                      <a:pPr marL="0" algn="just" defTabSz="914400">
                        <a:spcAft>
                          <a:spcPts val="0"/>
                        </a:spcAft>
                        <a:defRPr/>
                      </a:pPr>
                      <a:r>
                        <a:rPr lang="ru-RU" sz="1200"/>
                        <a:t>6</a:t>
                      </a:r>
                      <a:endParaRPr lang="ru-RU" sz="1200">
                        <a:solidFill>
                          <a:schemeClr val="dk1"/>
                        </a:solidFill>
                        <a:latin typeface="+mn-lt"/>
                        <a:ea typeface="+mn-ea"/>
                        <a:cs typeface="+mn-cs"/>
                      </a:endParaRPr>
                    </a:p>
                  </a:txBody>
                  <a:tcPr marL="68580" marR="68580" marT="0" marB="0"/>
                </a:tc>
              </a:tr>
              <a:tr h="182880">
                <a:tc>
                  <a:txBody>
                    <a:bodyPr/>
                    <a:p>
                      <a:pPr algn="just">
                        <a:spcAft>
                          <a:spcPts val="0"/>
                        </a:spcAft>
                        <a:defRPr/>
                      </a:pPr>
                      <a:r>
                        <a:rPr lang="ru-RU" sz="1200"/>
                        <a:t>4</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8</a:t>
                      </a:r>
                      <a:endParaRPr lang="ru-RU" sz="1200">
                        <a:latin typeface="Times New Roman"/>
                        <a:ea typeface="Droid Sans Fallback"/>
                        <a:cs typeface="FreeSans"/>
                      </a:endParaRPr>
                    </a:p>
                  </a:txBody>
                  <a:tcPr marL="68580" marR="68580" marT="0" marB="0">
                    <a:solidFill>
                      <a:schemeClr val="accent2"/>
                    </a:solidFill>
                  </a:tcPr>
                </a:tc>
                <a:tc>
                  <a:txBody>
                    <a:bodyPr/>
                    <a:p>
                      <a:pPr algn="just">
                        <a:spcAft>
                          <a:spcPts val="0"/>
                        </a:spcAft>
                        <a:defRPr/>
                      </a:pPr>
                      <a:r>
                        <a:rPr lang="ru-RU" sz="1200"/>
                        <a:t>6</a:t>
                      </a:r>
                      <a:endParaRPr lang="ru-RU" sz="1200">
                        <a:latin typeface="Times New Roman"/>
                        <a:ea typeface="Droid Sans Fallback"/>
                        <a:cs typeface="FreeSans"/>
                      </a:endParaRPr>
                    </a:p>
                  </a:txBody>
                  <a:tcPr marL="68580" marR="68580" marT="0" marB="0">
                    <a:solidFill>
                      <a:schemeClr val="accent2"/>
                    </a:solidFill>
                  </a:tcPr>
                </a:tc>
              </a:tr>
              <a:tr h="182880">
                <a:tc>
                  <a:txBody>
                    <a:bodyPr/>
                    <a:p>
                      <a:pPr algn="just">
                        <a:spcAft>
                          <a:spcPts val="0"/>
                        </a:spcAft>
                        <a:defRPr/>
                      </a:pPr>
                      <a:r>
                        <a:rPr lang="ru-RU" sz="1200"/>
                        <a:t>5</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8</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6</a:t>
                      </a:r>
                      <a:endParaRPr lang="ru-RU" sz="1200">
                        <a:latin typeface="Times New Roman"/>
                        <a:ea typeface="Droid Sans Fallback"/>
                        <a:cs typeface="FreeSans"/>
                      </a:endParaRPr>
                    </a:p>
                  </a:txBody>
                  <a:tcPr marL="68580" marR="68580" marT="0" marB="0"/>
                </a:tc>
              </a:tr>
              <a:tr h="182880">
                <a:tc>
                  <a:txBody>
                    <a:bodyPr/>
                    <a:p>
                      <a:pPr algn="just">
                        <a:spcAft>
                          <a:spcPts val="0"/>
                        </a:spcAft>
                        <a:defRPr/>
                      </a:pPr>
                      <a:r>
                        <a:rPr lang="ru-RU" sz="1200"/>
                        <a:t>6</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8</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6</a:t>
                      </a:r>
                      <a:endParaRPr lang="ru-RU" sz="1200">
                        <a:latin typeface="Times New Roman"/>
                        <a:ea typeface="Droid Sans Fallback"/>
                        <a:cs typeface="FreeSans"/>
                      </a:endParaRPr>
                    </a:p>
                  </a:txBody>
                  <a:tcPr marL="68580" marR="68580" marT="0" marB="0"/>
                </a:tc>
              </a:tr>
              <a:tr h="182880">
                <a:tc>
                  <a:txBody>
                    <a:bodyPr/>
                    <a:p>
                      <a:pPr algn="just">
                        <a:spcAft>
                          <a:spcPts val="0"/>
                        </a:spcAft>
                        <a:defRPr/>
                      </a:pPr>
                      <a:r>
                        <a:rPr lang="ru-RU" sz="1200"/>
                        <a:t>7</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8</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6</a:t>
                      </a:r>
                      <a:endParaRPr lang="ru-RU" sz="1200">
                        <a:latin typeface="Times New Roman"/>
                        <a:ea typeface="Droid Sans Fallback"/>
                        <a:cs typeface="FreeSans"/>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0">
  <p:cSld name="">
    <p:spTree>
      <p:nvGrpSpPr>
        <p:cNvPr id="1" name=""/>
        <p:cNvGrpSpPr/>
        <p:nvPr/>
      </p:nvGrpSpPr>
      <p:grpSpPr bwMode="auto">
        <a:xfrm>
          <a:off x="0" y="0"/>
          <a:ext cx="0" cy="0"/>
          <a:chOff x="0" y="0"/>
          <a:chExt cx="0" cy="0"/>
        </a:xfrm>
      </p:grpSpPr>
      <p:sp>
        <p:nvSpPr>
          <p:cNvPr id="480677142" name="Заголовок 1"/>
          <p:cNvSpPr>
            <a:spLocks noGrp="1"/>
          </p:cNvSpPr>
          <p:nvPr>
            <p:ph type="title"/>
          </p:nvPr>
        </p:nvSpPr>
        <p:spPr bwMode="auto"/>
        <p:txBody>
          <a:bodyPr/>
          <a:lstStyle/>
          <a:p>
            <a:pPr>
              <a:defRPr/>
            </a:pPr>
            <a:endParaRPr lang="en-US"/>
          </a:p>
        </p:txBody>
      </p:sp>
      <p:sp>
        <p:nvSpPr>
          <p:cNvPr id="1260578683" name="AutoShape 2"/>
          <p:cNvSpPr>
            <a:spLocks noChangeArrowheads="1" noChangeAspect="1"/>
          </p:cNvSpPr>
          <p:nvPr/>
        </p:nvSpPr>
        <p:spPr bwMode="auto">
          <a:xfrm>
            <a:off x="5943600" y="3276599"/>
            <a:ext cx="304799" cy="304799"/>
          </a:xfrm>
          <a:prstGeom prst="rect">
            <a:avLst/>
          </a:prstGeom>
          <a:noFill/>
        </p:spPr>
        <p:txBody>
          <a:bodyPr vert="horz" wrap="square" lIns="91440" tIns="45720" rIns="91440" bIns="45720" numCol="1" anchor="t" anchorCtr="0" compatLnSpc="1">
            <a:prstTxWarp prst="textNoShape"/>
          </a:bodyPr>
          <a:lstStyle/>
          <a:p>
            <a:pPr>
              <a:defRPr/>
            </a:pPr>
            <a:endParaRPr lang="en-US"/>
          </a:p>
        </p:txBody>
      </p:sp>
      <p:sp>
        <p:nvSpPr>
          <p:cNvPr id="1459679523" name="AutoShape 4"/>
          <p:cNvSpPr>
            <a:spLocks noChangeArrowheads="1" noChangeAspect="1"/>
          </p:cNvSpPr>
          <p:nvPr/>
        </p:nvSpPr>
        <p:spPr bwMode="auto">
          <a:xfrm>
            <a:off x="6095999" y="3429000"/>
            <a:ext cx="304799" cy="304799"/>
          </a:xfrm>
          <a:prstGeom prst="rect">
            <a:avLst/>
          </a:prstGeom>
          <a:noFill/>
        </p:spPr>
        <p:txBody>
          <a:bodyPr vert="horz" wrap="square" lIns="91440" tIns="45720" rIns="91440" bIns="45720" numCol="1" anchor="t" anchorCtr="0" compatLnSpc="1">
            <a:prstTxWarp prst="textNoShape"/>
          </a:bodyPr>
          <a:lstStyle/>
          <a:p>
            <a:pPr>
              <a:defRPr/>
            </a:pPr>
            <a:endParaRPr lang="en-US"/>
          </a:p>
        </p:txBody>
      </p:sp>
      <p:graphicFrame>
        <p:nvGraphicFramePr>
          <p:cNvPr id="6" name="Таблица 5"/>
          <p:cNvGraphicFramePr>
            <a:graphicFrameLocks xmlns:a="http://schemas.openxmlformats.org/drawingml/2006/main" noGrp="1"/>
          </p:cNvGraphicFramePr>
          <p:nvPr/>
        </p:nvGraphicFramePr>
        <p:xfrm>
          <a:off x="757929" y="1299298"/>
          <a:ext cx="10371342" cy="2011680"/>
        </p:xfrm>
        <a:graphic>
          <a:graphicData uri="http://schemas.openxmlformats.org/drawingml/2006/table">
            <a:tbl>
              <a:tblPr firstRow="1" firstCol="1" lastRow="0" lastCol="0" bandRow="1" bandCol="0">
                <a:tableStyleId>{21E4AEA4-8DFA-4A89-87EB-49C32662AFE0}</a:tableStyleId>
              </a:tblPr>
              <a:tblGrid>
                <a:gridCol w="697346"/>
                <a:gridCol w="921316"/>
                <a:gridCol w="1483008"/>
                <a:gridCol w="5876301"/>
                <a:gridCol w="1393371"/>
              </a:tblGrid>
              <a:tr h="0">
                <a:tc>
                  <a:txBody>
                    <a:bodyPr/>
                    <a:p>
                      <a:pPr algn="ctr">
                        <a:spcAft>
                          <a:spcPts val="0"/>
                        </a:spcAft>
                        <a:defRPr/>
                      </a:pPr>
                      <a:r>
                        <a:rPr lang="ru-RU" sz="1200"/>
                        <a:t>Номер недели</a:t>
                      </a:r>
                      <a:endParaRPr lang="ru-RU" sz="1200" b="1">
                        <a:latin typeface="Times New Roman"/>
                        <a:ea typeface="Droid Sans Fallback"/>
                        <a:cs typeface="FreeSans"/>
                      </a:endParaRPr>
                    </a:p>
                  </a:txBody>
                  <a:tcPr marL="68580" marR="68580" marT="0" marB="0" anchor="ctr"/>
                </a:tc>
                <a:tc>
                  <a:txBody>
                    <a:bodyPr/>
                    <a:p>
                      <a:pPr algn="ctr">
                        <a:spcAft>
                          <a:spcPts val="0"/>
                        </a:spcAft>
                        <a:defRPr/>
                      </a:pPr>
                      <a:r>
                        <a:rPr lang="ru-RU" sz="1200"/>
                        <a:t>Номер практики</a:t>
                      </a:r>
                      <a:endParaRPr lang="ru-RU" sz="1200" b="1">
                        <a:latin typeface="Times New Roman"/>
                        <a:ea typeface="Droid Sans Fallback"/>
                        <a:cs typeface="FreeSans"/>
                      </a:endParaRPr>
                    </a:p>
                  </a:txBody>
                  <a:tcPr marL="68580" marR="68580" marT="0" marB="0" anchor="ctr"/>
                </a:tc>
                <a:tc>
                  <a:txBody>
                    <a:bodyPr/>
                    <a:p>
                      <a:pPr algn="ctr">
                        <a:spcAft>
                          <a:spcPts val="0"/>
                        </a:spcAft>
                        <a:defRPr/>
                      </a:pPr>
                      <a:r>
                        <a:rPr lang="ru-RU" sz="1200"/>
                        <a:t>Неделя выдачи</a:t>
                      </a:r>
                      <a:endParaRPr/>
                    </a:p>
                  </a:txBody>
                  <a:tcPr marL="68580" marR="68580" marT="0" marB="0" anchor="ctr"/>
                </a:tc>
                <a:tc>
                  <a:txBody>
                    <a:bodyPr/>
                    <a:p>
                      <a:pPr algn="ctr">
                        <a:spcAft>
                          <a:spcPts val="0"/>
                        </a:spcAft>
                        <a:defRPr/>
                      </a:pPr>
                      <a:r>
                        <a:rPr lang="ru-RU" sz="1200"/>
                        <a:t>Наименование практики</a:t>
                      </a:r>
                      <a:endParaRPr lang="ru-RU" sz="1200" b="1">
                        <a:latin typeface="Times New Roman"/>
                        <a:ea typeface="Droid Sans Fallback"/>
                        <a:cs typeface="FreeSans"/>
                      </a:endParaRPr>
                    </a:p>
                  </a:txBody>
                  <a:tcPr marL="68580" marR="68580" marT="0" marB="0" anchor="ctr"/>
                </a:tc>
                <a:tc>
                  <a:txBody>
                    <a:bodyPr/>
                    <a:p>
                      <a:pPr algn="ctr">
                        <a:spcAft>
                          <a:spcPts val="0"/>
                        </a:spcAft>
                        <a:defRPr/>
                      </a:pPr>
                      <a:r>
                        <a:rPr lang="ru-RU" sz="1200"/>
                        <a:t>Срок сдачи</a:t>
                      </a:r>
                      <a:endParaRPr lang="ru-RU" sz="1200" b="1">
                        <a:latin typeface="Times New Roman"/>
                        <a:ea typeface="Droid Sans Fallback"/>
                        <a:cs typeface="FreeSans"/>
                      </a:endParaRPr>
                    </a:p>
                  </a:txBody>
                  <a:tcPr marL="68580" marR="68580" marT="0" marB="0" anchor="ctr"/>
                </a:tc>
              </a:tr>
              <a:tr h="0">
                <a:tc>
                  <a:txBody>
                    <a:bodyPr/>
                    <a:p>
                      <a:pPr algn="just">
                        <a:spcAft>
                          <a:spcPts val="0"/>
                        </a:spcAft>
                        <a:defRPr/>
                      </a:pPr>
                      <a:r>
                        <a:rPr lang="ru-RU" sz="1200"/>
                        <a:t>1</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1</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 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Описание функционала системы.</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2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2</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2</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2 неделя</a:t>
                      </a:r>
                      <a:endParaRPr lang="ru-RU" sz="1200">
                        <a:latin typeface="Times New Roman"/>
                        <a:ea typeface="Droid Sans Fallback"/>
                        <a:cs typeface="FreeSans"/>
                      </a:endParaRPr>
                    </a:p>
                  </a:txBody>
                  <a:tcPr marL="68580" marR="68580" marT="0" marB="0"/>
                </a:tc>
                <a:tc>
                  <a:txBody>
                    <a:bodyPr/>
                    <a:p>
                      <a:pPr marL="0" algn="just" defTabSz="914400">
                        <a:spcAft>
                          <a:spcPts val="0"/>
                        </a:spcAft>
                        <a:defRPr/>
                      </a:pPr>
                      <a:r>
                        <a:rPr lang="ru-RU" sz="1200"/>
                        <a:t>Описание функций системы через диаграмму вариантов использования.</a:t>
                      </a:r>
                      <a:endParaRPr lang="ru-RU" sz="1200">
                        <a:solidFill>
                          <a:schemeClr val="dk1"/>
                        </a:solidFill>
                        <a:latin typeface="+mn-lt"/>
                        <a:ea typeface="+mn-ea"/>
                        <a:cs typeface="+mn-cs"/>
                      </a:endParaRPr>
                    </a:p>
                  </a:txBody>
                  <a:tcPr marL="68580" marR="68580" marT="0" marB="0"/>
                </a:tc>
                <a:tc>
                  <a:txBody>
                    <a:bodyPr/>
                    <a:p>
                      <a:pPr algn="just">
                        <a:spcAft>
                          <a:spcPts val="0"/>
                        </a:spcAft>
                        <a:defRPr/>
                      </a:pPr>
                      <a:r>
                        <a:rPr lang="ru-RU" sz="1200"/>
                        <a:t>3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3</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3</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4 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Диаграмма классов анализа.</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5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5</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4</a:t>
                      </a:r>
                      <a:endParaRPr lang="ru-RU" sz="1200">
                        <a:latin typeface="Times New Roman"/>
                        <a:ea typeface="Droid Sans Fallback"/>
                        <a:cs typeface="FreeSans"/>
                      </a:endParaRPr>
                    </a:p>
                  </a:txBody>
                  <a:tcPr marL="68580" marR="68580" marT="0" marB="0">
                    <a:solidFill>
                      <a:schemeClr val="accent2"/>
                    </a:solidFill>
                  </a:tcPr>
                </a:tc>
                <a:tc>
                  <a:txBody>
                    <a:bodyPr/>
                    <a:p>
                      <a:pPr algn="just">
                        <a:spcAft>
                          <a:spcPts val="0"/>
                        </a:spcAft>
                        <a:defRPr/>
                      </a:pPr>
                      <a:r>
                        <a:rPr lang="en-US" sz="1200"/>
                        <a:t>5</a:t>
                      </a:r>
                      <a:r>
                        <a:rPr lang="ru-RU" sz="1200"/>
                        <a:t> </a:t>
                      </a:r>
                      <a:r>
                        <a:rPr lang="ru-RU" sz="1200"/>
                        <a:t>неделя</a:t>
                      </a:r>
                      <a:endParaRPr lang="ru-RU" sz="1200">
                        <a:latin typeface="Times New Roman"/>
                        <a:ea typeface="Droid Sans Fallback"/>
                        <a:cs typeface="FreeSans"/>
                      </a:endParaRPr>
                    </a:p>
                  </a:txBody>
                  <a:tcPr marL="68580" marR="68580" marT="0" marB="0">
                    <a:solidFill>
                      <a:schemeClr val="accent2"/>
                    </a:solidFill>
                  </a:tcPr>
                </a:tc>
                <a:tc>
                  <a:txBody>
                    <a:bodyPr/>
                    <a:p>
                      <a:pPr algn="just">
                        <a:spcAft>
                          <a:spcPts val="0"/>
                        </a:spcAft>
                        <a:defRPr/>
                      </a:pPr>
                      <a:r>
                        <a:rPr lang="ru-RU" sz="1200"/>
                        <a:t>Построение UML – модели системы. Диаграмма последовательности.</a:t>
                      </a:r>
                      <a:endParaRPr lang="ru-RU" sz="1200">
                        <a:latin typeface="Times New Roman"/>
                        <a:ea typeface="Droid Sans Fallback"/>
                        <a:cs typeface="FreeSans"/>
                      </a:endParaRPr>
                    </a:p>
                  </a:txBody>
                  <a:tcPr marL="68580" marR="68580" marT="0" marB="0">
                    <a:solidFill>
                      <a:schemeClr val="accent2"/>
                    </a:solidFill>
                  </a:tcPr>
                </a:tc>
                <a:tc>
                  <a:txBody>
                    <a:bodyPr/>
                    <a:p>
                      <a:pPr algn="just">
                        <a:spcAft>
                          <a:spcPts val="0"/>
                        </a:spcAft>
                        <a:defRPr/>
                      </a:pPr>
                      <a:r>
                        <a:rPr lang="ru-RU" sz="1200"/>
                        <a:t>7 неделя</a:t>
                      </a:r>
                      <a:endParaRPr lang="ru-RU" sz="1200">
                        <a:latin typeface="Times New Roman"/>
                        <a:ea typeface="Droid Sans Fallback"/>
                        <a:cs typeface="FreeSans"/>
                      </a:endParaRPr>
                    </a:p>
                  </a:txBody>
                  <a:tcPr marL="68580" marR="68580" marT="0" marB="0">
                    <a:solidFill>
                      <a:schemeClr val="accent2"/>
                    </a:solidFill>
                  </a:tcPr>
                </a:tc>
              </a:tr>
              <a:tr h="0">
                <a:tc>
                  <a:txBody>
                    <a:bodyPr/>
                    <a:p>
                      <a:pPr algn="just">
                        <a:spcAft>
                          <a:spcPts val="0"/>
                        </a:spcAft>
                        <a:defRPr/>
                      </a:pPr>
                      <a:r>
                        <a:rPr lang="ru-RU" sz="1200"/>
                        <a:t>7</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5</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7</a:t>
                      </a:r>
                      <a:r>
                        <a:rPr lang="ru-RU" sz="1200"/>
                        <a:t> </a:t>
                      </a:r>
                      <a:r>
                        <a:rPr lang="ru-RU" sz="1200"/>
                        <a:t>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Диаграмма классов.</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9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9</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6</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9</a:t>
                      </a:r>
                      <a:r>
                        <a:rPr lang="ru-RU" sz="1200"/>
                        <a:t> </a:t>
                      </a:r>
                      <a:r>
                        <a:rPr lang="ru-RU" sz="1200"/>
                        <a:t>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Диаграмма деятельности.</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11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11</a:t>
                      </a:r>
                      <a:endParaRPr lang="ru-RU" sz="1200">
                        <a:latin typeface="Times New Roman"/>
                        <a:ea typeface="Droid Sans Fallback"/>
                        <a:cs typeface="FreeSans"/>
                      </a:endParaRPr>
                    </a:p>
                  </a:txBody>
                  <a:tcPr marL="68580" marR="68580" marT="0" marB="0"/>
                </a:tc>
                <a:tc>
                  <a:txBody>
                    <a:bodyPr/>
                    <a:p>
                      <a:pPr algn="just">
                        <a:spcAft>
                          <a:spcPts val="0"/>
                        </a:spcAft>
                        <a:defRPr/>
                      </a:pPr>
                      <a:r>
                        <a:rPr lang="en-US" sz="1200"/>
                        <a:t>7</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a:t>
                      </a:r>
                      <a:r>
                        <a:rPr lang="en-US" sz="1200"/>
                        <a:t>1</a:t>
                      </a:r>
                      <a:r>
                        <a:rPr lang="ru-RU" sz="1200"/>
                        <a:t> </a:t>
                      </a:r>
                      <a:r>
                        <a:rPr lang="ru-RU" sz="1200"/>
                        <a:t>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Построение UML – модели системы.  Диаграммы компонентов, развертывания.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13 неделя</a:t>
                      </a:r>
                      <a:endParaRPr lang="ru-RU" sz="1200">
                        <a:latin typeface="Times New Roman"/>
                        <a:ea typeface="Droid Sans Fallback"/>
                        <a:cs typeface="FreeSans"/>
                      </a:endParaRPr>
                    </a:p>
                  </a:txBody>
                  <a:tcPr marL="68580" marR="68580" marT="0" marB="0"/>
                </a:tc>
              </a:tr>
              <a:tr h="0">
                <a:tc>
                  <a:txBody>
                    <a:bodyPr/>
                    <a:p>
                      <a:pPr algn="just">
                        <a:spcAft>
                          <a:spcPts val="0"/>
                        </a:spcAft>
                        <a:defRPr/>
                      </a:pPr>
                      <a:r>
                        <a:rPr lang="ru-RU" sz="1200"/>
                        <a:t>13</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8</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12 неделя</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Доклад</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13-14 неделя</a:t>
                      </a:r>
                      <a:endParaRPr/>
                    </a:p>
                  </a:txBody>
                  <a:tcPr marL="68580" marR="68580" marT="0" marB="0"/>
                </a:tc>
              </a:tr>
              <a:tr h="0">
                <a:tc>
                  <a:txBody>
                    <a:bodyPr/>
                    <a:p>
                      <a:pPr algn="just">
                        <a:spcAft>
                          <a:spcPts val="0"/>
                        </a:spcAft>
                        <a:defRPr/>
                      </a:pPr>
                      <a:r>
                        <a:rPr lang="ru-RU" sz="1200"/>
                        <a:t>15</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9</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14 неделя</a:t>
                      </a:r>
                      <a:endParaRPr/>
                    </a:p>
                  </a:txBody>
                  <a:tcPr marL="68580" marR="68580" marT="0" marB="0"/>
                </a:tc>
                <a:tc>
                  <a:txBody>
                    <a:bodyPr/>
                    <a:p>
                      <a:pPr algn="just">
                        <a:spcAft>
                          <a:spcPts val="0"/>
                        </a:spcAft>
                        <a:defRPr/>
                      </a:pPr>
                      <a:r>
                        <a:rPr lang="en-US" sz="1200"/>
                        <a:t>Проек</a:t>
                      </a:r>
                      <a:r>
                        <a:rPr lang="ru-RU" sz="1200"/>
                        <a:t>т</a:t>
                      </a:r>
                      <a:endParaRPr lang="ru-RU" sz="1200">
                        <a:latin typeface="Times New Roman"/>
                        <a:ea typeface="Droid Sans Fallback"/>
                        <a:cs typeface="FreeSans"/>
                      </a:endParaRPr>
                    </a:p>
                  </a:txBody>
                  <a:tcPr marL="68580" marR="68580" marT="0" marB="0"/>
                </a:tc>
                <a:tc>
                  <a:txBody>
                    <a:bodyPr/>
                    <a:p>
                      <a:pPr algn="just">
                        <a:spcAft>
                          <a:spcPts val="0"/>
                        </a:spcAft>
                        <a:defRPr/>
                      </a:pPr>
                      <a:r>
                        <a:rPr lang="ru-RU" sz="1200"/>
                        <a:t>15-16 неделя</a:t>
                      </a:r>
                      <a:endParaRPr lang="ru-RU" sz="1200">
                        <a:latin typeface="Times New Roman"/>
                        <a:ea typeface="Droid Sans Fallback"/>
                        <a:cs typeface="FreeSans"/>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Быстрое погружение в суть</a:t>
            </a:r>
            <a:endParaRPr lang="en-US"/>
          </a:p>
        </p:txBody>
      </p:sp>
      <p:sp>
        <p:nvSpPr>
          <p:cNvPr id="3" name="Объект 2"/>
          <p:cNvSpPr>
            <a:spLocks noGrp="1"/>
          </p:cNvSpPr>
          <p:nvPr>
            <p:ph idx="1"/>
          </p:nvPr>
        </p:nvSpPr>
        <p:spPr bwMode="auto">
          <a:xfrm>
            <a:off x="838198" y="1422399"/>
            <a:ext cx="9965871" cy="5206999"/>
          </a:xfrm>
        </p:spPr>
        <p:txBody>
          <a:bodyPr vertOverflow="overflow" horzOverflow="overflow" vert="horz" wrap="square" lIns="91440" tIns="45720" rIns="91440" bIns="45720" numCol="1" spcCol="0" rtlCol="0" fromWordArt="0" anchor="t" anchorCtr="0" forceAA="0" compatLnSpc="0">
            <a:normAutofit/>
          </a:bodyPr>
          <a:lstStyle/>
          <a:p>
            <a:pPr marL="68580" indent="0">
              <a:buNone/>
              <a:defRPr/>
            </a:pPr>
            <a:r>
              <a:rPr lang="ru-RU" sz="3200" b="1" i="1"/>
              <a:t>Диаграммы последовательности - Динамические</a:t>
            </a:r>
            <a:r>
              <a:rPr lang="ru-RU" sz="3200"/>
              <a:t> </a:t>
            </a:r>
            <a:r>
              <a:rPr lang="ru-RU" sz="3200"/>
              <a:t>диаграммы, описывающие взаимодействие групп объектов в различных условиях их поведения</a:t>
            </a:r>
            <a:r>
              <a:rPr lang="ru-RU" sz="3200"/>
              <a:t>.</a:t>
            </a:r>
            <a:endParaRPr/>
          </a:p>
          <a:p>
            <a:pPr marL="68580" indent="0">
              <a:buNone/>
              <a:defRPr/>
            </a:pPr>
            <a:endParaRPr lang="ru-RU" sz="3200"/>
          </a:p>
          <a:p>
            <a:pPr marL="68580" indent="0">
              <a:buNone/>
              <a:defRPr/>
            </a:pPr>
            <a:r>
              <a:rPr lang="ru-RU" sz="3200"/>
              <a:t>Правила отображения: один сценарий – одна диаграмма</a:t>
            </a:r>
            <a:r>
              <a:rPr lang="ru-RU" sz="3200"/>
              <a:t>.</a:t>
            </a:r>
            <a:endParaRPr/>
          </a:p>
          <a:p>
            <a:pPr marL="68580" indent="0">
              <a:buNone/>
              <a:defRPr/>
            </a:pPr>
            <a:endParaRPr lang="ru-RU" sz="3200"/>
          </a:p>
          <a:p>
            <a:pPr marL="68580" indent="0">
              <a:buNone/>
              <a:defRPr/>
            </a:pPr>
            <a:r>
              <a:rPr lang="ru-RU" sz="3200"/>
              <a:t>Ключевые элементы: участники, линии жизни, сообщения, активации.</a:t>
            </a:r>
            <a:endParaRPr/>
          </a:p>
          <a:p>
            <a:pPr>
              <a:lnSpc>
                <a:spcPct val="150000"/>
              </a:lnSpc>
              <a:defRPr/>
            </a:pPr>
            <a:endParaRPr lang="ru-RU" sz="7100">
              <a:solidFill>
                <a:srgbClr val="0E0E11"/>
              </a:solidFill>
              <a:latin typeface="Bender"/>
            </a:endParaRPr>
          </a:p>
          <a:p>
            <a:pPr marL="0" indent="0">
              <a:lnSpc>
                <a:spcPct val="150000"/>
              </a:lnSpc>
              <a:buNone/>
              <a:defRPr/>
            </a:pPr>
            <a:endParaRPr lang="ru-RU" sz="7100">
              <a:solidFill>
                <a:srgbClr val="0E0E11"/>
              </a:solidFill>
              <a:latin typeface="Bender"/>
            </a:endParaRPr>
          </a:p>
          <a:p>
            <a:pPr marL="0" indent="0">
              <a:lnSpc>
                <a:spcPct val="150000"/>
              </a:lnSpc>
              <a:buNone/>
              <a:defRPr/>
            </a:pPr>
            <a:endParaRPr lang="ru-RU" sz="7100">
              <a:solidFill>
                <a:srgbClr val="0E0E11"/>
              </a:solidFill>
              <a:latin typeface="Bende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Сраз</a:t>
            </a:r>
            <a:r>
              <a:rPr lang="ru-RU"/>
              <a:t>у на примере</a:t>
            </a:r>
            <a:endParaRPr lang="en-US"/>
          </a:p>
        </p:txBody>
      </p:sp>
      <p:pic>
        <p:nvPicPr>
          <p:cNvPr id="9" name="Picture 2" descr="диаграмма последовательности"/>
          <p:cNvPicPr>
            <a:picLocks noChangeAspect="1" noChangeArrowheads="1"/>
          </p:cNvPicPr>
          <p:nvPr/>
        </p:nvPicPr>
        <p:blipFill>
          <a:blip r:embed="rId2"/>
          <a:stretch/>
        </p:blipFill>
        <p:spPr bwMode="auto">
          <a:xfrm>
            <a:off x="2253006" y="1554024"/>
            <a:ext cx="6477000" cy="483870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Виды сообщений</a:t>
            </a:r>
            <a:endParaRPr lang="ru-RU"/>
          </a:p>
        </p:txBody>
      </p:sp>
      <p:sp>
        <p:nvSpPr>
          <p:cNvPr id="3" name="Объект 2"/>
          <p:cNvSpPr>
            <a:spLocks noGrp="1"/>
          </p:cNvSpPr>
          <p:nvPr>
            <p:ph idx="1"/>
          </p:nvPr>
        </p:nvSpPr>
        <p:spPr bwMode="auto"/>
        <p:txBody>
          <a:bodyPr>
            <a:normAutofit fontScale="77500" lnSpcReduction="20000"/>
          </a:bodyPr>
          <a:lstStyle/>
          <a:p>
            <a:pPr>
              <a:defRPr/>
            </a:pPr>
            <a:r>
              <a:rPr lang="ru-RU" b="1">
                <a:solidFill>
                  <a:srgbClr val="000000"/>
                </a:solidFill>
                <a:latin typeface="Times New Roman"/>
                <a:ea typeface="Times New Roman"/>
                <a:cs typeface="Times New Roman"/>
              </a:rPr>
              <a:t>синхронное сообщение </a:t>
            </a:r>
            <a:r>
              <a:rPr lang="ru-RU">
                <a:solidFill>
                  <a:srgbClr val="000000"/>
                </a:solidFill>
                <a:latin typeface="Times New Roman"/>
                <a:ea typeface="Times New Roman"/>
                <a:cs typeface="Times New Roman"/>
              </a:rPr>
              <a:t>(англ. </a:t>
            </a:r>
            <a:r>
              <a:rPr lang="ru-RU">
                <a:solidFill>
                  <a:srgbClr val="000000"/>
                </a:solidFill>
                <a:latin typeface="Times New Roman"/>
                <a:ea typeface="Times New Roman"/>
                <a:cs typeface="Times New Roman"/>
              </a:rPr>
              <a:t>synchronous</a:t>
            </a:r>
            <a:r>
              <a:rPr lang="ru-RU">
                <a:solidFill>
                  <a:srgbClr val="000000"/>
                </a:solidFill>
                <a:latin typeface="Times New Roman"/>
                <a:ea typeface="Times New Roman"/>
                <a:cs typeface="Times New Roman"/>
              </a:rPr>
              <a:t> </a:t>
            </a:r>
            <a:r>
              <a:rPr lang="ru-RU">
                <a:solidFill>
                  <a:srgbClr val="000000"/>
                </a:solidFill>
                <a:latin typeface="Times New Roman"/>
                <a:ea typeface="Times New Roman"/>
                <a:cs typeface="Times New Roman"/>
              </a:rPr>
              <a:t>message</a:t>
            </a:r>
            <a:r>
              <a:rPr lang="ru-RU">
                <a:solidFill>
                  <a:srgbClr val="000000"/>
                </a:solidFill>
                <a:latin typeface="Times New Roman"/>
                <a:ea typeface="Times New Roman"/>
                <a:cs typeface="Times New Roman"/>
              </a:rPr>
              <a:t>). Клиент посылает сообщение серверу и ждет, пока тот примет и обработает сообщение. Как правило, один объект передает синхронное сообщение второму, второй – третьему и т.д., образуя вложенный поток сообщений. В любом случае клиент, инициирующий поток сообщений, должен дождаться его завершения, т.е. возврата управления. Это самый распространенный тип сообщений;</a:t>
            </a:r>
            <a:br>
              <a:rPr lang="ru-RU" sz="4000"/>
            </a:br>
            <a:endParaRPr lang="ru-RU" sz="4000"/>
          </a:p>
          <a:p>
            <a:pPr>
              <a:defRPr/>
            </a:pPr>
            <a:r>
              <a:rPr lang="ru-RU" b="1">
                <a:solidFill>
                  <a:srgbClr val="000000"/>
                </a:solidFill>
                <a:latin typeface="Times New Roman"/>
                <a:ea typeface="Times New Roman"/>
                <a:cs typeface="Times New Roman"/>
              </a:rPr>
              <a:t>асинхронное </a:t>
            </a:r>
            <a:r>
              <a:rPr lang="ru-RU" b="1">
                <a:solidFill>
                  <a:srgbClr val="000000"/>
                </a:solidFill>
                <a:latin typeface="Times New Roman"/>
                <a:ea typeface="Times New Roman"/>
                <a:cs typeface="Times New Roman"/>
              </a:rPr>
              <a:t>сообщение </a:t>
            </a:r>
            <a:r>
              <a:rPr lang="ru-RU">
                <a:solidFill>
                  <a:srgbClr val="000000"/>
                </a:solidFill>
                <a:latin typeface="Times New Roman"/>
                <a:ea typeface="Times New Roman"/>
                <a:cs typeface="Times New Roman"/>
              </a:rPr>
              <a:t>(англ. </a:t>
            </a:r>
            <a:r>
              <a:rPr lang="ru-RU">
                <a:solidFill>
                  <a:srgbClr val="000000"/>
                </a:solidFill>
                <a:latin typeface="Times New Roman"/>
                <a:ea typeface="Times New Roman"/>
                <a:cs typeface="Times New Roman"/>
              </a:rPr>
              <a:t>asynchronous</a:t>
            </a:r>
            <a:r>
              <a:rPr lang="ru-RU">
                <a:solidFill>
                  <a:srgbClr val="000000"/>
                </a:solidFill>
                <a:latin typeface="Times New Roman"/>
                <a:ea typeface="Times New Roman"/>
                <a:cs typeface="Times New Roman"/>
              </a:rPr>
              <a:t> </a:t>
            </a:r>
            <a:r>
              <a:rPr lang="ru-RU">
                <a:solidFill>
                  <a:srgbClr val="000000"/>
                </a:solidFill>
                <a:latin typeface="Times New Roman"/>
                <a:ea typeface="Times New Roman"/>
                <a:cs typeface="Times New Roman"/>
              </a:rPr>
              <a:t>message</a:t>
            </a:r>
            <a:r>
              <a:rPr lang="ru-RU">
                <a:solidFill>
                  <a:srgbClr val="000000"/>
                </a:solidFill>
                <a:latin typeface="Times New Roman"/>
                <a:ea typeface="Times New Roman"/>
                <a:cs typeface="Times New Roman"/>
              </a:rPr>
              <a:t>). Клиент посылает сообщение серверу и, не дожидаясь ответа, продолжает выполнять следующие операции;</a:t>
            </a:r>
            <a:br>
              <a:rPr lang="ru-RU" sz="4000"/>
            </a:br>
            <a:endParaRPr lang="ru-RU" sz="4000"/>
          </a:p>
          <a:p>
            <a:pPr>
              <a:defRPr/>
            </a:pPr>
            <a:r>
              <a:rPr lang="ru-RU" sz="2900" b="1">
                <a:solidFill>
                  <a:srgbClr val="000000"/>
                </a:solidFill>
                <a:latin typeface="Times New Roman"/>
                <a:ea typeface="Times New Roman"/>
                <a:cs typeface="Times New Roman"/>
              </a:rPr>
              <a:t>возвращающее </a:t>
            </a:r>
            <a:r>
              <a:rPr lang="ru-RU" sz="2900" b="1">
                <a:solidFill>
                  <a:srgbClr val="000000"/>
                </a:solidFill>
                <a:latin typeface="Times New Roman"/>
                <a:ea typeface="Times New Roman"/>
                <a:cs typeface="Times New Roman"/>
              </a:rPr>
              <a:t>сообщение </a:t>
            </a:r>
            <a:r>
              <a:rPr lang="ru-RU" sz="2900">
                <a:solidFill>
                  <a:srgbClr val="000000"/>
                </a:solidFill>
                <a:latin typeface="Times New Roman"/>
                <a:ea typeface="Times New Roman"/>
                <a:cs typeface="Times New Roman"/>
              </a:rPr>
              <a:t>(англ. </a:t>
            </a:r>
            <a:r>
              <a:rPr lang="ru-RU" sz="2900">
                <a:solidFill>
                  <a:srgbClr val="000000"/>
                </a:solidFill>
                <a:latin typeface="Times New Roman"/>
                <a:ea typeface="Times New Roman"/>
                <a:cs typeface="Times New Roman"/>
              </a:rPr>
              <a:t>reply</a:t>
            </a:r>
            <a:r>
              <a:rPr lang="ru-RU" sz="2900">
                <a:solidFill>
                  <a:srgbClr val="000000"/>
                </a:solidFill>
                <a:latin typeface="Times New Roman"/>
                <a:ea typeface="Times New Roman"/>
                <a:cs typeface="Times New Roman"/>
              </a:rPr>
              <a:t> </a:t>
            </a:r>
            <a:r>
              <a:rPr lang="ru-RU" sz="2900">
                <a:solidFill>
                  <a:srgbClr val="000000"/>
                </a:solidFill>
                <a:latin typeface="Times New Roman"/>
                <a:ea typeface="Times New Roman"/>
                <a:cs typeface="Times New Roman"/>
              </a:rPr>
              <a:t>message</a:t>
            </a:r>
            <a:r>
              <a:rPr lang="ru-RU" sz="2900">
                <a:solidFill>
                  <a:srgbClr val="000000"/>
                </a:solidFill>
                <a:latin typeface="Times New Roman"/>
                <a:ea typeface="Times New Roman"/>
                <a:cs typeface="Times New Roman"/>
              </a:rPr>
              <a:t>), обозначающее возврат значения или управления от сервера обратно клиенту. Стрелки этого вида зачастую отсутствуют на диаграммах, поскольку неявно предполагается их существование после окончания процесса выполнения операции.</a:t>
            </a:r>
            <a:endParaRPr/>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sz="3600"/>
              <a:t>Простая диаграмма последовательности (централизованное управление)</a:t>
            </a:r>
            <a:endParaRPr sz="3600"/>
          </a:p>
        </p:txBody>
      </p:sp>
      <p:sp>
        <p:nvSpPr>
          <p:cNvPr id="3" name="Объект 2"/>
          <p:cNvSpPr>
            <a:spLocks noGrp="1"/>
          </p:cNvSpPr>
          <p:nvPr>
            <p:ph idx="1"/>
          </p:nvPr>
        </p:nvSpPr>
        <p:spPr bwMode="auto"/>
        <p:txBody>
          <a:bodyPr/>
          <a:lstStyle/>
          <a:p>
            <a:pPr>
              <a:defRPr/>
            </a:pPr>
            <a:endParaRPr lang="ru-RU"/>
          </a:p>
        </p:txBody>
      </p:sp>
      <p:pic>
        <p:nvPicPr>
          <p:cNvPr id="4" name="Рисунок 3"/>
          <p:cNvPicPr>
            <a:picLocks noChangeAspect="1"/>
          </p:cNvPicPr>
          <p:nvPr/>
        </p:nvPicPr>
        <p:blipFill>
          <a:blip r:embed="rId2"/>
          <a:stretch/>
        </p:blipFill>
        <p:spPr bwMode="auto">
          <a:xfrm>
            <a:off x="2708031" y="1614218"/>
            <a:ext cx="6315503" cy="52316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0">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sz="3600"/>
              <a:t>Простая диаграмма последовательности (распределенное управление)</a:t>
            </a:r>
            <a:endParaRPr sz="3600"/>
          </a:p>
        </p:txBody>
      </p:sp>
      <p:pic>
        <p:nvPicPr>
          <p:cNvPr id="4" name="Объект 3"/>
          <p:cNvPicPr>
            <a:picLocks noChangeAspect="1" noGrp="1"/>
          </p:cNvPicPr>
          <p:nvPr>
            <p:ph idx="1"/>
          </p:nvPr>
        </p:nvPicPr>
        <p:blipFill>
          <a:blip r:embed="rId2"/>
          <a:stretch/>
        </p:blipFill>
        <p:spPr bwMode="auto">
          <a:xfrm>
            <a:off x="1157137" y="1947756"/>
            <a:ext cx="7685727" cy="43211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Создание и удаление участников ДП</a:t>
            </a:r>
            <a:endParaRPr/>
          </a:p>
        </p:txBody>
      </p:sp>
      <p:sp>
        <p:nvSpPr>
          <p:cNvPr id="3" name="Объект 2"/>
          <p:cNvSpPr>
            <a:spLocks noGrp="1"/>
          </p:cNvSpPr>
          <p:nvPr>
            <p:ph idx="1"/>
          </p:nvPr>
        </p:nvSpPr>
        <p:spPr bwMode="auto"/>
        <p:txBody>
          <a:bodyPr/>
          <a:lstStyle/>
          <a:p>
            <a:pPr>
              <a:defRPr/>
            </a:pPr>
            <a:endParaRPr lang="ru-RU"/>
          </a:p>
        </p:txBody>
      </p:sp>
      <p:pic>
        <p:nvPicPr>
          <p:cNvPr id="4" name="Рисунок 3"/>
          <p:cNvPicPr>
            <a:picLocks noChangeAspect="1"/>
          </p:cNvPicPr>
          <p:nvPr/>
        </p:nvPicPr>
        <p:blipFill>
          <a:blip r:embed="rId2"/>
          <a:stretch/>
        </p:blipFill>
        <p:spPr bwMode="auto">
          <a:xfrm>
            <a:off x="2831123" y="1464748"/>
            <a:ext cx="5357301" cy="537046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Стереотипы класса</a:t>
            </a:r>
            <a:endParaRPr lang="ru-RU"/>
          </a:p>
        </p:txBody>
      </p:sp>
      <p:pic>
        <p:nvPicPr>
          <p:cNvPr id="10" name="Рисунок 9"/>
          <p:cNvPicPr>
            <a:picLocks noChangeAspect="1"/>
          </p:cNvPicPr>
          <p:nvPr/>
        </p:nvPicPr>
        <p:blipFill>
          <a:blip r:embed="rId2"/>
          <a:stretch/>
        </p:blipFill>
        <p:spPr bwMode="auto">
          <a:xfrm>
            <a:off x="500149" y="2012869"/>
            <a:ext cx="1398043" cy="711284"/>
          </a:xfrm>
          <a:prstGeom prst="rect">
            <a:avLst/>
          </a:prstGeom>
        </p:spPr>
      </p:pic>
      <p:pic>
        <p:nvPicPr>
          <p:cNvPr id="12" name="Рисунок 11"/>
          <p:cNvPicPr>
            <a:picLocks noChangeAspect="1"/>
          </p:cNvPicPr>
          <p:nvPr/>
        </p:nvPicPr>
        <p:blipFill>
          <a:blip r:embed="rId3"/>
          <a:stretch/>
        </p:blipFill>
        <p:spPr bwMode="auto">
          <a:xfrm>
            <a:off x="765409" y="3329523"/>
            <a:ext cx="867521" cy="972675"/>
          </a:xfrm>
          <a:prstGeom prst="rect">
            <a:avLst/>
          </a:prstGeom>
        </p:spPr>
      </p:pic>
      <p:pic>
        <p:nvPicPr>
          <p:cNvPr id="14" name="Рисунок 13"/>
          <p:cNvPicPr>
            <a:picLocks noChangeAspect="1"/>
          </p:cNvPicPr>
          <p:nvPr/>
        </p:nvPicPr>
        <p:blipFill>
          <a:blip r:embed="rId4"/>
          <a:stretch/>
        </p:blipFill>
        <p:spPr bwMode="auto">
          <a:xfrm>
            <a:off x="765409" y="5174179"/>
            <a:ext cx="867521" cy="817948"/>
          </a:xfrm>
          <a:prstGeom prst="rect">
            <a:avLst/>
          </a:prstGeom>
        </p:spPr>
      </p:pic>
      <p:pic>
        <p:nvPicPr>
          <p:cNvPr id="16" name="Рисунок 15"/>
          <p:cNvPicPr>
            <a:picLocks noChangeAspect="1"/>
          </p:cNvPicPr>
          <p:nvPr/>
        </p:nvPicPr>
        <p:blipFill>
          <a:blip r:embed="rId5"/>
          <a:stretch/>
        </p:blipFill>
        <p:spPr bwMode="auto">
          <a:xfrm>
            <a:off x="8169827" y="1715713"/>
            <a:ext cx="828791" cy="1438476"/>
          </a:xfrm>
          <a:prstGeom prst="rect">
            <a:avLst/>
          </a:prstGeom>
        </p:spPr>
      </p:pic>
      <p:sp>
        <p:nvSpPr>
          <p:cNvPr id="17" name="TextBox 16"/>
          <p:cNvSpPr txBox="1"/>
          <p:nvPr/>
        </p:nvSpPr>
        <p:spPr bwMode="auto">
          <a:xfrm>
            <a:off x="9170376" y="1973286"/>
            <a:ext cx="2811931" cy="646331"/>
          </a:xfrm>
          <a:prstGeom prst="rect">
            <a:avLst/>
          </a:prstGeom>
          <a:noFill/>
        </p:spPr>
        <p:txBody>
          <a:bodyPr wrap="square" rtlCol="0">
            <a:spAutoFit/>
          </a:bodyPr>
          <a:lstStyle/>
          <a:p>
            <a:pPr>
              <a:defRPr/>
            </a:pPr>
            <a:r>
              <a:rPr lang="ru-RU" b="1"/>
              <a:t>Актёр</a:t>
            </a:r>
            <a:endParaRPr/>
          </a:p>
          <a:p>
            <a:pPr>
              <a:defRPr/>
            </a:pPr>
            <a:r>
              <a:rPr lang="ru-RU"/>
              <a:t>Его вы уже знаете</a:t>
            </a:r>
            <a:endParaRPr/>
          </a:p>
        </p:txBody>
      </p:sp>
      <p:sp>
        <p:nvSpPr>
          <p:cNvPr id="3" name="Прямоугольник 2"/>
          <p:cNvSpPr/>
          <p:nvPr/>
        </p:nvSpPr>
        <p:spPr bwMode="auto">
          <a:xfrm>
            <a:off x="1898192" y="1973286"/>
            <a:ext cx="6096000" cy="4247317"/>
          </a:xfrm>
          <a:prstGeom prst="rect">
            <a:avLst/>
          </a:prstGeom>
        </p:spPr>
        <p:txBody>
          <a:bodyPr>
            <a:spAutoFit/>
          </a:bodyPr>
          <a:lstStyle/>
          <a:p>
            <a:pPr>
              <a:defRPr/>
            </a:pPr>
            <a:r>
              <a:rPr lang="ru-RU" b="1">
                <a:latin typeface="Century Gothic"/>
              </a:rPr>
              <a:t>Boundary</a:t>
            </a:r>
            <a:r>
              <a:rPr lang="ru-RU">
                <a:latin typeface="Century Gothic"/>
              </a:rPr>
              <a:t> – Класс-</a:t>
            </a:r>
            <a:r>
              <a:rPr lang="ru-RU">
                <a:latin typeface="Century Gothic"/>
              </a:rPr>
              <a:t>Разграничитель</a:t>
            </a:r>
            <a:r>
              <a:rPr lang="ru-RU">
                <a:latin typeface="Century Gothic"/>
              </a:rPr>
              <a:t> -  используется для классов, отделяющих внутреннюю структуру системы от внешней среды (экранная форма, пользовательский интерфейс, устройство ввода-вывода). </a:t>
            </a:r>
            <a:endParaRPr lang="ru-RU"/>
          </a:p>
          <a:p>
            <a:pPr>
              <a:defRPr/>
            </a:pPr>
            <a:endParaRPr lang="ru-RU">
              <a:latin typeface="Century Gothic"/>
            </a:endParaRPr>
          </a:p>
          <a:p>
            <a:pPr>
              <a:defRPr/>
            </a:pPr>
            <a:r>
              <a:rPr lang="ru-RU" b="1">
                <a:latin typeface="Century Gothic"/>
              </a:rPr>
              <a:t>Contro</a:t>
            </a:r>
            <a:r>
              <a:rPr lang="ru-RU">
                <a:latin typeface="Century Gothic"/>
              </a:rPr>
              <a:t>l</a:t>
            </a:r>
            <a:r>
              <a:rPr lang="ru-RU">
                <a:latin typeface="Century Gothic"/>
              </a:rPr>
              <a:t> – Класс-контроллер - активный элемент, который используются для выполнения некоторых операций над объектами (программный компонент, модуль, обработчик)</a:t>
            </a:r>
            <a:endParaRPr lang="ru-RU"/>
          </a:p>
          <a:p>
            <a:pPr>
              <a:defRPr/>
            </a:pPr>
            <a:endParaRPr lang="ru-RU">
              <a:latin typeface="Century Gothic"/>
            </a:endParaRPr>
          </a:p>
          <a:p>
            <a:pPr>
              <a:defRPr/>
            </a:pPr>
            <a:r>
              <a:rPr lang="ru-RU" b="1">
                <a:latin typeface="Century Gothic"/>
              </a:rPr>
              <a:t>Entity</a:t>
            </a:r>
            <a:r>
              <a:rPr lang="ru-RU">
                <a:latin typeface="Century Gothic"/>
              </a:rPr>
              <a:t> – Класс-сущность - обычно применяется для обозначения классов, которые хранят некую информацию о бизнес-объектах (соответствует таблице или элементу БД)</a:t>
            </a:r>
            <a:endParaRPr lang="ru-RU" sz="16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Применение стереотипов</a:t>
            </a:r>
            <a:endParaRPr lang="ru-RU"/>
          </a:p>
        </p:txBody>
      </p:sp>
      <p:pic>
        <p:nvPicPr>
          <p:cNvPr id="4" name="Picture 2" descr="http://it-gost.ru/images/articles/uml/seq_1.jpg"/>
          <p:cNvPicPr>
            <a:picLocks noChangeAspect="1" noChangeArrowheads="1"/>
          </p:cNvPicPr>
          <p:nvPr/>
        </p:nvPicPr>
        <p:blipFill>
          <a:blip r:embed="rId2"/>
          <a:stretch/>
        </p:blipFill>
        <p:spPr bwMode="auto">
          <a:xfrm>
            <a:off x="683568" y="1340768"/>
            <a:ext cx="4745682" cy="3063961"/>
          </a:xfrm>
          <a:prstGeom prst="rect">
            <a:avLst/>
          </a:prstGeom>
          <a:noFill/>
        </p:spPr>
      </p:pic>
      <p:pic>
        <p:nvPicPr>
          <p:cNvPr id="5" name="Picture 4" descr="http://it-gost.ru/images/articles/uml/seq_7.gif"/>
          <p:cNvPicPr>
            <a:picLocks noChangeAspect="1" noChangeArrowheads="1"/>
          </p:cNvPicPr>
          <p:nvPr/>
        </p:nvPicPr>
        <p:blipFill>
          <a:blip r:embed="rId3"/>
          <a:stretch/>
        </p:blipFill>
        <p:spPr bwMode="auto">
          <a:xfrm>
            <a:off x="6467475" y="1340767"/>
            <a:ext cx="3935785" cy="3181427"/>
          </a:xfrm>
          <a:prstGeom prst="rect">
            <a:avLst/>
          </a:prstGeom>
          <a:noFill/>
        </p:spPr>
      </p:pic>
      <p:pic>
        <p:nvPicPr>
          <p:cNvPr id="6" name="Picture 6" descr="http://it-gost.ru/images/articles/uml/seq_6.gif"/>
          <p:cNvPicPr>
            <a:picLocks noChangeAspect="1" noChangeArrowheads="1"/>
          </p:cNvPicPr>
          <p:nvPr/>
        </p:nvPicPr>
        <p:blipFill>
          <a:blip r:embed="rId4"/>
          <a:stretch/>
        </p:blipFill>
        <p:spPr bwMode="auto">
          <a:xfrm>
            <a:off x="2324101" y="4522194"/>
            <a:ext cx="6779568" cy="2319016"/>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Фреймы взаимодействий</a:t>
            </a:r>
            <a:endParaRPr/>
          </a:p>
        </p:txBody>
      </p:sp>
      <p:sp>
        <p:nvSpPr>
          <p:cNvPr id="3" name="Объект 2"/>
          <p:cNvSpPr>
            <a:spLocks noGrp="1"/>
          </p:cNvSpPr>
          <p:nvPr>
            <p:ph idx="1"/>
          </p:nvPr>
        </p:nvSpPr>
        <p:spPr bwMode="auto"/>
        <p:txBody>
          <a:bodyPr/>
          <a:lstStyle/>
          <a:p>
            <a:pPr>
              <a:defRPr/>
            </a:pPr>
            <a:endParaRPr lang="ru-RU"/>
          </a:p>
        </p:txBody>
      </p:sp>
      <p:pic>
        <p:nvPicPr>
          <p:cNvPr id="4" name="Рисунок 3"/>
          <p:cNvPicPr>
            <a:picLocks noChangeAspect="1"/>
          </p:cNvPicPr>
          <p:nvPr/>
        </p:nvPicPr>
        <p:blipFill>
          <a:blip r:embed="rId2"/>
          <a:stretch/>
        </p:blipFill>
        <p:spPr bwMode="auto">
          <a:xfrm>
            <a:off x="881345" y="1825625"/>
            <a:ext cx="5907780" cy="4680683"/>
          </a:xfrm>
          <a:prstGeom prst="rect">
            <a:avLst/>
          </a:prstGeom>
          <a:ln>
            <a:solidFill>
              <a:schemeClr val="accent2">
                <a:lumMod val="75000"/>
              </a:schemeClr>
            </a:solidFill>
          </a:ln>
        </p:spPr>
      </p:pic>
      <p:sp>
        <p:nvSpPr>
          <p:cNvPr id="5" name="Овал 4"/>
          <p:cNvSpPr/>
          <p:nvPr/>
        </p:nvSpPr>
        <p:spPr bwMode="auto">
          <a:xfrm>
            <a:off x="1742787" y="2764772"/>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6" name="Овал 5"/>
          <p:cNvSpPr/>
          <p:nvPr/>
        </p:nvSpPr>
        <p:spPr bwMode="auto">
          <a:xfrm>
            <a:off x="2257137" y="5527022"/>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grpSp>
        <p:nvGrpSpPr>
          <p:cNvPr id="7" name="Группа 6"/>
          <p:cNvGrpSpPr/>
          <p:nvPr/>
        </p:nvGrpSpPr>
        <p:grpSpPr bwMode="auto">
          <a:xfrm>
            <a:off x="7103418" y="3337874"/>
            <a:ext cx="2952444" cy="1656183"/>
            <a:chOff x="1043492" y="2636913"/>
            <a:chExt cx="2476500" cy="1362075"/>
          </a:xfrm>
        </p:grpSpPr>
        <p:pic>
          <p:nvPicPr>
            <p:cNvPr id="8" name="Рисунок 7"/>
            <p:cNvPicPr>
              <a:picLocks noChangeAspect="1"/>
            </p:cNvPicPr>
            <p:nvPr/>
          </p:nvPicPr>
          <p:blipFill>
            <a:blip r:embed="rId3"/>
            <a:stretch/>
          </p:blipFill>
          <p:spPr bwMode="auto">
            <a:xfrm>
              <a:off x="1187624" y="2636913"/>
              <a:ext cx="1524000" cy="904875"/>
            </a:xfrm>
            <a:prstGeom prst="rect">
              <a:avLst/>
            </a:prstGeom>
          </p:spPr>
        </p:pic>
        <p:pic>
          <p:nvPicPr>
            <p:cNvPr id="9" name="Рисунок 8"/>
            <p:cNvPicPr>
              <a:picLocks noChangeAspect="1"/>
            </p:cNvPicPr>
            <p:nvPr/>
          </p:nvPicPr>
          <p:blipFill>
            <a:blip r:embed="rId4"/>
            <a:stretch/>
          </p:blipFill>
          <p:spPr bwMode="auto">
            <a:xfrm>
              <a:off x="1043492" y="3541788"/>
              <a:ext cx="2476500" cy="457200"/>
            </a:xfrm>
            <a:prstGeom prst="rect">
              <a:avLst/>
            </a:prstGeom>
          </p:spPr>
        </p:pic>
      </p:grpSp>
      <p:sp>
        <p:nvSpPr>
          <p:cNvPr id="10" name="Овал 9"/>
          <p:cNvSpPr/>
          <p:nvPr/>
        </p:nvSpPr>
        <p:spPr bwMode="auto">
          <a:xfrm>
            <a:off x="2021775" y="3244276"/>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Таблица фреймов</a:t>
            </a:r>
            <a:endParaRPr lang="ru-RU"/>
          </a:p>
        </p:txBody>
      </p:sp>
      <p:sp>
        <p:nvSpPr>
          <p:cNvPr id="3" name="Объект 2"/>
          <p:cNvSpPr>
            <a:spLocks noGrp="1"/>
          </p:cNvSpPr>
          <p:nvPr>
            <p:ph idx="1"/>
          </p:nvPr>
        </p:nvSpPr>
        <p:spPr bwMode="auto"/>
        <p:txBody>
          <a:bodyPr/>
          <a:lstStyle/>
          <a:p>
            <a:pPr>
              <a:defRPr/>
            </a:pPr>
            <a:endParaRPr lang="ru-RU"/>
          </a:p>
        </p:txBody>
      </p:sp>
      <p:graphicFrame>
        <p:nvGraphicFramePr>
          <p:cNvPr id="4" name="Таблица 3"/>
          <p:cNvGraphicFramePr>
            <a:graphicFrameLocks xmlns:a="http://schemas.openxmlformats.org/drawingml/2006/main" noGrp="1"/>
          </p:cNvGraphicFramePr>
          <p:nvPr/>
        </p:nvGraphicFramePr>
        <p:xfrm>
          <a:off x="2705335" y="1979454"/>
          <a:ext cx="6552727" cy="4043680"/>
        </p:xfrm>
        <a:graphic>
          <a:graphicData uri="http://schemas.openxmlformats.org/drawingml/2006/table">
            <a:tbl>
              <a:tblPr firstRow="1" firstCol="0" lastRow="0" lastCol="0" bandRow="1" bandCol="0">
                <a:tableStyleId>{21E4AEA4-8DFA-4A89-87EB-49C32662AFE0}</a:tableStyleId>
              </a:tblPr>
              <a:tblGrid>
                <a:gridCol w="1031677"/>
                <a:gridCol w="5521050"/>
              </a:tblGrid>
              <a:tr h="370840">
                <a:tc>
                  <a:txBody>
                    <a:bodyPr/>
                    <a:p>
                      <a:pPr>
                        <a:defRPr/>
                      </a:pPr>
                      <a:r>
                        <a:rPr lang="en-US"/>
                        <a:t>Alt</a:t>
                      </a:r>
                      <a:endParaRPr lang="ru-RU"/>
                    </a:p>
                  </a:txBody>
                  <a:tcPr/>
                </a:tc>
                <a:tc>
                  <a:txBody>
                    <a:bodyPr/>
                    <a:p>
                      <a:pPr>
                        <a:defRPr/>
                      </a:pPr>
                      <a:r>
                        <a:rPr lang="ru-RU"/>
                        <a:t>Из нескольких выполняется только истинный</a:t>
                      </a:r>
                      <a:endParaRPr/>
                    </a:p>
                  </a:txBody>
                  <a:tcPr/>
                </a:tc>
              </a:tr>
              <a:tr h="370840">
                <a:tc>
                  <a:txBody>
                    <a:bodyPr/>
                    <a:p>
                      <a:pPr>
                        <a:defRPr/>
                      </a:pPr>
                      <a:r>
                        <a:rPr lang="en-US"/>
                        <a:t>Opt</a:t>
                      </a:r>
                      <a:endParaRPr lang="ru-RU"/>
                    </a:p>
                  </a:txBody>
                  <a:tcPr/>
                </a:tc>
                <a:tc>
                  <a:txBody>
                    <a:bodyPr/>
                    <a:p>
                      <a:pPr>
                        <a:defRPr/>
                      </a:pPr>
                      <a:r>
                        <a:rPr lang="ru-RU"/>
                        <a:t>Необязательный фрагмент, выполняющийся только при истинном условии</a:t>
                      </a:r>
                      <a:endParaRPr/>
                    </a:p>
                  </a:txBody>
                  <a:tcPr/>
                </a:tc>
              </a:tr>
              <a:tr h="370840">
                <a:tc>
                  <a:txBody>
                    <a:bodyPr/>
                    <a:p>
                      <a:pPr>
                        <a:defRPr/>
                      </a:pPr>
                      <a:r>
                        <a:rPr lang="en-US"/>
                        <a:t>Par</a:t>
                      </a:r>
                      <a:endParaRPr lang="ru-RU"/>
                    </a:p>
                  </a:txBody>
                  <a:tcPr/>
                </a:tc>
                <a:tc>
                  <a:txBody>
                    <a:bodyPr/>
                    <a:p>
                      <a:pPr>
                        <a:defRPr/>
                      </a:pPr>
                      <a:r>
                        <a:rPr lang="ru-RU"/>
                        <a:t>Все фрагменты выполняются параллельно</a:t>
                      </a:r>
                      <a:endParaRPr/>
                    </a:p>
                  </a:txBody>
                  <a:tcPr/>
                </a:tc>
              </a:tr>
              <a:tr h="370840">
                <a:tc>
                  <a:txBody>
                    <a:bodyPr/>
                    <a:p>
                      <a:pPr>
                        <a:defRPr/>
                      </a:pPr>
                      <a:r>
                        <a:rPr lang="en-US"/>
                        <a:t>Loop</a:t>
                      </a:r>
                      <a:endParaRPr lang="ru-RU"/>
                    </a:p>
                  </a:txBody>
                  <a:tcPr/>
                </a:tc>
                <a:tc>
                  <a:txBody>
                    <a:bodyPr/>
                    <a:p>
                      <a:pPr>
                        <a:defRPr/>
                      </a:pPr>
                      <a:r>
                        <a:rPr lang="ru-RU"/>
                        <a:t>Классический цикл, тело итерации</a:t>
                      </a:r>
                      <a:endParaRPr/>
                    </a:p>
                  </a:txBody>
                  <a:tcPr/>
                </a:tc>
              </a:tr>
              <a:tr h="370840">
                <a:tc>
                  <a:txBody>
                    <a:bodyPr/>
                    <a:p>
                      <a:pPr>
                        <a:defRPr/>
                      </a:pPr>
                      <a:r>
                        <a:rPr lang="en-US"/>
                        <a:t>Region</a:t>
                      </a:r>
                      <a:endParaRPr lang="ru-RU"/>
                    </a:p>
                  </a:txBody>
                  <a:tcPr/>
                </a:tc>
                <a:tc>
                  <a:txBody>
                    <a:bodyPr/>
                    <a:p>
                      <a:pPr>
                        <a:defRPr/>
                      </a:pPr>
                      <a:r>
                        <a:rPr lang="ru-RU"/>
                        <a:t>Фрагмент может иметь только один поток, выполняющийся транзакционно</a:t>
                      </a:r>
                      <a:endParaRPr/>
                    </a:p>
                  </a:txBody>
                  <a:tcPr/>
                </a:tc>
              </a:tr>
              <a:tr h="370840">
                <a:tc>
                  <a:txBody>
                    <a:bodyPr/>
                    <a:p>
                      <a:pPr>
                        <a:defRPr/>
                      </a:pPr>
                      <a:r>
                        <a:rPr lang="en-US"/>
                        <a:t>Neg</a:t>
                      </a:r>
                      <a:endParaRPr lang="ru-RU"/>
                    </a:p>
                  </a:txBody>
                  <a:tcPr/>
                </a:tc>
                <a:tc>
                  <a:txBody>
                    <a:bodyPr/>
                    <a:p>
                      <a:pPr>
                        <a:defRPr/>
                      </a:pPr>
                      <a:r>
                        <a:rPr lang="ru-RU"/>
                        <a:t>Неверное взаимодействие</a:t>
                      </a:r>
                      <a:endParaRPr/>
                    </a:p>
                  </a:txBody>
                  <a:tcPr/>
                </a:tc>
              </a:tr>
              <a:tr h="370840">
                <a:tc>
                  <a:txBody>
                    <a:bodyPr/>
                    <a:p>
                      <a:pPr>
                        <a:defRPr/>
                      </a:pPr>
                      <a:r>
                        <a:rPr lang="en-US"/>
                        <a:t>Ref</a:t>
                      </a:r>
                      <a:endParaRPr lang="ru-RU"/>
                    </a:p>
                  </a:txBody>
                  <a:tcPr/>
                </a:tc>
                <a:tc>
                  <a:txBody>
                    <a:bodyPr/>
                    <a:p>
                      <a:pPr>
                        <a:defRPr/>
                      </a:pPr>
                      <a:r>
                        <a:rPr lang="ru-RU"/>
                        <a:t>Ссылка на взаимодействие, выполняющееся на другой диаграмме</a:t>
                      </a:r>
                      <a:endParaRPr/>
                    </a:p>
                  </a:txBody>
                  <a:tcPr/>
                </a:tc>
              </a:tr>
              <a:tr h="370840">
                <a:tc>
                  <a:txBody>
                    <a:bodyPr/>
                    <a:p>
                      <a:pPr>
                        <a:defRPr/>
                      </a:pPr>
                      <a:r>
                        <a:rPr lang="en-US"/>
                        <a:t>Sd</a:t>
                      </a:r>
                      <a:endParaRPr lang="ru-RU"/>
                    </a:p>
                  </a:txBody>
                  <a:tcPr/>
                </a:tc>
                <a:tc>
                  <a:txBody>
                    <a:bodyPr/>
                    <a:p>
                      <a:pPr>
                        <a:defRPr/>
                      </a:pPr>
                      <a:r>
                        <a:rPr lang="ru-RU"/>
                        <a:t>Можно очертить всю диаграмму, если это необходимо</a:t>
                      </a:r>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Применим всё известное…</a:t>
            </a:r>
            <a:endParaRPr lang="ru-RU"/>
          </a:p>
        </p:txBody>
      </p:sp>
      <p:sp>
        <p:nvSpPr>
          <p:cNvPr id="3" name="Объект 2"/>
          <p:cNvSpPr>
            <a:spLocks noGrp="1"/>
          </p:cNvSpPr>
          <p:nvPr>
            <p:ph idx="1"/>
          </p:nvPr>
        </p:nvSpPr>
        <p:spPr bwMode="auto"/>
        <p:txBody>
          <a:bodyPr/>
          <a:lstStyle/>
          <a:p>
            <a:pPr>
              <a:defRPr/>
            </a:pPr>
            <a:endParaRPr lang="ru-RU"/>
          </a:p>
        </p:txBody>
      </p:sp>
      <p:pic>
        <p:nvPicPr>
          <p:cNvPr id="6" name="Picture 2" descr="http://www.it-gost.ru/images/articles/uml/seq_10.gif"/>
          <p:cNvPicPr>
            <a:picLocks noChangeAspect="1" noChangeArrowheads="1"/>
          </p:cNvPicPr>
          <p:nvPr/>
        </p:nvPicPr>
        <p:blipFill>
          <a:blip r:embed="rId2"/>
          <a:stretch/>
        </p:blipFill>
        <p:spPr bwMode="auto">
          <a:xfrm>
            <a:off x="838200" y="1825625"/>
            <a:ext cx="8416550" cy="485140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Практическая работа </a:t>
            </a:r>
            <a:r>
              <a:rPr lang="ru-RU"/>
              <a:t>4</a:t>
            </a:r>
            <a:endParaRPr lang="en-US"/>
          </a:p>
        </p:txBody>
      </p:sp>
      <p:sp>
        <p:nvSpPr>
          <p:cNvPr id="3" name="Объект 2"/>
          <p:cNvSpPr>
            <a:spLocks noGrp="1"/>
          </p:cNvSpPr>
          <p:nvPr>
            <p:ph idx="1"/>
          </p:nvPr>
        </p:nvSpPr>
        <p:spPr bwMode="auto"/>
        <p:txBody>
          <a:bodyPr>
            <a:normAutofit fontScale="85000" lnSpcReduction="20000"/>
          </a:bodyPr>
          <a:lstStyle/>
          <a:p>
            <a:pPr>
              <a:defRPr/>
            </a:pPr>
            <a:r>
              <a:rPr lang="ru-RU" b="1">
                <a:solidFill>
                  <a:srgbClr val="000000"/>
                </a:solidFill>
                <a:latin typeface="Times New Roman"/>
                <a:ea typeface="Times New Roman"/>
                <a:cs typeface="Times New Roman"/>
              </a:rPr>
              <a:t>1. Построить диаграмму последовательности по описанию приведенного варианта использования:...</a:t>
            </a:r>
            <a:endParaRPr lang="ru-RU" strike="sngStrike"/>
          </a:p>
          <a:p>
            <a:pPr marL="0" indent="0">
              <a:buNone/>
              <a:defRPr/>
            </a:pPr>
            <a:endParaRPr lang="ru-RU" strike="sngStrike">
              <a:solidFill>
                <a:srgbClr val="000000"/>
              </a:solidFill>
              <a:latin typeface="Times New Roman"/>
              <a:ea typeface="Times New Roman"/>
              <a:cs typeface="Times New Roman"/>
            </a:endParaRPr>
          </a:p>
          <a:p>
            <a:pPr>
              <a:defRPr/>
            </a:pPr>
            <a:r>
              <a:rPr lang="ru-RU" strike="sngStrike">
                <a:solidFill>
                  <a:srgbClr val="000000"/>
                </a:solidFill>
                <a:latin typeface="Times New Roman"/>
                <a:ea typeface="Times New Roman"/>
                <a:cs typeface="Times New Roman"/>
              </a:rPr>
              <a:t>2. Построить диаграмму кооперации по описанию приведенного варианта использования в п.1. </a:t>
            </a:r>
            <a:endParaRPr/>
          </a:p>
          <a:p>
            <a:pPr marL="68580" indent="0">
              <a:buClr>
                <a:schemeClr val="accent1"/>
              </a:buClr>
              <a:buSzPct val="76000"/>
              <a:buFont typeface="Wingdings 2"/>
              <a:buNone/>
              <a:defRPr/>
            </a:pPr>
            <a:endParaRPr lang="ru-RU"/>
          </a:p>
          <a:p>
            <a:pPr>
              <a:defRPr/>
            </a:pPr>
            <a:r>
              <a:rPr lang="ru-RU" b="1">
                <a:solidFill>
                  <a:srgbClr val="000000"/>
                </a:solidFill>
                <a:latin typeface="Times New Roman"/>
                <a:ea typeface="Times New Roman"/>
                <a:cs typeface="Times New Roman"/>
              </a:rPr>
              <a:t>3. Построить модель отношений между объектами (диаграмма последовательности) рассматриваемой системы (варианта учебного проекта) в рамках одного прецедента.</a:t>
            </a:r>
            <a:endParaRPr lang="ru-RU" b="1"/>
          </a:p>
          <a:p>
            <a:pPr marL="68580" indent="0">
              <a:buClr>
                <a:schemeClr val="accent1"/>
              </a:buClr>
              <a:buSzPct val="76000"/>
              <a:buFont typeface="Wingdings 2"/>
              <a:buNone/>
              <a:defRPr/>
            </a:pPr>
            <a:endParaRPr lang="ru-RU"/>
          </a:p>
          <a:p>
            <a:pPr>
              <a:defRPr/>
            </a:pPr>
            <a:r>
              <a:rPr lang="ru-RU" strike="sngStrike">
                <a:solidFill>
                  <a:srgbClr val="000000"/>
                </a:solidFill>
                <a:latin typeface="Times New Roman"/>
                <a:ea typeface="Times New Roman"/>
                <a:cs typeface="Times New Roman"/>
              </a:rPr>
              <a:t>4. Построить модель отношений между объектами (диаграмма кооперации) рассматриваемой системы (варианта учебного проекта) в рамках одного прецедента.</a:t>
            </a:r>
            <a:endParaRPr lang="ru-RU" strike="sngStrike"/>
          </a:p>
        </p:txBody>
      </p:sp>
      <p:sp>
        <p:nvSpPr>
          <p:cNvPr id="6" name="TextBox 5"/>
          <p:cNvSpPr txBox="1"/>
          <p:nvPr/>
        </p:nvSpPr>
        <p:spPr bwMode="auto">
          <a:xfrm>
            <a:off x="918324" y="6216133"/>
            <a:ext cx="6107007" cy="366119"/>
          </a:xfrm>
          <a:prstGeom prst="rect">
            <a:avLst/>
          </a:prstGeom>
          <a:noFill/>
        </p:spPr>
        <p:txBody>
          <a:bodyPr wrap="square">
            <a:spAutoFit/>
          </a:bodyPr>
          <a:lstStyle/>
          <a:p>
            <a:pPr>
              <a:defRPr/>
            </a:pPr>
            <a:r>
              <a:rPr lang="ru-RU">
                <a:solidFill>
                  <a:srgbClr val="FF0000"/>
                </a:solidFill>
                <a:latin typeface="Times New Roman"/>
              </a:rPr>
              <a:t>Время выполнения: 2 пары, сдача на 7 неделе</a:t>
            </a:r>
            <a:endParaRPr 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Задание 1</a:t>
            </a:r>
            <a:endParaRPr lang="ru-RU"/>
          </a:p>
        </p:txBody>
      </p:sp>
      <p:sp>
        <p:nvSpPr>
          <p:cNvPr id="3" name="Объект 2"/>
          <p:cNvSpPr>
            <a:spLocks noGrp="1"/>
          </p:cNvSpPr>
          <p:nvPr>
            <p:ph idx="1"/>
          </p:nvPr>
        </p:nvSpPr>
        <p:spPr bwMode="auto">
          <a:xfrm>
            <a:off x="838200" y="1825624"/>
            <a:ext cx="10515600" cy="3051175"/>
          </a:xfrm>
        </p:spPr>
        <p:txBody>
          <a:bodyPr>
            <a:normAutofit fontScale="85000" lnSpcReduction="10000"/>
          </a:bodyPr>
          <a:lstStyle/>
          <a:p>
            <a:pPr>
              <a:defRPr/>
            </a:pPr>
            <a:r>
              <a:rPr lang="ru-RU">
                <a:solidFill>
                  <a:srgbClr val="000000"/>
                </a:solidFill>
                <a:latin typeface="Times New Roman"/>
                <a:ea typeface="Times New Roman"/>
                <a:cs typeface="Times New Roman"/>
              </a:rPr>
              <a:t>1. Построить диаграмму последовательности по описанию приведенного варианта использования: «Студент хочет записаться на некий семинар, предлагаемый в рамках некоторого учебного курса. С этой целью проводится проверка подготовленности студента, для чего запрашивается список (история) семинаров курса, уже пройденных студентом (перейти к следующему семинару можно, лишь проработав материал предыдущих занятий). После получения истории семинаров объект класса "Слушатель" получает статус подготовленности, на основе которой студенту сообщается результат (статус) его попытки записи на семинар.» Заполнить таблицу на основе полученной диаграммы: </a:t>
            </a:r>
            <a:endParaRPr lang="ru-RU"/>
          </a:p>
          <a:p>
            <a:pPr>
              <a:defRPr/>
            </a:pPr>
            <a:endParaRPr lang="ru-RU"/>
          </a:p>
        </p:txBody>
      </p:sp>
      <p:pic>
        <p:nvPicPr>
          <p:cNvPr id="4" name="Рисунок 3"/>
          <p:cNvPicPr>
            <a:picLocks noChangeAspect="1"/>
          </p:cNvPicPr>
          <p:nvPr/>
        </p:nvPicPr>
        <p:blipFill>
          <a:blip r:embed="rId2"/>
          <a:stretch/>
        </p:blipFill>
        <p:spPr bwMode="auto">
          <a:xfrm>
            <a:off x="2141769" y="5257800"/>
            <a:ext cx="6818547" cy="117951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48981068" name="Заголовок 1"/>
          <p:cNvSpPr>
            <a:spLocks noGrp="1"/>
          </p:cNvSpPr>
          <p:nvPr>
            <p:ph type="title"/>
          </p:nvPr>
        </p:nvSpPr>
        <p:spPr bwMode="auto"/>
        <p:txBody>
          <a:bodyPr/>
          <a:lstStyle/>
          <a:p>
            <a:pPr>
              <a:defRPr/>
            </a:pPr>
            <a:r>
              <a:rPr/>
              <a:t>Занятие 2</a:t>
            </a:r>
            <a:endParaRPr/>
          </a:p>
        </p:txBody>
      </p:sp>
      <p:sp>
        <p:nvSpPr>
          <p:cNvPr id="1895232995" name="Объект 2"/>
          <p:cNvSpPr>
            <a:spLocks noGrp="1"/>
          </p:cNvSpPr>
          <p:nvPr>
            <p:ph idx="1"/>
          </p:nvPr>
        </p:nvSpPr>
        <p:spPr bwMode="auto"/>
        <p:txBody>
          <a:bodyPr/>
          <a:lstStyle/>
          <a:p>
            <a:pPr marL="228600" marR="0" indent="-228600" algn="l">
              <a:lnSpc>
                <a:spcPct val="80000"/>
              </a:lnSpc>
              <a:spcBef>
                <a:spcPts val="999"/>
              </a:spcBef>
              <a:spcAft>
                <a:spcPts val="0"/>
              </a:spcAft>
              <a:buFont typeface="Arial"/>
              <a:buChar char="•"/>
              <a:defRPr/>
            </a:pPr>
            <a:r>
              <a:rPr lang="ru-RU" sz="2400" b="0" i="0" u="none" strike="noStrike" cap="none" spc="0">
                <a:solidFill>
                  <a:srgbClr val="000000"/>
                </a:solidFill>
                <a:latin typeface="Times New Roman"/>
                <a:ea typeface="Times New Roman"/>
                <a:cs typeface="Times New Roman"/>
              </a:rPr>
              <a:t>Диаграмма коммуник</a:t>
            </a:r>
            <a:r>
              <a:rPr lang="ru-RU" sz="2400" b="0" i="0" u="none" strike="noStrike" cap="none" spc="0">
                <a:solidFill>
                  <a:srgbClr val="000000"/>
                </a:solidFill>
                <a:latin typeface="Times New Roman"/>
                <a:ea typeface="Times New Roman"/>
                <a:cs typeface="Times New Roman"/>
              </a:rPr>
              <a:t>аци</a:t>
            </a:r>
            <a:r>
              <a:rPr lang="ru-RU" sz="2400" b="0" i="0" u="none" strike="noStrike" cap="none" spc="0">
                <a:solidFill>
                  <a:srgbClr val="000000"/>
                </a:solidFill>
                <a:latin typeface="Times New Roman"/>
                <a:ea typeface="Times New Roman"/>
                <a:cs typeface="Times New Roman"/>
              </a:rPr>
              <a:t>и</a:t>
            </a:r>
            <a:r>
              <a:rPr lang="ru-RU" sz="2400" b="0" i="0" u="none" strike="noStrike" cap="none" spc="0">
                <a:solidFill>
                  <a:srgbClr val="000000"/>
                </a:solidFill>
                <a:latin typeface="Times New Roman"/>
                <a:ea typeface="Times New Roman"/>
                <a:cs typeface="Times New Roman"/>
              </a:rPr>
              <a:t> </a:t>
            </a:r>
            <a:r>
              <a:rPr lang="ru-RU" sz="2400" b="0" i="0" u="none" strike="noStrike" cap="none" spc="0">
                <a:solidFill>
                  <a:srgbClr val="000000"/>
                </a:solidFill>
                <a:latin typeface="Times New Roman"/>
                <a:ea typeface="Times New Roman"/>
                <a:cs typeface="Times New Roman"/>
              </a:rPr>
              <a:t>(communication diagram) ‒ способ описания поведения, семантически (т.е. по значению) эквивалентный диаграмме последовательности.</a:t>
            </a:r>
            <a:endParaRPr lang="ru-RU" sz="2400" b="0" i="0" u="none" strike="noStrike" cap="none" spc="0">
              <a:solidFill>
                <a:srgbClr val="000000"/>
              </a:solidFill>
              <a:latin typeface="Times New Roman"/>
              <a:ea typeface="Times New Roman"/>
              <a:cs typeface="Times New Roman"/>
            </a:endParaRPr>
          </a:p>
          <a:p>
            <a:pPr marL="228600" marR="0" indent="-228600" algn="l">
              <a:lnSpc>
                <a:spcPct val="80000"/>
              </a:lnSpc>
              <a:spcBef>
                <a:spcPts val="999"/>
              </a:spcBef>
              <a:spcAft>
                <a:spcPts val="0"/>
              </a:spcAft>
              <a:buFont typeface="Arial"/>
              <a:buChar char="•"/>
              <a:defRPr/>
            </a:pPr>
            <a:endParaRPr lang="ru-RU" sz="2400" b="0" i="0" u="none" strike="noStrike" cap="none" spc="0">
              <a:solidFill>
                <a:srgbClr val="000000"/>
              </a:solidFill>
              <a:latin typeface="Times New Roman"/>
              <a:cs typeface="Times New Roman"/>
            </a:endParaRPr>
          </a:p>
          <a:p>
            <a:pPr marL="228600" marR="0" indent="-228600" algn="l">
              <a:lnSpc>
                <a:spcPct val="80000"/>
              </a:lnSpc>
              <a:spcBef>
                <a:spcPts val="999"/>
              </a:spcBef>
              <a:spcAft>
                <a:spcPts val="0"/>
              </a:spcAft>
              <a:buFont typeface="Arial"/>
              <a:buChar char="•"/>
              <a:defRPr/>
            </a:pPr>
            <a:r>
              <a:rPr lang="ru-RU" sz="2400" b="0" i="0" u="none" strike="noStrike" cap="none" spc="0">
                <a:solidFill>
                  <a:srgbClr val="000000"/>
                </a:solidFill>
                <a:latin typeface="Times New Roman"/>
                <a:ea typeface="Times New Roman"/>
                <a:cs typeface="Times New Roman"/>
              </a:rPr>
              <a:t>По сути, это такое же описание последовательности обмена сообщениями между объектами, только выраженное другими графическими средствами. </a:t>
            </a:r>
            <a:endParaRPr lang="ru-RU" sz="2400" b="0" i="0" u="none" strike="noStrike" cap="none" spc="0">
              <a:solidFill>
                <a:srgbClr val="000000"/>
              </a:solidFill>
              <a:latin typeface="Times New Roman"/>
              <a:ea typeface="Times New Roman"/>
              <a:cs typeface="Times New Roman"/>
            </a:endParaRPr>
          </a:p>
          <a:p>
            <a:pPr marL="228600" marR="0" indent="-228600" algn="l">
              <a:lnSpc>
                <a:spcPct val="80000"/>
              </a:lnSpc>
              <a:spcBef>
                <a:spcPts val="998"/>
              </a:spcBef>
              <a:spcAft>
                <a:spcPts val="0"/>
              </a:spcAft>
              <a:buFont typeface="Arial"/>
              <a:buChar char="•"/>
              <a:defRPr/>
            </a:pPr>
            <a:endParaRPr lang="ru-RU" sz="2400" b="0" i="0" u="none" strike="noStrike" cap="none" spc="0">
              <a:solidFill>
                <a:srgbClr val="000000"/>
              </a:solidFill>
              <a:latin typeface="Times New Roman"/>
              <a:cs typeface="Times New Roman"/>
            </a:endParaRPr>
          </a:p>
          <a:p>
            <a:pPr marL="0" marR="0" indent="0" algn="l">
              <a:lnSpc>
                <a:spcPct val="80000"/>
              </a:lnSpc>
              <a:spcBef>
                <a:spcPts val="998"/>
              </a:spcBef>
              <a:spcAft>
                <a:spcPts val="0"/>
              </a:spcAft>
              <a:buFont typeface="Arial"/>
              <a:buNone/>
              <a:defRPr/>
            </a:pPr>
            <a:r>
              <a:rPr lang="ru-RU" sz="2400" b="0" i="0" u="none" strike="noStrike" cap="none" spc="0">
                <a:solidFill>
                  <a:srgbClr val="000000"/>
                </a:solidFill>
                <a:latin typeface="Times New Roman"/>
                <a:ea typeface="Times New Roman"/>
                <a:cs typeface="Times New Roman"/>
              </a:rPr>
              <a:t>1. Объект (стереотип класса)</a:t>
            </a:r>
            <a:endParaRPr lang="ru-RU" sz="2400" b="0" i="0" u="none" strike="noStrike" cap="none" spc="0">
              <a:solidFill>
                <a:srgbClr val="000000"/>
              </a:solidFill>
              <a:latin typeface="Times New Roman"/>
              <a:ea typeface="Times New Roman"/>
              <a:cs typeface="Times New Roman"/>
            </a:endParaRPr>
          </a:p>
          <a:p>
            <a:pPr marL="0" marR="0" indent="0" algn="l">
              <a:lnSpc>
                <a:spcPct val="80000"/>
              </a:lnSpc>
              <a:spcBef>
                <a:spcPts val="998"/>
              </a:spcBef>
              <a:spcAft>
                <a:spcPts val="0"/>
              </a:spcAft>
              <a:buFont typeface="Arial"/>
              <a:buNone/>
              <a:defRPr/>
            </a:pPr>
            <a:r>
              <a:rPr lang="ru-RU" sz="2400" b="0" i="0" u="none" strike="noStrike" cap="none" spc="0">
                <a:solidFill>
                  <a:srgbClr val="000000"/>
                </a:solidFill>
                <a:latin typeface="Times New Roman"/>
                <a:ea typeface="Times New Roman"/>
                <a:cs typeface="Times New Roman"/>
              </a:rPr>
              <a:t>2. Отношения/связи</a:t>
            </a:r>
            <a:endParaRPr lang="ru-RU" sz="2400" b="0" i="0" u="none" strike="noStrike" cap="none" spc="0">
              <a:solidFill>
                <a:srgbClr val="000000"/>
              </a:solidFill>
              <a:latin typeface="Times New Roman"/>
              <a:ea typeface="Times New Roman"/>
              <a:cs typeface="Times New Roman"/>
            </a:endParaRPr>
          </a:p>
          <a:p>
            <a:pPr marL="0" marR="0" indent="0" algn="l">
              <a:lnSpc>
                <a:spcPct val="80000"/>
              </a:lnSpc>
              <a:spcBef>
                <a:spcPts val="998"/>
              </a:spcBef>
              <a:spcAft>
                <a:spcPts val="0"/>
              </a:spcAft>
              <a:buFont typeface="Arial"/>
              <a:buNone/>
              <a:defRPr/>
            </a:pPr>
            <a:r>
              <a:rPr lang="ru-RU" sz="2400" b="0" i="0" u="none" strike="noStrike" cap="none" spc="0">
                <a:solidFill>
                  <a:srgbClr val="000000"/>
                </a:solidFill>
                <a:latin typeface="Times New Roman"/>
                <a:ea typeface="Times New Roman"/>
                <a:cs typeface="Times New Roman"/>
              </a:rPr>
              <a:t>3. Передаваемые сообщения </a:t>
            </a:r>
            <a:br>
              <a:rPr lang="ru-RU" sz="2400" b="0" i="0" u="none" strike="noStrike" cap="none" spc="0">
                <a:solidFill>
                  <a:srgbClr val="000000"/>
                </a:solidFill>
                <a:latin typeface="Times New Roman"/>
                <a:ea typeface="Times New Roman"/>
                <a:cs typeface="Times New Roman"/>
              </a:rPr>
            </a:br>
            <a:r>
              <a:rPr lang="ru-RU" sz="2400" b="0" i="0" u="none" strike="noStrike" cap="none" spc="0">
                <a:solidFill>
                  <a:srgbClr val="000000"/>
                </a:solidFill>
                <a:latin typeface="Times New Roman"/>
                <a:ea typeface="Times New Roman"/>
                <a:cs typeface="Times New Roman"/>
              </a:rPr>
              <a:t>(важны нумерация и направление стрелки)</a:t>
            </a:r>
            <a:endParaRPr lang="ru-RU" sz="2400" b="0" i="0" u="none" strike="noStrike" cap="none" spc="0">
              <a:solidFill>
                <a:srgbClr val="000000"/>
              </a:solidFill>
              <a:latin typeface="Times New Roman"/>
              <a:cs typeface="Times New Roman"/>
            </a:endParaRPr>
          </a:p>
        </p:txBody>
      </p:sp>
      <p:pic>
        <p:nvPicPr>
          <p:cNvPr id="739163189" name=""/>
          <p:cNvPicPr>
            <a:picLocks noChangeAspect="1"/>
          </p:cNvPicPr>
          <p:nvPr/>
        </p:nvPicPr>
        <p:blipFill>
          <a:blip r:embed="rId2">
            <a:extLst>
              <a:ext uri="{96DAC541-7B7A-43D3-8B79-37D633B846F1}">
                <asvg:svgBlip xmlns:asvg="http://schemas.microsoft.com/office/drawing/2016/SVG/main" r:embed="rId3"/>
              </a:ext>
            </a:extLst>
          </a:blip>
          <a:stretch/>
        </p:blipFill>
        <p:spPr bwMode="auto">
          <a:xfrm flipH="0" flipV="0">
            <a:off x="6151562" y="4001293"/>
            <a:ext cx="6161389" cy="282909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1510217924" name="Picture 2" descr="http://www.it-gost.ru/images/articles/uml/seq_10.gif"/>
          <p:cNvPicPr>
            <a:picLocks noChangeAspect="1" noChangeArrowheads="1"/>
          </p:cNvPicPr>
          <p:nvPr/>
        </p:nvPicPr>
        <p:blipFill>
          <a:blip r:embed="rId2"/>
          <a:stretch/>
        </p:blipFill>
        <p:spPr bwMode="auto">
          <a:xfrm flipH="0" flipV="0">
            <a:off x="253463" y="1121172"/>
            <a:ext cx="5823229" cy="3356578"/>
          </a:xfrm>
          <a:prstGeom prst="rect">
            <a:avLst/>
          </a:prstGeom>
          <a:noFill/>
        </p:spPr>
      </p:pic>
      <p:sp>
        <p:nvSpPr>
          <p:cNvPr id="361134394" name="Заголовок 1"/>
          <p:cNvSpPr>
            <a:spLocks noGrp="1"/>
          </p:cNvSpPr>
          <p:nvPr>
            <p:ph type="title"/>
          </p:nvPr>
        </p:nvSpPr>
        <p:spPr bwMode="auto"/>
        <p:txBody>
          <a:bodyPr/>
          <a:lstStyle/>
          <a:p>
            <a:pPr>
              <a:defRPr/>
            </a:pPr>
            <a:r>
              <a:rPr/>
              <a:t>Пример диаграммы</a:t>
            </a:r>
            <a:endParaRPr/>
          </a:p>
        </p:txBody>
      </p:sp>
      <p:pic>
        <p:nvPicPr>
          <p:cNvPr id="780330719" name=""/>
          <p:cNvPicPr>
            <a:picLocks noChangeAspect="1"/>
          </p:cNvPicPr>
          <p:nvPr/>
        </p:nvPicPr>
        <p:blipFill>
          <a:blip r:embed="rId3"/>
          <a:stretch/>
        </p:blipFill>
        <p:spPr bwMode="auto">
          <a:xfrm flipH="0" flipV="0">
            <a:off x="4506027" y="4187031"/>
            <a:ext cx="7716134" cy="26364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84921692" name="Заголовок 1"/>
          <p:cNvSpPr>
            <a:spLocks noGrp="1"/>
          </p:cNvSpPr>
          <p:nvPr>
            <p:ph type="title"/>
          </p:nvPr>
        </p:nvSpPr>
        <p:spPr bwMode="auto"/>
        <p:txBody>
          <a:bodyPr/>
          <a:lstStyle/>
          <a:p>
            <a:pPr>
              <a:defRPr/>
            </a:pPr>
            <a:r>
              <a:rPr lang="ru-RU"/>
              <a:t>Практическая работа </a:t>
            </a:r>
            <a:r>
              <a:rPr lang="ru-RU"/>
              <a:t>4</a:t>
            </a:r>
            <a:endParaRPr lang="en-US"/>
          </a:p>
        </p:txBody>
      </p:sp>
      <p:sp>
        <p:nvSpPr>
          <p:cNvPr id="263457134" name="Объект 2"/>
          <p:cNvSpPr>
            <a:spLocks noGrp="1"/>
          </p:cNvSpPr>
          <p:nvPr>
            <p:ph idx="1"/>
          </p:nvPr>
        </p:nvSpPr>
        <p:spPr bwMode="auto"/>
        <p:txBody>
          <a:bodyPr>
            <a:normAutofit fontScale="85000" lnSpcReduction="20000"/>
          </a:bodyPr>
          <a:lstStyle/>
          <a:p>
            <a:pPr>
              <a:defRPr/>
            </a:pPr>
            <a:r>
              <a:rPr lang="ru-RU" b="0" strike="sngStrike">
                <a:solidFill>
                  <a:srgbClr val="000000"/>
                </a:solidFill>
                <a:latin typeface="Times New Roman"/>
                <a:ea typeface="Times New Roman"/>
                <a:cs typeface="Times New Roman"/>
              </a:rPr>
              <a:t>1. Построить диаграмму последовательности по описанию приведенного варианта использования:...</a:t>
            </a:r>
            <a:endParaRPr b="0" strike="sngStrike"/>
          </a:p>
          <a:p>
            <a:pPr marL="0" indent="0">
              <a:buNone/>
              <a:defRPr/>
            </a:pPr>
            <a:endParaRPr lang="ru-RU" strike="sngStrike">
              <a:solidFill>
                <a:srgbClr val="000000"/>
              </a:solidFill>
              <a:latin typeface="Times New Roman"/>
              <a:ea typeface="Times New Roman"/>
              <a:cs typeface="Times New Roman"/>
            </a:endParaRPr>
          </a:p>
          <a:p>
            <a:pPr>
              <a:defRPr/>
            </a:pPr>
            <a:r>
              <a:rPr lang="ru-RU" b="1" strike="noStrike">
                <a:solidFill>
                  <a:srgbClr val="000000"/>
                </a:solidFill>
                <a:latin typeface="Times New Roman"/>
                <a:ea typeface="Times New Roman"/>
                <a:cs typeface="Times New Roman"/>
              </a:rPr>
              <a:t>2. Построить диаграмму кооперации по описанию приведенного варианта использования в п.1. </a:t>
            </a:r>
            <a:endParaRPr b="1" strike="noStrike"/>
          </a:p>
          <a:p>
            <a:pPr marL="68580" indent="0">
              <a:buClr>
                <a:schemeClr val="accent1"/>
              </a:buClr>
              <a:buSzPct val="76000"/>
              <a:buFont typeface="Wingdings 2"/>
              <a:buNone/>
              <a:defRPr/>
            </a:pPr>
            <a:endParaRPr lang="ru-RU"/>
          </a:p>
          <a:p>
            <a:pPr>
              <a:defRPr/>
            </a:pPr>
            <a:r>
              <a:rPr lang="ru-RU" b="0" strike="sngStrike">
                <a:solidFill>
                  <a:srgbClr val="000000"/>
                </a:solidFill>
                <a:latin typeface="Times New Roman"/>
                <a:ea typeface="Times New Roman"/>
                <a:cs typeface="Times New Roman"/>
              </a:rPr>
              <a:t>3. Построить модель отношений между объектами (диаграмма последовательности) рассматриваемой системы (варианта учебного проекта) в рамках одного прецедента.</a:t>
            </a:r>
            <a:endParaRPr b="0" strike="sngStrike"/>
          </a:p>
          <a:p>
            <a:pPr marL="68580" indent="0">
              <a:buClr>
                <a:schemeClr val="accent1"/>
              </a:buClr>
              <a:buSzPct val="76000"/>
              <a:buFont typeface="Wingdings 2"/>
              <a:buNone/>
              <a:defRPr/>
            </a:pPr>
            <a:endParaRPr lang="ru-RU"/>
          </a:p>
          <a:p>
            <a:pPr>
              <a:defRPr/>
            </a:pPr>
            <a:r>
              <a:rPr lang="ru-RU" b="1" strike="noStrike">
                <a:solidFill>
                  <a:srgbClr val="000000"/>
                </a:solidFill>
                <a:latin typeface="Times New Roman"/>
                <a:ea typeface="Times New Roman"/>
                <a:cs typeface="Times New Roman"/>
              </a:rPr>
              <a:t>4. Построить модель отношений между объектами (диаграмма кооперации) рассматриваемой системы (варианта учебного проекта) в рамках одного прецедента.</a:t>
            </a:r>
            <a:endParaRPr b="1" strike="noStrike"/>
          </a:p>
        </p:txBody>
      </p:sp>
      <p:sp>
        <p:nvSpPr>
          <p:cNvPr id="567994132" name="TextBox 5"/>
          <p:cNvSpPr txBox="1"/>
          <p:nvPr/>
        </p:nvSpPr>
        <p:spPr bwMode="auto">
          <a:xfrm>
            <a:off x="918324" y="6216132"/>
            <a:ext cx="6112766" cy="366119"/>
          </a:xfrm>
          <a:prstGeom prst="rect">
            <a:avLst/>
          </a:prstGeom>
          <a:noFill/>
        </p:spPr>
        <p:txBody>
          <a:bodyPr wrap="square">
            <a:spAutoFit/>
          </a:bodyPr>
          <a:lstStyle/>
          <a:p>
            <a:pPr>
              <a:defRPr/>
            </a:pPr>
            <a:r>
              <a:rPr lang="ru-RU">
                <a:solidFill>
                  <a:srgbClr val="FF0000"/>
                </a:solidFill>
                <a:latin typeface="Times New Roman"/>
              </a:rPr>
              <a:t>Время выполнения: 1 пара, сдача на следующей неделе</a:t>
            </a:r>
            <a:endParaRPr 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r7-office/2024.3.2.622</Application>
  <DocSecurity>0</DocSecurity>
  <PresentationFormat>Широкоэкранный</PresentationFormat>
  <Paragraphs>0</Paragraphs>
  <Slides>19</Slides>
  <Notes>19</Notes>
  <HiddenSlides>0</HiddenSlides>
  <MMClips>2</MMClips>
  <ScaleCrop>0</ScaleCrop>
  <HeadingPairs>
    <vt:vector size="4" baseType="variant">
      <vt:variant>
        <vt:lpstr>Theme</vt:lpstr>
      </vt:variant>
      <vt:variant>
        <vt:i4>1</vt:i4>
      </vt:variant>
      <vt:variant>
        <vt:lpstr>Slide Titles</vt:lpstr>
      </vt:variant>
      <vt:variant>
        <vt:i4>19</vt:i4>
      </vt:variant>
    </vt:vector>
  </HeadingPairs>
  <TitlesOfParts>
    <vt:vector size="2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Microsoft Office User</dc:creator>
  <cp:keywords/>
  <dc:description/>
  <dc:identifier/>
  <dc:language/>
  <cp:lastModifiedBy>Леонов Дмитрий Алексеевич</cp:lastModifiedBy>
  <cp:revision>25</cp:revision>
  <dcterms:created xsi:type="dcterms:W3CDTF">2025-01-14T16:36:25Z</dcterms:created>
  <dcterms:modified xsi:type="dcterms:W3CDTF">2025-03-17T18:29:58Z</dcterms:modified>
  <cp:category/>
  <cp:contentStatus/>
  <cp:version/>
</cp:coreProperties>
</file>