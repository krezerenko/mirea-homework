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emf" ContentType="image/x-emf"/>
  <Default Extension="rels" ContentType="application/vnd.openxmlformats-package.relationships+xml"/>
  <Default Extension="bin" ContentType="application/vnd.openxmlformats-officedocument.oleObject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  <a:fill>
          <a:solidFill>
            <a:schemeClr val="accent2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presProps" Target="presProps.xml" /><Relationship Id="rId33" Type="http://schemas.openxmlformats.org/officeDocument/2006/relationships/tableStyles" Target="tableStyles.xml" /><Relationship Id="rId34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1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3" Type="http://schemas.openxmlformats.org/officeDocument/2006/relationships/image" Target="../media/image16.emf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AutoShape 2"/>
          <p:cNvSpPr>
            <a:spLocks noChangeArrowheads="1" noChangeAspect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AutoShape 4"/>
          <p:cNvSpPr>
            <a:spLocks noChangeArrowheads="1" noChangeAspect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8" name="Таблица 7"/>
          <p:cNvGraphicFramePr>
            <a:graphicFrameLocks xmlns:a="http://schemas.openxmlformats.org/drawingml/2006/main" noGrp="1"/>
          </p:cNvGraphicFramePr>
          <p:nvPr/>
        </p:nvGraphicFramePr>
        <p:xfrm>
          <a:off x="757929" y="1299298"/>
          <a:ext cx="10371342" cy="201168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{21E4AEA4-8DFA-4A89-87EB-49C32662AFE0}</a:tableStyleId>
              </a:tblPr>
              <a:tblGrid>
                <a:gridCol w="697346"/>
                <a:gridCol w="921316"/>
                <a:gridCol w="1483008"/>
                <a:gridCol w="5876301"/>
                <a:gridCol w="1393371"/>
              </a:tblGrid>
              <a:tr h="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недели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Неделя выдачи</a:t>
                      </a:r>
                      <a:endParaRPr/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Наименование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Срок сдачи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Описание функционала системы.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marL="0" algn="just" defTabSz="914400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Описание функций системы через диаграмму вариантов использования.</a:t>
                      </a:r>
                      <a:endParaRPr lang="ru-RU" sz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4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классов анализа.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последовательности.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классов.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деятельности.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 Диаграммы компонентов, развертывания.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Доклад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13-14 неделя</a:t>
                      </a:r>
                      <a:endParaRPr/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14 неделя</a:t>
                      </a:r>
                      <a:endParaRPr/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Проек</a:t>
                      </a:r>
                      <a:r>
                        <a:rPr lang="ru-RU" sz="1200"/>
                        <a:t>т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15-16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xmlns:a="http://schemas.openxmlformats.org/drawingml/2006/main" noGrp="1"/>
          </p:cNvGraphicFramePr>
          <p:nvPr/>
        </p:nvGraphicFramePr>
        <p:xfrm>
          <a:off x="2037273" y="3699422"/>
          <a:ext cx="7020560" cy="164592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{21E4AEA4-8DFA-4A89-87EB-49C32662AFE0}</a:tableStyleId>
              </a:tblPr>
              <a:tblGrid>
                <a:gridCol w="1170305"/>
                <a:gridCol w="2700020"/>
                <a:gridCol w="3150235"/>
              </a:tblGrid>
              <a:tr h="36576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Максимальный балл при сдаче в срок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Максимальный балл при сдаче после срока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50316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1601477" name="AutoShape 2"/>
          <p:cNvSpPr>
            <a:spLocks noChangeArrowheads="1" noChangeAspect="1"/>
          </p:cNvSpPr>
          <p:nvPr/>
        </p:nvSpPr>
        <p:spPr bwMode="auto">
          <a:xfrm>
            <a:off x="5943600" y="3276599"/>
            <a:ext cx="304799" cy="304799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53275324" name="AutoShape 4"/>
          <p:cNvSpPr>
            <a:spLocks noChangeArrowheads="1" noChangeAspect="1"/>
          </p:cNvSpPr>
          <p:nvPr/>
        </p:nvSpPr>
        <p:spPr bwMode="auto">
          <a:xfrm>
            <a:off x="6095999" y="3429000"/>
            <a:ext cx="304799" cy="304799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1729898759" name="Таблица 7"/>
          <p:cNvGraphicFramePr>
            <a:graphicFrameLocks xmlns:a="http://schemas.openxmlformats.org/drawingml/2006/main"/>
          </p:cNvGraphicFramePr>
          <p:nvPr/>
        </p:nvGraphicFramePr>
        <p:xfrm>
          <a:off x="757928" y="1299297"/>
          <a:ext cx="10371341" cy="201168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{21E4AEA4-8DFA-4A89-87EB-49C32662AFE0}</a:tableStyleId>
              </a:tblPr>
              <a:tblGrid>
                <a:gridCol w="697345"/>
                <a:gridCol w="921315"/>
                <a:gridCol w="1483007"/>
                <a:gridCol w="5876300"/>
                <a:gridCol w="1393370"/>
              </a:tblGrid>
              <a:tr h="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недели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Неделя выдачи</a:t>
                      </a:r>
                      <a:endParaRPr/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Наименование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Срок сдачи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Описание функционала системы.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marL="0" algn="just" defTabSz="914400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Описание функций системы через диаграмму вариантов использования.</a:t>
                      </a:r>
                      <a:endParaRPr lang="ru-RU" sz="1200">
                        <a:solidFill>
                          <a:schemeClr val="dk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4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классов анализа.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последовательности.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классов.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деятельности.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 Диаграммы компонентов, развертывания.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Доклад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13-14 неделя</a:t>
                      </a:r>
                      <a:endParaRPr/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14 неделя</a:t>
                      </a:r>
                      <a:endParaRPr/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Проек</a:t>
                      </a:r>
                      <a:r>
                        <a:rPr lang="ru-RU" sz="1200"/>
                        <a:t>т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15-16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1453683469" name="Таблица 8"/>
          <p:cNvGraphicFramePr>
            <a:graphicFrameLocks xmlns:a="http://schemas.openxmlformats.org/drawingml/2006/main"/>
          </p:cNvGraphicFramePr>
          <p:nvPr/>
        </p:nvGraphicFramePr>
        <p:xfrm>
          <a:off x="2037272" y="3699421"/>
          <a:ext cx="7020559" cy="164592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{21E4AEA4-8DFA-4A89-87EB-49C32662AFE0}</a:tableStyleId>
              </a:tblPr>
              <a:tblGrid>
                <a:gridCol w="1170304"/>
                <a:gridCol w="2700019"/>
                <a:gridCol w="3150234"/>
              </a:tblGrid>
              <a:tr h="36576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Максимальный балл при сдаче в срок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Максимальный балл при сдаче после срока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latin typeface="Times New Roman"/>
                          <a:ea typeface="Droid Sans Fallback"/>
                          <a:cs typeface="FreeSans"/>
                        </a:rPr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latin typeface="Times New Roman"/>
                          <a:ea typeface="Droid Sans Fallback"/>
                          <a:cs typeface="FreeSans"/>
                        </a:rPr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latin typeface="Times New Roman"/>
                          <a:ea typeface="Droid Sans Fallback"/>
                          <a:cs typeface="FreeSans"/>
                        </a:rPr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latin typeface="Times New Roman"/>
                          <a:ea typeface="Droid Sans Fallback"/>
                          <a:cs typeface="FreeSans"/>
                        </a:rPr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latin typeface="Times New Roman"/>
                          <a:ea typeface="Droid Sans Fallback"/>
                          <a:cs typeface="FreeSans"/>
                        </a:rPr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latin typeface="Times New Roman"/>
                          <a:ea typeface="Droid Sans Fallback"/>
                          <a:cs typeface="FreeSans"/>
                        </a:rPr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latin typeface="Times New Roman"/>
                          <a:ea typeface="Droid Sans Fallback"/>
                          <a:cs typeface="FreeSans"/>
                        </a:rPr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latin typeface="Times New Roman"/>
                          <a:ea typeface="Droid Sans Fallback"/>
                          <a:cs typeface="FreeSans"/>
                        </a:rPr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latin typeface="Times New Roman"/>
                          <a:ea typeface="Droid Sans Fallback"/>
                          <a:cs typeface="FreeSans"/>
                        </a:rPr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>
                          <a:latin typeface="Times New Roman"/>
                          <a:ea typeface="Droid Sans Fallback"/>
                          <a:cs typeface="FreeSans"/>
                        </a:rPr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/>
              <a:t>Диаграммы компонентов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474312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i="1">
                <a:solidFill>
                  <a:schemeClr val="accent2">
                    <a:lumMod val="75000"/>
                  </a:schemeClr>
                </a:solidFill>
              </a:rPr>
              <a:t>Диаграмма компонентов </a:t>
            </a:r>
            <a:r>
              <a:rPr lang="ru-RU" i="1"/>
              <a:t>(</a:t>
            </a:r>
            <a:r>
              <a:rPr lang="ru-RU" i="1"/>
              <a:t>component</a:t>
            </a:r>
            <a:r>
              <a:rPr lang="ru-RU" i="1"/>
              <a:t> </a:t>
            </a:r>
            <a:r>
              <a:rPr lang="ru-RU" i="1"/>
              <a:t>diagram</a:t>
            </a:r>
            <a:r>
              <a:rPr lang="ru-RU" i="1"/>
              <a:t>) </a:t>
            </a:r>
            <a:r>
              <a:rPr lang="ru-RU"/>
              <a:t>описывает особенности физического представления разрабатываемой системы, позволяя определить ее архитектуру, установив </a:t>
            </a:r>
            <a:r>
              <a:rPr lang="ru-RU"/>
              <a:t>зависимости </a:t>
            </a:r>
            <a:r>
              <a:rPr lang="ru-RU"/>
              <a:t>между </a:t>
            </a:r>
            <a:r>
              <a:rPr lang="ru-RU"/>
              <a:t>программными компонентами. 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Данная диаграмма обеспечивает согласованный переход от логического к физическому представлению системы в виде программных компонентов. 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Компоненты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8894885" cy="4351338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 b="1">
                <a:solidFill>
                  <a:schemeClr val="accent2">
                    <a:lumMod val="75000"/>
                  </a:schemeClr>
                </a:solidFill>
              </a:rPr>
              <a:t>Компонент</a:t>
            </a:r>
            <a:r>
              <a:rPr lang="ru-RU"/>
              <a:t> (</a:t>
            </a:r>
            <a:r>
              <a:rPr lang="ru-RU"/>
              <a:t>component</a:t>
            </a:r>
            <a:r>
              <a:rPr lang="ru-RU"/>
              <a:t>) - элемент модели, представляющий некоторую модульную часть системы с инкапсулированным содержимым, спецификация которого является взаимозаменяемой в его </a:t>
            </a:r>
            <a:r>
              <a:rPr lang="ru-RU"/>
              <a:t>окружении</a:t>
            </a:r>
            <a:r>
              <a:rPr lang="ru-RU"/>
              <a:t>. 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Компонентами могут быть программные компоненты, такие как база данных или пользовательский интерфейс; или аппаратные компоненты, такие как схема, микросхема или устройство; или бизнес-подразделение, такое как поставщик, платежная ведомость или доставка.</a:t>
            </a:r>
            <a:endParaRPr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562571" y="2992990"/>
            <a:ext cx="2536939" cy="1306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Компоненты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447556"/>
            <a:ext cx="10899531" cy="4566382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/>
              <a:t>Компонент, как элемент модели, может иметь различную физическую реализацию. Для более точной спецификации формы реализации компонента </a:t>
            </a:r>
            <a:r>
              <a:rPr lang="ru-RU"/>
              <a:t>можно </a:t>
            </a:r>
            <a:r>
              <a:rPr lang="ru-RU"/>
              <a:t>использовать текстовый стереотип, который указывается выше строки с именем компонента. 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 </a:t>
            </a:r>
            <a:r>
              <a:rPr lang="ru-RU" i="1"/>
              <a:t>«</a:t>
            </a:r>
            <a:r>
              <a:rPr lang="ru-RU" i="1"/>
              <a:t>file</a:t>
            </a:r>
            <a:r>
              <a:rPr lang="ru-RU" i="1"/>
              <a:t>» </a:t>
            </a:r>
            <a:r>
              <a:rPr lang="ru-RU"/>
              <a:t>– любой файл кроме таблицы; </a:t>
            </a:r>
            <a:endParaRPr/>
          </a:p>
          <a:p>
            <a:pPr>
              <a:defRPr/>
            </a:pPr>
            <a:r>
              <a:rPr lang="en-US"/>
              <a:t> </a:t>
            </a:r>
            <a:r>
              <a:rPr lang="en-US" i="1"/>
              <a:t>«executable» </a:t>
            </a:r>
            <a:r>
              <a:rPr lang="en-US"/>
              <a:t>– </a:t>
            </a:r>
            <a:r>
              <a:rPr lang="ru-RU"/>
              <a:t>программа (исполняемый файл); </a:t>
            </a:r>
            <a:endParaRPr/>
          </a:p>
          <a:p>
            <a:pPr>
              <a:defRPr/>
            </a:pPr>
            <a:r>
              <a:rPr lang="ru-RU"/>
              <a:t> </a:t>
            </a:r>
            <a:r>
              <a:rPr lang="ru-RU" i="1"/>
              <a:t>«</a:t>
            </a:r>
            <a:r>
              <a:rPr lang="ru-RU" i="1"/>
              <a:t>library</a:t>
            </a:r>
            <a:r>
              <a:rPr lang="ru-RU" i="1"/>
              <a:t>» </a:t>
            </a:r>
            <a:r>
              <a:rPr lang="ru-RU"/>
              <a:t>– статическая или динамическая библиотека; </a:t>
            </a:r>
            <a:endParaRPr/>
          </a:p>
          <a:p>
            <a:pPr>
              <a:defRPr/>
            </a:pPr>
            <a:r>
              <a:rPr lang="ru-RU"/>
              <a:t> </a:t>
            </a:r>
            <a:r>
              <a:rPr lang="ru-RU" i="1"/>
              <a:t>«</a:t>
            </a:r>
            <a:r>
              <a:rPr lang="ru-RU" i="1"/>
              <a:t>document</a:t>
            </a:r>
            <a:r>
              <a:rPr lang="ru-RU" i="1"/>
              <a:t>» </a:t>
            </a:r>
            <a:r>
              <a:rPr lang="ru-RU"/>
              <a:t>– остальные файлы (например, файл справки); </a:t>
            </a:r>
            <a:endParaRPr/>
          </a:p>
          <a:p>
            <a:pPr>
              <a:defRPr/>
            </a:pPr>
            <a:r>
              <a:rPr lang="en-US"/>
              <a:t> </a:t>
            </a:r>
            <a:r>
              <a:rPr lang="en-US" i="1"/>
              <a:t>«table» </a:t>
            </a:r>
            <a:r>
              <a:rPr lang="en-US"/>
              <a:t>– </a:t>
            </a:r>
            <a:r>
              <a:rPr lang="ru-RU"/>
              <a:t>таблица базы данных. 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Интерфейсы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25624"/>
            <a:ext cx="7593623" cy="4962037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ru-RU" b="1">
                <a:solidFill>
                  <a:schemeClr val="accent6">
                    <a:lumMod val="75000"/>
                  </a:schemeClr>
                </a:solidFill>
              </a:rPr>
              <a:t>Предоставляемый интерфейс</a:t>
            </a:r>
            <a:r>
              <a:rPr lang="ru-RU"/>
              <a:t> на диаграмме компонентов указывает на то, какие возможности или функции предоставляет конкретный компонент для взаимодействия с другими компонентами или системами. Он определяет способ, по которому другие компоненты могут использовать функциональность этого компонента или обмениваться данными с ним. Графически предоставляемый интерфейс отображается на диаграмме компонентов как окружность со сплошной </a:t>
            </a:r>
            <a:r>
              <a:rPr lang="ru-RU"/>
              <a:t>линией.</a:t>
            </a:r>
            <a:br>
              <a:rPr lang="ru-RU"/>
            </a:br>
            <a:r>
              <a:rPr lang="ru-RU" b="1"/>
              <a:t>Коротко: Это символ для определения интерфейсов, которые предоставляют функции, данные или услуги. 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 b="1">
                <a:solidFill>
                  <a:schemeClr val="accent1">
                    <a:lumMod val="75000"/>
                  </a:schemeClr>
                </a:solidFill>
              </a:rPr>
              <a:t>Требуемый интерфейс</a:t>
            </a:r>
            <a:r>
              <a:rPr lang="ru-RU"/>
              <a:t> на диаграмме компонентов указывает на интерфейсы, которые компонент ожидает от других компонентов. Он определяет, какие операции, методы или данные должны быть предоставлены другими компонентами, чтобы компонент мог взаимодействовать с ними. Графически требуемый интерфейс отображается на диаграмме компонентов как полукруг со сплошной линией</a:t>
            </a:r>
            <a:br>
              <a:rPr lang="ru-RU"/>
            </a:br>
            <a:r>
              <a:rPr lang="ru-RU" b="1"/>
              <a:t>Коротко: Он получает услуги, функции или данные извне. </a:t>
            </a: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855341" y="4623632"/>
            <a:ext cx="2825087" cy="140901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793926" y="2261475"/>
            <a:ext cx="2886502" cy="12448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Связь через интерфейсы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25626"/>
            <a:ext cx="10515600" cy="24386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Интерфейсы на компонентных схемах показывают, как компоненты соединены друг с другом и взаимодействуют друг с другом. Соединитель сборки позволяет соединить </a:t>
            </a:r>
            <a:r>
              <a:rPr lang="ru-RU">
                <a:solidFill>
                  <a:schemeClr val="accent1">
                    <a:lumMod val="75000"/>
                  </a:schemeClr>
                </a:solidFill>
              </a:rPr>
              <a:t>требуемый интерфейс </a:t>
            </a:r>
            <a:r>
              <a:rPr lang="ru-RU"/>
              <a:t>компонента </a:t>
            </a:r>
            <a:r>
              <a:rPr lang="ru-RU"/>
              <a:t>с </a:t>
            </a:r>
            <a:r>
              <a:rPr lang="ru-RU">
                <a:solidFill>
                  <a:schemeClr val="accent6">
                    <a:lumMod val="75000"/>
                  </a:schemeClr>
                </a:solidFill>
              </a:rPr>
              <a:t>предоставляемым </a:t>
            </a:r>
            <a:r>
              <a:rPr lang="ru-RU">
                <a:solidFill>
                  <a:schemeClr val="accent6">
                    <a:lumMod val="75000"/>
                  </a:schemeClr>
                </a:solidFill>
              </a:rPr>
              <a:t>интерфейсом </a:t>
            </a:r>
            <a:r>
              <a:rPr lang="ru-RU"/>
              <a:t>другого </a:t>
            </a:r>
            <a:r>
              <a:rPr lang="ru-RU"/>
              <a:t>компонента. Это показывает, что один компонент предоставляет услугу, которая требуется другому.</a:t>
            </a:r>
            <a:endParaRPr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559319" y="4399208"/>
            <a:ext cx="6400852" cy="22653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Связь через интерфейсы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25626"/>
            <a:ext cx="10515600" cy="24386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Интерфейсы на компонентных схемах показывают, как компоненты соединены друг с другом и взаимодействуют друг с другом. Соединитель сборки позволяет соединить </a:t>
            </a:r>
            <a:r>
              <a:rPr lang="ru-RU">
                <a:solidFill>
                  <a:schemeClr val="accent1">
                    <a:lumMod val="75000"/>
                  </a:schemeClr>
                </a:solidFill>
              </a:rPr>
              <a:t>требуемый интерфейс </a:t>
            </a:r>
            <a:r>
              <a:rPr lang="ru-RU"/>
              <a:t>компонента </a:t>
            </a:r>
            <a:r>
              <a:rPr lang="ru-RU"/>
              <a:t>с </a:t>
            </a:r>
            <a:r>
              <a:rPr lang="ru-RU">
                <a:solidFill>
                  <a:schemeClr val="accent6">
                    <a:lumMod val="75000"/>
                  </a:schemeClr>
                </a:solidFill>
              </a:rPr>
              <a:t>предоставляемым </a:t>
            </a:r>
            <a:r>
              <a:rPr lang="ru-RU">
                <a:solidFill>
                  <a:schemeClr val="accent6">
                    <a:lumMod val="75000"/>
                  </a:schemeClr>
                </a:solidFill>
              </a:rPr>
              <a:t>интерфейсом </a:t>
            </a:r>
            <a:r>
              <a:rPr lang="ru-RU"/>
              <a:t>другого </a:t>
            </a:r>
            <a:r>
              <a:rPr lang="ru-RU"/>
              <a:t>компонента. Это показывает, что один компонент предоставляет услугу, которая требуется другому.</a:t>
            </a:r>
            <a:endParaRPr/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647241" y="4649784"/>
            <a:ext cx="6484486" cy="1975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58315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Связь на примере</a:t>
            </a:r>
            <a:endParaRPr/>
          </a:p>
        </p:txBody>
      </p:sp>
      <p:sp>
        <p:nvSpPr>
          <p:cNvPr id="1358740298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51437724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381249" y="2144351"/>
            <a:ext cx="3171825" cy="1514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78887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Связь на примере</a:t>
            </a:r>
            <a:endParaRPr/>
          </a:p>
        </p:txBody>
      </p:sp>
      <p:sp>
        <p:nvSpPr>
          <p:cNvPr id="571335890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869668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381249" y="2144351"/>
            <a:ext cx="3171825" cy="1514475"/>
          </a:xfrm>
          <a:prstGeom prst="rect">
            <a:avLst/>
          </a:prstGeom>
        </p:spPr>
      </p:pic>
      <p:pic>
        <p:nvPicPr>
          <p:cNvPr id="126112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095999" y="4173680"/>
            <a:ext cx="3105149" cy="1533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73760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Связь на примере</a:t>
            </a:r>
            <a:endParaRPr/>
          </a:p>
        </p:txBody>
      </p:sp>
      <p:sp>
        <p:nvSpPr>
          <p:cNvPr id="6896388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0934553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381249" y="2144351"/>
            <a:ext cx="3171825" cy="1514475"/>
          </a:xfrm>
          <a:prstGeom prst="rect">
            <a:avLst/>
          </a:prstGeom>
        </p:spPr>
      </p:pic>
      <p:pic>
        <p:nvPicPr>
          <p:cNvPr id="20812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095999" y="4173680"/>
            <a:ext cx="3105149" cy="1533524"/>
          </a:xfrm>
          <a:prstGeom prst="rect">
            <a:avLst/>
          </a:prstGeom>
        </p:spPr>
      </p:pic>
      <p:cxnSp>
        <p:nvCxnSpPr>
          <p:cNvPr id="0" name=""/>
          <p:cNvCxnSpPr>
            <a:cxnSpLocks/>
          </p:cNvCxnSpPr>
          <p:nvPr/>
        </p:nvCxnSpPr>
        <p:spPr bwMode="auto">
          <a:xfrm flipH="0" flipV="0">
            <a:off x="3144136" y="3143250"/>
            <a:ext cx="3463636" cy="1619249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94730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Связь на примере</a:t>
            </a:r>
            <a:endParaRPr/>
          </a:p>
        </p:txBody>
      </p:sp>
      <p:sp>
        <p:nvSpPr>
          <p:cNvPr id="1223271597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4452488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63340" y="2311977"/>
            <a:ext cx="3352799" cy="3524249"/>
          </a:xfrm>
          <a:prstGeom prst="rect">
            <a:avLst/>
          </a:prstGeom>
        </p:spPr>
      </p:pic>
      <p:sp>
        <p:nvSpPr>
          <p:cNvPr id="163623871" name=""/>
          <p:cNvSpPr/>
          <p:nvPr/>
        </p:nvSpPr>
        <p:spPr bwMode="auto">
          <a:xfrm flipH="0" flipV="0">
            <a:off x="6668386" y="3723408"/>
            <a:ext cx="632113" cy="614795"/>
          </a:xfrm>
          <a:prstGeom prst="ellipse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 компонентов с интерфейсами</a:t>
            </a: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1723361" y="2442513"/>
            <a:ext cx="8376000" cy="2502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Порт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2834298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b="1">
                <a:solidFill>
                  <a:schemeClr val="accent4">
                    <a:lumMod val="75000"/>
                  </a:schemeClr>
                </a:solidFill>
              </a:rPr>
              <a:t>Порт</a:t>
            </a:r>
            <a:r>
              <a:rPr lang="ru-RU"/>
              <a:t> представляет точку входа или выхода компонента, через которую он взаимодействует с другими компонентами. Он указывает на интерфейс компонента, через который он предоставляет или получает данные, вызывает методы или осуществляет обмен сообщениями. Графически порт отображается в виде небольших прямоугольников, расположенных на границе компонента. Эти прямоугольники размещаются на разных сторонах компонента, исходя из того, является порт входящим или исходящим.</a:t>
            </a:r>
            <a:endParaRPr/>
          </a:p>
          <a:p>
            <a:pPr>
              <a:defRPr/>
            </a:pPr>
            <a:endParaRPr lang="ru-RU"/>
          </a:p>
        </p:txBody>
      </p:sp>
      <p:pic>
        <p:nvPicPr>
          <p:cNvPr id="2278628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46247" y="5045265"/>
            <a:ext cx="1190624" cy="990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78900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Порт</a:t>
            </a:r>
            <a:endParaRPr lang="ru-RU"/>
          </a:p>
        </p:txBody>
      </p:sp>
      <p:sp>
        <p:nvSpPr>
          <p:cNvPr id="1349525827" name="Объект 2"/>
          <p:cNvSpPr>
            <a:spLocks noGrp="1"/>
          </p:cNvSpPr>
          <p:nvPr>
            <p:ph idx="1"/>
          </p:nvPr>
        </p:nvSpPr>
        <p:spPr bwMode="auto">
          <a:xfrm>
            <a:off x="838198" y="1825624"/>
            <a:ext cx="10515600" cy="2834298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b="1">
                <a:solidFill>
                  <a:schemeClr val="accent4">
                    <a:lumMod val="75000"/>
                  </a:schemeClr>
                </a:solidFill>
              </a:rPr>
              <a:t>Порт</a:t>
            </a:r>
            <a:r>
              <a:rPr lang="ru-RU"/>
              <a:t> представляет точку входа или выхода компонента, через которую он взаимодействует с другими компонентами. Он указывает на интерфейс компонента, через который он предоставляет или получает данные, вызывает методы или осуществляет обмен сообщениями. Графически порт отображается в виде небольших прямоугольников, расположенных на границе компонента. Эти прямоугольники размещаются на разных сторонах компонента, исходя из того, является порт входящим или исходящим.</a:t>
            </a:r>
            <a:endParaRPr/>
          </a:p>
          <a:p>
            <a:pPr>
              <a:defRPr/>
            </a:pPr>
            <a:endParaRPr lang="ru-RU"/>
          </a:p>
        </p:txBody>
      </p:sp>
      <p:pic>
        <p:nvPicPr>
          <p:cNvPr id="11733291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4676203" y="4466125"/>
            <a:ext cx="6198568" cy="2044970"/>
          </a:xfrm>
          <a:prstGeom prst="rect">
            <a:avLst/>
          </a:prstGeom>
        </p:spPr>
      </p:pic>
      <p:pic>
        <p:nvPicPr>
          <p:cNvPr id="17151306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446247" y="5045265"/>
            <a:ext cx="1190624" cy="990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9835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Пример диаграммы</a:t>
            </a:r>
            <a:endParaRPr/>
          </a:p>
        </p:txBody>
      </p:sp>
      <p:pic>
        <p:nvPicPr>
          <p:cNvPr id="92094188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130136" y="1775113"/>
            <a:ext cx="7362824" cy="4048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Дополнительно:</a:t>
            </a:r>
            <a:br>
              <a:rPr lang="ru-RU"/>
            </a:br>
            <a:r>
              <a:rPr lang="ru-RU"/>
              <a:t>Примеры отображения зависимостей</a:t>
            </a:r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5712" y="3552092"/>
            <a:ext cx="7616289" cy="3248677"/>
          </a:xfrm>
          <a:prstGeom prst="rect">
            <a:avLst/>
          </a:prstGeom>
        </p:spPr>
      </p:pic>
      <p:pic>
        <p:nvPicPr>
          <p:cNvPr id="4" name="Объект 3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533291" y="1901703"/>
            <a:ext cx="5157524" cy="2723051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 bwMode="auto">
          <a:xfrm>
            <a:off x="5893408" y="215972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>
                <a:solidFill>
                  <a:srgbClr val="000000"/>
                </a:solidFill>
                <a:latin typeface="Times New Roman"/>
              </a:rPr>
              <a:t>Реализация (</a:t>
            </a:r>
            <a:r>
              <a:rPr lang="ru-RU">
                <a:solidFill>
                  <a:srgbClr val="000000"/>
                </a:solidFill>
                <a:latin typeface="Times New Roman"/>
              </a:rPr>
              <a:t>realization</a:t>
            </a:r>
            <a:r>
              <a:rPr lang="ru-RU">
                <a:solidFill>
                  <a:srgbClr val="000000"/>
                </a:solidFill>
                <a:latin typeface="Times New Roman"/>
              </a:rPr>
              <a:t>) - специализация отношения зависимости для связи компонентов с классификаторами, которые реализуют функциональность этого компонента 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Связь с диаграммой классов:</a:t>
            </a:r>
            <a:br>
              <a:rPr lang="ru-RU"/>
            </a:br>
            <a:r>
              <a:rPr lang="ru-RU"/>
              <a:t>на примере</a:t>
            </a:r>
            <a:endParaRPr lang="ru-RU"/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838198" y="1690687"/>
            <a:ext cx="10919842" cy="4755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latin typeface="Arial"/>
              </a:rPr>
              <a:t>Диаграмма классов → </a:t>
            </a:r>
            <a:r>
              <a:rPr lang="ru-RU" b="1">
                <a:latin typeface="Arial"/>
              </a:rPr>
              <a:t>логическая модель</a:t>
            </a:r>
            <a:r>
              <a:rPr lang="ru-RU">
                <a:latin typeface="Arial"/>
              </a:rPr>
              <a:t>: какие есть объекты, как они связаны</a:t>
            </a:r>
            <a:r>
              <a:rPr lang="ru-RU">
                <a:latin typeface="Arial"/>
              </a:rPr>
              <a:t>.</a:t>
            </a:r>
            <a:endParaRPr/>
          </a:p>
          <a:p>
            <a:pPr lvl="0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lang="ru-RU">
              <a:latin typeface="Arial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latin typeface="Arial"/>
              </a:rPr>
              <a:t>Диаграмма компонентов → </a:t>
            </a:r>
            <a:r>
              <a:rPr lang="ru-RU" b="1">
                <a:latin typeface="Arial"/>
              </a:rPr>
              <a:t>архитектурная модель</a:t>
            </a:r>
            <a:r>
              <a:rPr lang="ru-RU">
                <a:latin typeface="Arial"/>
              </a:rPr>
              <a:t>: как всё это разложено по модулям/пакетам и как взаимодействует</a:t>
            </a:r>
            <a:r>
              <a:rPr lang="ru-RU">
                <a:latin typeface="Arial"/>
              </a:rPr>
              <a:t>.</a:t>
            </a:r>
            <a:endParaRPr/>
          </a:p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latin typeface="Arial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latin typeface="Arial"/>
              </a:rPr>
              <a:t>Допустим</a:t>
            </a:r>
            <a:r>
              <a:rPr lang="ru-RU">
                <a:latin typeface="Arial"/>
              </a:rPr>
              <a:t>, есть 100 классов на диаграмме классов</a:t>
            </a:r>
            <a:r>
              <a:rPr lang="ru-RU">
                <a:latin typeface="Arial"/>
              </a:rPr>
              <a:t>:</a:t>
            </a:r>
            <a:endParaRPr/>
          </a:p>
          <a:p>
            <a:pPr marL="283879" lvl="0" indent="-283879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>
                <a:latin typeface="Arial"/>
              </a:rPr>
              <a:t>20 </a:t>
            </a:r>
            <a:r>
              <a:rPr lang="ru-RU">
                <a:latin typeface="Arial"/>
              </a:rPr>
              <a:t>классов относятся к </a:t>
            </a:r>
            <a:r>
              <a:rPr lang="ru-RU">
                <a:solidFill>
                  <a:schemeClr val="accent6">
                    <a:lumMod val="75000"/>
                  </a:schemeClr>
                </a:solidFill>
                <a:latin typeface="Arial"/>
              </a:rPr>
              <a:t>модулю авторизации</a:t>
            </a:r>
            <a:r>
              <a:rPr lang="ru-RU">
                <a:latin typeface="Arial"/>
              </a:rPr>
              <a:t>;</a:t>
            </a:r>
            <a:endParaRPr/>
          </a:p>
          <a:p>
            <a:pPr marL="283879" lvl="0" indent="-283879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>
                <a:latin typeface="Arial"/>
              </a:rPr>
              <a:t>30 </a:t>
            </a:r>
            <a:r>
              <a:rPr lang="ru-RU">
                <a:latin typeface="Arial"/>
              </a:rPr>
              <a:t>— к работе с </a:t>
            </a:r>
            <a:r>
              <a:rPr lang="ru-RU">
                <a:solidFill>
                  <a:schemeClr val="accent1">
                    <a:lumMod val="75000"/>
                  </a:schemeClr>
                </a:solidFill>
                <a:latin typeface="Arial"/>
              </a:rPr>
              <a:t>пользователями</a:t>
            </a:r>
            <a:r>
              <a:rPr lang="ru-RU">
                <a:latin typeface="Arial"/>
              </a:rPr>
              <a:t>;</a:t>
            </a:r>
            <a:endParaRPr/>
          </a:p>
          <a:p>
            <a:pPr marL="283879" lvl="0" indent="-283879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>
                <a:latin typeface="Arial"/>
              </a:rPr>
              <a:t>50 </a:t>
            </a:r>
            <a:r>
              <a:rPr lang="ru-RU">
                <a:latin typeface="Arial"/>
              </a:rPr>
              <a:t>— </a:t>
            </a:r>
            <a:r>
              <a:rPr lang="ru-RU">
                <a:solidFill>
                  <a:schemeClr val="tx1"/>
                </a:solidFill>
                <a:latin typeface="Arial"/>
              </a:rPr>
              <a:t>к</a:t>
            </a:r>
            <a:r>
              <a:rPr lang="ru-RU">
                <a:solidFill>
                  <a:schemeClr val="accent4">
                    <a:lumMod val="75000"/>
                  </a:schemeClr>
                </a:solidFill>
                <a:latin typeface="Arial"/>
              </a:rPr>
              <a:t> заказам, продуктам, утилитам</a:t>
            </a:r>
            <a:r>
              <a:rPr lang="ru-RU">
                <a:latin typeface="Arial"/>
              </a:rPr>
              <a:t> и т. д</a:t>
            </a:r>
            <a:r>
              <a:rPr lang="ru-RU">
                <a:latin typeface="Arial"/>
              </a:rPr>
              <a:t>.</a:t>
            </a:r>
            <a:endParaRPr/>
          </a:p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latin typeface="Arial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latin typeface="Arial"/>
              </a:rPr>
              <a:t>На </a:t>
            </a:r>
            <a:r>
              <a:rPr lang="ru-RU">
                <a:latin typeface="Arial"/>
              </a:rPr>
              <a:t>диаграмме компонентов могут быть показаны</a:t>
            </a:r>
            <a:r>
              <a:rPr lang="ru-RU">
                <a:latin typeface="Arial"/>
              </a:rPr>
              <a:t>:</a:t>
            </a:r>
            <a:endParaRPr/>
          </a:p>
          <a:p>
            <a:pPr marL="283879" lvl="0" indent="-283879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>
                <a:solidFill>
                  <a:schemeClr val="accent6">
                    <a:lumMod val="75000"/>
                  </a:schemeClr>
                </a:solidFill>
                <a:latin typeface="Arial"/>
              </a:rPr>
              <a:t>AuthService</a:t>
            </a:r>
            <a:r>
              <a:rPr lang="ru-RU">
                <a:latin typeface="Arial"/>
              </a:rPr>
              <a:t>, </a:t>
            </a:r>
            <a:r>
              <a:rPr lang="ru-RU">
                <a:solidFill>
                  <a:schemeClr val="accent1">
                    <a:lumMod val="75000"/>
                  </a:schemeClr>
                </a:solidFill>
                <a:latin typeface="Arial"/>
              </a:rPr>
              <a:t>UserModule</a:t>
            </a:r>
            <a:r>
              <a:rPr lang="ru-RU">
                <a:latin typeface="Arial"/>
              </a:rPr>
              <a:t>, </a:t>
            </a:r>
            <a:r>
              <a:rPr lang="ru-RU">
                <a:latin typeface="Arial"/>
              </a:rPr>
              <a:t>OrderComponent</a:t>
            </a:r>
            <a:endParaRPr lang="ru-RU">
              <a:latin typeface="Arial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latin typeface="Arial"/>
              </a:rPr>
              <a:t>И </a:t>
            </a:r>
            <a:r>
              <a:rPr lang="ru-RU">
                <a:latin typeface="Arial"/>
              </a:rPr>
              <a:t>интерфейсы типа </a:t>
            </a:r>
            <a:endParaRPr lang="ru-RU">
              <a:latin typeface="Arial"/>
            </a:endParaRPr>
          </a:p>
          <a:p>
            <a:pPr marL="283879" lvl="0" indent="-283879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8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IAuth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</a:t>
            </a:r>
            <a:r>
              <a:rPr lang="ru-RU">
                <a:solidFill>
                  <a:schemeClr val="accent6">
                    <a:lumMod val="75000"/>
                  </a:schemeClr>
                </a:solidFill>
                <a:latin typeface="Arial"/>
              </a:rPr>
              <a:t> </a:t>
            </a:r>
            <a:r>
              <a:rPr lang="ru-RU">
                <a:solidFill>
                  <a:schemeClr val="accent1">
                    <a:lumMod val="75000"/>
                  </a:schemeClr>
                </a:solidFill>
                <a:latin typeface="Arial"/>
              </a:rPr>
              <a:t>IUserService</a:t>
            </a:r>
            <a:r>
              <a:rPr lang="ru-RU">
                <a:latin typeface="Arial"/>
              </a:rPr>
              <a:t>, </a:t>
            </a:r>
            <a:r>
              <a:rPr lang="ru-RU">
                <a:solidFill>
                  <a:schemeClr val="accent4">
                    <a:lumMod val="75000"/>
                  </a:schemeClr>
                </a:solidFill>
                <a:latin typeface="Arial"/>
              </a:rPr>
              <a:t>I</a:t>
            </a:r>
            <a:r>
              <a:rPr lang="en-US">
                <a:solidFill>
                  <a:schemeClr val="accent4">
                    <a:lumMod val="75000"/>
                  </a:schemeClr>
                </a:solidFill>
                <a:latin typeface="Arial"/>
              </a:rPr>
              <a:t>p</a:t>
            </a:r>
            <a:r>
              <a:rPr lang="ru-RU">
                <a:solidFill>
                  <a:schemeClr val="accent4">
                    <a:lumMod val="75000"/>
                  </a:schemeClr>
                </a:solidFill>
                <a:latin typeface="Arial"/>
              </a:rPr>
              <a:t>ayment</a:t>
            </a:r>
            <a:endParaRPr lang="ru-RU">
              <a:solidFill>
                <a:schemeClr val="accent4">
                  <a:lumMod val="75000"/>
                </a:schemeClr>
              </a:solidFill>
              <a:latin typeface="Arial"/>
            </a:endParaRPr>
          </a:p>
          <a:p>
            <a:pPr marL="283879" lvl="0" indent="-283879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ru-RU">
              <a:latin typeface="Arial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latin typeface="Arial"/>
              </a:rPr>
              <a:t>Но </a:t>
            </a:r>
            <a:r>
              <a:rPr lang="ru-RU">
                <a:latin typeface="Arial"/>
              </a:rPr>
              <a:t>вся «внутренняя кухня» (все классы) компонентов не отображается напрямую в диаграмме компонентов.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Связь с диаграммой классов</a:t>
            </a:r>
            <a:r>
              <a:rPr/>
              <a:t>:</a:t>
            </a:r>
            <a:br>
              <a:rPr/>
            </a:br>
            <a:r>
              <a:rPr/>
              <a:t>тезисно</a:t>
            </a:r>
            <a:endParaRPr sz="44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10732476" cy="474265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lang="ru-RU" sz="30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0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Компоненты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 отображают архитектурный уровень, разделение на модули, библиотеки, взаимодействие между подсистемами, а не внутреннюю структуру.</a:t>
            </a:r>
            <a:endParaRPr sz="3000">
              <a:solidFill>
                <a:schemeClr val="tx1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000">
                <a:solidFill>
                  <a:schemeClr val="accent6">
                    <a:lumMod val="75000"/>
                  </a:schemeClr>
                </a:solidFill>
              </a:rPr>
              <a:t>Диаграмма </a:t>
            </a:r>
            <a:r>
              <a:rPr lang="ru-RU" sz="3000">
                <a:solidFill>
                  <a:schemeClr val="accent6">
                    <a:lumMod val="75000"/>
                  </a:schemeClr>
                </a:solidFill>
              </a:rPr>
              <a:t>компонентов</a:t>
            </a:r>
            <a:r>
              <a:rPr lang="ru-RU" sz="3000">
                <a:solidFill>
                  <a:schemeClr val="tx1"/>
                </a:solidFill>
              </a:rPr>
              <a:t> — это не просто набор </a:t>
            </a:r>
            <a:r>
              <a:rPr lang="ru-RU" sz="3000">
                <a:solidFill>
                  <a:schemeClr val="accent2">
                    <a:lumMod val="75000"/>
                  </a:schemeClr>
                </a:solidFill>
              </a:rPr>
              <a:t>классов</a:t>
            </a:r>
            <a:r>
              <a:rPr lang="ru-RU" sz="3000">
                <a:solidFill>
                  <a:schemeClr val="tx1"/>
                </a:solidFill>
              </a:rPr>
              <a:t>. </a:t>
            </a:r>
            <a:r>
              <a:rPr lang="ru-RU" sz="30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Компоненты 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могут включать в себя </a:t>
            </a:r>
            <a:r>
              <a:rPr lang="ru-RU" sz="3000" b="0" i="0" u="none" strike="noStrike" cap="none" spc="0">
                <a:solidFill>
                  <a:schemeClr val="accent2">
                    <a:lumMod val="75000"/>
                  </a:schemeClr>
                </a:solidFill>
                <a:latin typeface="Calibri"/>
                <a:ea typeface="Arial"/>
                <a:cs typeface="Arial"/>
              </a:rPr>
              <a:t>классы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. Т.е., внутри компонента реализована логика, описанная </a:t>
            </a:r>
            <a:r>
              <a:rPr lang="ru-RU" sz="3000" b="0" i="0" u="none" strike="noStrike" cap="none" spc="0">
                <a:solidFill>
                  <a:schemeClr val="accent2">
                    <a:lumMod val="75000"/>
                  </a:schemeClr>
                </a:solidFill>
                <a:latin typeface="Calibri"/>
                <a:ea typeface="Arial"/>
                <a:cs typeface="Arial"/>
              </a:rPr>
              <a:t>классами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.</a:t>
            </a:r>
            <a:endParaRPr sz="300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000">
                <a:solidFill>
                  <a:schemeClr val="tx1"/>
                </a:solidFill>
              </a:rPr>
              <a:t>Один </a:t>
            </a:r>
            <a:r>
              <a:rPr lang="ru-RU" sz="3000">
                <a:solidFill>
                  <a:schemeClr val="accent6">
                    <a:lumMod val="75000"/>
                  </a:schemeClr>
                </a:solidFill>
              </a:rPr>
              <a:t>компонент </a:t>
            </a:r>
            <a:r>
              <a:rPr lang="ru-RU" sz="3000">
                <a:solidFill>
                  <a:schemeClr val="tx1"/>
                </a:solidFill>
              </a:rPr>
              <a:t>может включать несколько </a:t>
            </a:r>
            <a:r>
              <a:rPr lang="ru-RU" sz="3000">
                <a:solidFill>
                  <a:schemeClr val="accent2">
                    <a:lumMod val="75000"/>
                  </a:schemeClr>
                </a:solidFill>
              </a:rPr>
              <a:t>классов</a:t>
            </a:r>
            <a:r>
              <a:rPr lang="ru-RU" sz="3000">
                <a:solidFill>
                  <a:schemeClr val="tx1"/>
                </a:solidFill>
              </a:rPr>
              <a:t>, интерфейсов, ресурсов и даже другие компоненты.</a:t>
            </a:r>
            <a:endParaRPr>
              <a:solidFill>
                <a:schemeClr val="tx1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Интерфейсы, используемые в диаграмме </a:t>
            </a:r>
            <a:r>
              <a:rPr lang="ru-RU" sz="30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Arial"/>
                <a:cs typeface="Arial"/>
              </a:rPr>
              <a:t>компонентов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, обычно соответствуют интерфейсам (или абстрактным классам) на </a:t>
            </a:r>
            <a:r>
              <a:rPr lang="ru-RU" sz="3000" b="0" i="0" u="none" strike="noStrike" cap="none" spc="0">
                <a:solidFill>
                  <a:schemeClr val="accent2">
                    <a:lumMod val="75000"/>
                  </a:schemeClr>
                </a:solidFill>
                <a:latin typeface="Calibri"/>
                <a:ea typeface="Arial"/>
                <a:cs typeface="Arial"/>
              </a:rPr>
              <a:t>диаграмме классов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sz="3000">
              <a:solidFill>
                <a:schemeClr val="tx1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000" b="0" i="0" u="none" strike="noStrike" cap="none" spc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Диаграмма классов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 может детализировать реализацию компонента, показанного на </a:t>
            </a:r>
            <a:r>
              <a:rPr lang="ru-RU" sz="30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ibri"/>
                <a:ea typeface="Arial"/>
                <a:cs typeface="Arial"/>
              </a:rPr>
              <a:t>диаграмме компонентов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.</a:t>
            </a:r>
            <a:endParaRPr sz="3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/>
              <a:t>З</a:t>
            </a:r>
            <a:r>
              <a:rPr lang="ru-RU"/>
              <a:t>анятие 1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412386"/>
            <a:ext cx="7004538" cy="497962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/>
          </a:bodyPr>
          <a:lstStyle/>
          <a:p>
            <a:pPr marL="514350" indent="-514350">
              <a:buFont typeface="Arial"/>
              <a:buAutoNum type="arabicPeriod"/>
              <a:defRPr/>
            </a:pPr>
            <a:r>
              <a:rPr lang="ru-RU" sz="3000">
                <a:solidFill>
                  <a:srgbClr val="000000"/>
                </a:solidFill>
                <a:latin typeface="Times New Roman"/>
              </a:rPr>
              <a:t>Построить </a:t>
            </a:r>
            <a:r>
              <a:rPr lang="ru-RU" sz="3000">
                <a:solidFill>
                  <a:srgbClr val="000000"/>
                </a:solidFill>
                <a:latin typeface="Times New Roman"/>
              </a:rPr>
              <a:t>диаграмму компонентов (индивидуальный вариант учебного проекта).  </a:t>
            </a:r>
            <a:endParaRPr/>
          </a:p>
          <a:p>
            <a:pPr marL="514350" indent="-514350">
              <a:buFont typeface="Arial"/>
              <a:buAutoNum type="arabicPeriod"/>
              <a:defRPr/>
            </a:pPr>
            <a:r>
              <a:rPr lang="ru-RU" sz="3000" strike="sngStrike">
                <a:solidFill>
                  <a:schemeClr val="bg2">
                    <a:lumMod val="75000"/>
                  </a:schemeClr>
                </a:solidFill>
                <a:latin typeface="Times New Roman"/>
              </a:rPr>
              <a:t>Построить </a:t>
            </a:r>
            <a:r>
              <a:rPr lang="ru-RU" sz="3000" strike="sngStrike">
                <a:solidFill>
                  <a:schemeClr val="bg2">
                    <a:lumMod val="75000"/>
                  </a:schemeClr>
                </a:solidFill>
                <a:latin typeface="Times New Roman"/>
              </a:rPr>
              <a:t>диаграмму развертывания рассматриваемой системы.  </a:t>
            </a:r>
            <a:endParaRPr/>
          </a:p>
          <a:p>
            <a:pPr marL="0" indent="0">
              <a:buNone/>
              <a:defRPr/>
            </a:pPr>
            <a:endParaRPr lang="ru-RU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endParaRPr lang="ru-RU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endParaRPr lang="ru-RU" sz="160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r>
              <a:rPr lang="ru-RU">
                <a:solidFill>
                  <a:srgbClr val="000000"/>
                </a:solidFill>
                <a:latin typeface="Times New Roman"/>
              </a:rPr>
              <a:t>Результат работы: стандартный отчет, содержащий построенные диаграммы.</a:t>
            </a:r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918325" y="6216134"/>
            <a:ext cx="6096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  <a:latin typeface="Times New Roman"/>
              </a:rPr>
              <a:t>Время выполнения: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1 пара (из 2),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сдача на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1</a:t>
            </a:r>
            <a:r>
              <a:rPr lang="en-US">
                <a:solidFill>
                  <a:srgbClr val="FF0000"/>
                </a:solidFill>
                <a:latin typeface="Times New Roman"/>
              </a:rPr>
              <a:t>3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неделе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3076" name="Picture 4" descr="https://sun1-93.userapi.com/impg/DbMC4BmOFg0yg_M0xS14s-gdfi6D22E5JpLKLA/6Gf6PQjxRvk.jpg?size=445x495&amp;quality=95&amp;sign=6c74078606016f033deb14d6889f99c9&amp;type=album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7478957" y="1501258"/>
            <a:ext cx="4238625" cy="47148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981979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/>
              <a:t>Диаграмма развёртывания </a:t>
            </a:r>
            <a:endParaRPr lang="ru-RU"/>
          </a:p>
        </p:txBody>
      </p:sp>
      <p:sp>
        <p:nvSpPr>
          <p:cNvPr id="627587174" name="Объект 2"/>
          <p:cNvSpPr>
            <a:spLocks noGrp="1"/>
          </p:cNvSpPr>
          <p:nvPr>
            <p:ph idx="1"/>
          </p:nvPr>
        </p:nvSpPr>
        <p:spPr bwMode="auto">
          <a:xfrm>
            <a:off x="838198" y="1825624"/>
            <a:ext cx="10515600" cy="474312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i="1">
                <a:solidFill>
                  <a:schemeClr val="accent2">
                    <a:lumMod val="75000"/>
                  </a:schemeClr>
                </a:solidFill>
              </a:rPr>
              <a:t>Диаграммы развертывания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представляют физическое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расположение системы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показывая, на каком физическом оборудовании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запускается та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или иная составляющая программного обеспечения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marR="0" indent="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 их помощью очень </a:t>
            </a:r>
            <a:r>
              <a:rPr lang="ru-RU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удобно показывать </a:t>
            </a:r>
            <a:r>
              <a:rPr lang="ru-RU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размещение элементов, поэтому в случае любого </a:t>
            </a:r>
            <a:r>
              <a:rPr lang="ru-RU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нетривиального</a:t>
            </a:r>
            <a:r>
              <a:rPr lang="ru-RU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развертывания они могут оказаться очень полезными.</a:t>
            </a:r>
            <a:r>
              <a:rPr lang="ru-RU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endParaRPr lang="ru-RU" sz="2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95876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Элементы диаграммы</a:t>
            </a:r>
            <a:endParaRPr/>
          </a:p>
        </p:txBody>
      </p:sp>
      <p:sp>
        <p:nvSpPr>
          <p:cNvPr id="1854830036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8021133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Узел (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node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– это то, что может содержать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программное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обеспечение. Узлы бывают двух типов. </a:t>
            </a:r>
            <a:endParaRPr>
              <a:latin typeface="Calibri"/>
              <a:cs typeface="Calibri"/>
            </a:endParaRPr>
          </a:p>
          <a:p>
            <a:pPr>
              <a:defRPr/>
            </a:pP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Устройство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device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–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это физическое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оборудование: компьютер или устройство, связанное с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системой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endParaRPr>
              <a:latin typeface="Calibri"/>
              <a:cs typeface="Calibri"/>
            </a:endParaRPr>
          </a:p>
          <a:p>
            <a:pPr>
              <a:defRPr/>
            </a:pP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реда 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выполнения (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execution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environment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– это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программное обеспечение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которое само может включать другое программное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обеспечение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например операционную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систему.</a:t>
            </a:r>
            <a:endParaRPr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Узлы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могут содержать 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артефакты (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artifacts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–</a:t>
            </a:r>
            <a:r>
              <a:rPr sz="25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физическое олицетворение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программного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обеспечения (обычно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это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файлы). Такими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файлами могут быть исполняемые файлы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(файлы.exe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двоичные файлы, файлы DLL, файлы JAR, сборки или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сценарии) или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файлы данных, конфигурационные файлы,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HTML документы и </a:t>
            </a:r>
            <a:r>
              <a:rPr sz="25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т. д.</a:t>
            </a:r>
            <a:endParaRPr/>
          </a:p>
        </p:txBody>
      </p:sp>
      <p:pic>
        <p:nvPicPr>
          <p:cNvPr id="80099398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9810749" y="1746249"/>
            <a:ext cx="1800000" cy="1217083"/>
          </a:xfrm>
          <a:prstGeom prst="rect">
            <a:avLst/>
          </a:prstGeom>
        </p:spPr>
      </p:pic>
      <p:pic>
        <p:nvPicPr>
          <p:cNvPr id="1010492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810749" y="3291416"/>
            <a:ext cx="1800000" cy="888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4950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Пример диаграммы</a:t>
            </a:r>
            <a:endParaRPr/>
          </a:p>
        </p:txBody>
      </p:sp>
      <p:pic>
        <p:nvPicPr>
          <p:cNvPr id="78991485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3058595" y="1506857"/>
            <a:ext cx="6074808" cy="5264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83304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Соединения</a:t>
            </a:r>
            <a:endParaRPr/>
          </a:p>
        </p:txBody>
      </p:sp>
      <p:sp>
        <p:nvSpPr>
          <p:cNvPr id="1322123318" name="Объект 2"/>
          <p:cNvSpPr>
            <a:spLocks noGrp="1"/>
          </p:cNvSpPr>
          <p:nvPr>
            <p:ph idx="1"/>
          </p:nvPr>
        </p:nvSpPr>
        <p:spPr bwMode="auto">
          <a:xfrm>
            <a:off x="838198" y="1539874"/>
            <a:ext cx="10515600" cy="4351338"/>
          </a:xfrm>
        </p:spPr>
        <p:txBody>
          <a:bodyPr/>
          <a:lstStyle/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Кроме изображений узлов на диаграмме развертывания указываются отношения между ними. В качестве отношений выступают </a:t>
            </a:r>
            <a:r>
              <a:rPr sz="22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физические </a:t>
            </a:r>
            <a:r>
              <a:rPr sz="2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соединения между узлами и зависимости между узлами и компонентами, изображения которых тоже могут присутствовать на диаграммах развертывания.</a:t>
            </a:r>
            <a:endParaRPr>
              <a:latin typeface="Calibri"/>
              <a:cs typeface="Calibri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Соединения являются разновидностью ассоциации и изображаются отрезками линий без стрелок. Наличие такой линии указывает на необходимость организации </a:t>
            </a:r>
            <a:r>
              <a:rPr sz="22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физического </a:t>
            </a:r>
            <a:r>
              <a:rPr sz="2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канала для обмена информацией между соответствующими узлами. Характер соединения может быть дополнительно специфицирован примечанием, помеченным значением или ограничением. </a:t>
            </a:r>
            <a:endParaRPr/>
          </a:p>
        </p:txBody>
      </p:sp>
      <p:pic>
        <p:nvPicPr>
          <p:cNvPr id="158735112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3331893" y="4493986"/>
            <a:ext cx="5528212" cy="2162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06360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Дополнительно</a:t>
            </a:r>
            <a:endParaRPr/>
          </a:p>
        </p:txBody>
      </p:sp>
      <p:sp>
        <p:nvSpPr>
          <p:cNvPr id="1198497362" name="Объект 2"/>
          <p:cNvSpPr>
            <a:spLocks noGrp="1"/>
          </p:cNvSpPr>
          <p:nvPr>
            <p:ph idx="1"/>
          </p:nvPr>
        </p:nvSpPr>
        <p:spPr bwMode="auto">
          <a:xfrm>
            <a:off x="838198" y="1559027"/>
            <a:ext cx="10515600" cy="4351338"/>
          </a:xfrm>
        </p:spPr>
        <p:txBody>
          <a:bodyPr/>
          <a:lstStyle/>
          <a:p>
            <a:pPr marL="0" marR="0" indent="0" algn="just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Кроме соединений на диаграмме развертывания могут присутствовать отношения зависимости между узлом и развернутыми на нем компонентами. Подобный способ </a:t>
            </a:r>
            <a:r>
              <a:rPr lang="ru-RU" sz="22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является </a:t>
            </a:r>
            <a:r>
              <a:rPr lang="ru-RU" sz="22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альтернативой </a:t>
            </a:r>
            <a:r>
              <a:rPr lang="ru-RU" sz="22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вложенному изображению компонентов</a:t>
            </a:r>
            <a:r>
              <a:rPr lang="ru-RU" sz="2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внутри символа узла, что не всегда удобно, поскольку делает этот символ излишне объемным. Поэтому при большом количестве развернутых </a:t>
            </a:r>
            <a:r>
              <a:rPr lang="ru-RU" sz="2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на,узле</a:t>
            </a:r>
            <a:r>
              <a:rPr lang="ru-RU" sz="2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компонентов соответствующую информацию можно представить в форме отношения зависимости</a:t>
            </a:r>
            <a:r>
              <a:rPr lang="ru-RU" sz="2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  <p:pic>
        <p:nvPicPr>
          <p:cNvPr id="178377647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805653" y="3734696"/>
            <a:ext cx="6580691" cy="3071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9800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Еще один пример</a:t>
            </a:r>
            <a:endParaRPr/>
          </a:p>
        </p:txBody>
      </p:sp>
      <p:pic>
        <p:nvPicPr>
          <p:cNvPr id="114169223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853166" y="1825624"/>
            <a:ext cx="8307891" cy="39687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35359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/>
              <a:t>З</a:t>
            </a:r>
            <a:r>
              <a:rPr lang="ru-RU"/>
              <a:t>анятие 2</a:t>
            </a:r>
            <a:endParaRPr lang="en-US"/>
          </a:p>
        </p:txBody>
      </p:sp>
      <p:sp>
        <p:nvSpPr>
          <p:cNvPr id="577824765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838198" y="1412385"/>
            <a:ext cx="8391549" cy="497962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514350" indent="-514350">
              <a:buFont typeface="Arial"/>
              <a:buAutoNum type="arabicPeriod"/>
              <a:defRPr/>
            </a:pPr>
            <a:r>
              <a:rPr lang="ru-RU" sz="3000" strike="sngStrike">
                <a:solidFill>
                  <a:schemeClr val="bg2">
                    <a:lumMod val="75000"/>
                  </a:schemeClr>
                </a:solidFill>
                <a:latin typeface="Times New Roman"/>
              </a:rPr>
              <a:t>Построить </a:t>
            </a:r>
            <a:r>
              <a:rPr lang="ru-RU" sz="3000" strike="sngStrike">
                <a:solidFill>
                  <a:schemeClr val="bg2">
                    <a:lumMod val="75000"/>
                  </a:schemeClr>
                </a:solidFill>
                <a:latin typeface="Times New Roman"/>
              </a:rPr>
              <a:t>диаграмму компонентов (индивидуальный вариант учебного проекта). </a:t>
            </a:r>
            <a:r>
              <a:rPr lang="ru-RU" sz="3000" strike="sngStrike">
                <a:solidFill>
                  <a:srgbClr val="000000"/>
                </a:solidFill>
                <a:latin typeface="Times New Roman"/>
              </a:rPr>
              <a:t> </a:t>
            </a:r>
            <a:endParaRPr/>
          </a:p>
          <a:p>
            <a:pPr marL="514350" marR="0" indent="-51435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AutoNum type="arabicPeriod" startAt="2"/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Построить 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диаграмму развертывания рассма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триваемой системы. 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ru-RU"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endParaRPr lang="ru-RU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endParaRPr lang="ru-RU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endParaRPr lang="ru-RU" sz="160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r>
              <a:rPr lang="ru-RU">
                <a:solidFill>
                  <a:srgbClr val="000000"/>
                </a:solidFill>
                <a:latin typeface="Times New Roman"/>
              </a:rPr>
              <a:t>Результат работы: стандартный отчет, </a:t>
            </a:r>
            <a:br>
              <a:rPr lang="ru-RU">
                <a:solidFill>
                  <a:srgbClr val="000000"/>
                </a:solidFill>
                <a:latin typeface="Times New Roman"/>
              </a:rPr>
            </a:br>
            <a:r>
              <a:rPr lang="ru-RU">
                <a:solidFill>
                  <a:srgbClr val="000000"/>
                </a:solidFill>
                <a:latin typeface="Times New Roman"/>
              </a:rPr>
              <a:t>содержащий построенные диаграммы.</a:t>
            </a:r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8097670" name="TextBox 5"/>
          <p:cNvSpPr txBox="1"/>
          <p:nvPr/>
        </p:nvSpPr>
        <p:spPr bwMode="auto">
          <a:xfrm>
            <a:off x="918324" y="6216133"/>
            <a:ext cx="6097647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  <a:latin typeface="Times New Roman"/>
              </a:rPr>
              <a:t>Время выполнения: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2 пара (из 2),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сдача на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1</a:t>
            </a:r>
            <a:r>
              <a:rPr lang="en-US">
                <a:solidFill>
                  <a:srgbClr val="FF0000"/>
                </a:solidFill>
                <a:latin typeface="Times New Roman"/>
              </a:rPr>
              <a:t>3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неделе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5975514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964916" y="2883108"/>
            <a:ext cx="5157233" cy="3895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95197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Доклады!</a:t>
            </a:r>
            <a:endParaRPr/>
          </a:p>
        </p:txBody>
      </p:sp>
      <p:sp>
        <p:nvSpPr>
          <p:cNvPr id="1935067419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838198" y="1448592"/>
            <a:ext cx="7626175" cy="495565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283878" indent="-283878" algn="just"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Тема доклада строго </a:t>
            </a:r>
            <a:r>
              <a:rPr lang="ru-RU" sz="1800" b="1" i="0" u="none" strike="noStrike" cap="none" spc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по списку</a:t>
            </a: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Для закрепления темы подойти ко мне.</a:t>
            </a:r>
            <a:r>
              <a: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Темы не повторяются.</a:t>
            </a:r>
            <a:endParaRPr sz="1800" b="0" i="0" u="none">
              <a:solidFill>
                <a:srgbClr val="000000"/>
              </a:solidFill>
              <a:latin typeface="Calibri"/>
              <a:cs typeface="Calibri"/>
            </a:endParaRPr>
          </a:p>
          <a:p>
            <a:pPr marL="283879" indent="-283879" algn="just">
              <a:buFont typeface="Arial"/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Доклад можно делать в команде (максимум 4 человека).</a:t>
            </a: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3879" indent="-283879" algn="l">
              <a:buFont typeface="Arial"/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Количество страниц в докладе строго не меньше 3 листов текста А4, (14 кегель, 1.5 интервал) </a:t>
            </a:r>
            <a:r>
              <a:rPr sz="18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на одного человека</a:t>
            </a:r>
            <a:r>
              <a: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br>
              <a: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sz="1800" b="0" i="1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То есть если в команде 2 человека, то доклад минимум на 6 листов, если 3 человека, то 9 листов, если 4 человека, то 12 листов.</a:t>
            </a:r>
            <a:br>
              <a:rPr sz="1800" b="0" i="1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endParaRPr sz="1800" b="0" i="1" u="none">
              <a:solidFill>
                <a:srgbClr val="000000"/>
              </a:solidFill>
              <a:latin typeface="Calibri"/>
              <a:cs typeface="Calibri"/>
            </a:endParaRPr>
          </a:p>
          <a:p>
            <a:pPr marL="283879" indent="-283879" algn="just">
              <a:buFont typeface="Arial"/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 докладу обязательно должна быть презентация.</a:t>
            </a:r>
            <a:endParaRPr sz="1800" b="0" i="0" u="none">
              <a:solidFill>
                <a:srgbClr val="000000"/>
              </a:solidFill>
              <a:latin typeface="Calibri"/>
              <a:cs typeface="Calibri"/>
            </a:endParaRPr>
          </a:p>
          <a:p>
            <a:pPr marL="283879" indent="-283879" algn="l">
              <a:buFont typeface="Arial"/>
              <a:buAutoNum type="arabicPeriod"/>
              <a:defRPr/>
            </a:pPr>
            <a:r>
              <a:rPr sz="18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Рассказывается </a:t>
            </a:r>
            <a:r>
              <a: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доклад строго очно. </a:t>
            </a:r>
            <a:r>
              <a:rPr sz="18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Рассказывается, не читается!</a:t>
            </a:r>
            <a:endParaRPr sz="1800" b="0" i="0" u="none">
              <a:solidFill>
                <a:srgbClr val="000000"/>
              </a:solidFill>
              <a:latin typeface="Calibri"/>
              <a:cs typeface="Calibri"/>
            </a:endParaRPr>
          </a:p>
          <a:p>
            <a:pPr marL="283879" indent="-283879" algn="just">
              <a:buFont typeface="Arial"/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Во время выступления вся команда должна рассказывать, то есть не должно быть что за всех отдувается один член команды.</a:t>
            </a:r>
            <a:endParaRPr sz="1800" b="0" i="0" u="none">
              <a:solidFill>
                <a:srgbClr val="000000"/>
              </a:solidFill>
              <a:latin typeface="Calibri"/>
              <a:cs typeface="Calibri"/>
            </a:endParaRPr>
          </a:p>
          <a:p>
            <a:pPr marL="283879" indent="-283879" algn="just">
              <a:buFont typeface="Arial"/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Баллы за доклад ставятся только тем людям, которые ВЫСТУПИЛИ с докладом.</a:t>
            </a:r>
            <a:endParaRPr sz="1800" b="0" i="0" u="none">
              <a:solidFill>
                <a:srgbClr val="000000"/>
              </a:solidFill>
              <a:latin typeface="Calibri"/>
              <a:cs typeface="Calibri"/>
            </a:endParaRPr>
          </a:p>
          <a:p>
            <a:pPr marL="283879" marR="0" indent="-283879" algn="just">
              <a:lnSpc>
                <a:spcPct val="89000"/>
              </a:lnSpc>
              <a:spcBef>
                <a:spcPts val="999"/>
              </a:spcBef>
              <a:spcAft>
                <a:spcPts val="0"/>
              </a:spcAft>
              <a:buFont typeface="Arial"/>
              <a:buAutoNum type="arabicPeriod" startAt="8"/>
              <a:defRPr/>
            </a:pPr>
            <a:r>
              <a: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 презентации должно быть минимум текста.</a:t>
            </a:r>
            <a:r>
              <a:rPr sz="1700">
                <a:latin typeface="Calibri"/>
                <a:ea typeface="Calibri"/>
                <a:cs typeface="Calibri"/>
              </a:rPr>
              <a:t> </a:t>
            </a:r>
            <a:r>
              <a:rPr sz="1800">
                <a:latin typeface="Calibri"/>
                <a:ea typeface="Calibri"/>
                <a:cs typeface="Calibri"/>
              </a:rPr>
              <a:t>Добавляем инфографику, картиночки, делаем интересно и красиво!</a:t>
            </a:r>
            <a:endParaRPr sz="1800">
              <a:latin typeface="Calibri"/>
              <a:ea typeface="Calibri"/>
              <a:cs typeface="Calibri"/>
            </a:endParaRPr>
          </a:p>
          <a:p>
            <a:pPr marL="283879" marR="0" indent="-283879" algn="just">
              <a:lnSpc>
                <a:spcPct val="89000"/>
              </a:lnSpc>
              <a:spcBef>
                <a:spcPts val="999"/>
              </a:spcBef>
              <a:spcAft>
                <a:spcPts val="0"/>
              </a:spcAft>
              <a:buFont typeface="Arial"/>
              <a:buAutoNum type="arabicPeriod" startAt="8"/>
              <a:defRPr/>
            </a:pPr>
            <a:r>
              <a:rPr sz="1800">
                <a:latin typeface="Calibri"/>
                <a:ea typeface="Calibri"/>
                <a:cs typeface="Calibri"/>
              </a:rPr>
              <a:t>Без нейронок!</a:t>
            </a:r>
            <a:endParaRPr sz="1800">
              <a:latin typeface="Calibri"/>
              <a:ea typeface="Calibri"/>
              <a:cs typeface="Calibri"/>
            </a:endParaRPr>
          </a:p>
          <a:p>
            <a:pPr marL="283879" marR="0" indent="-283879" algn="just">
              <a:lnSpc>
                <a:spcPct val="89000"/>
              </a:lnSpc>
              <a:spcBef>
                <a:spcPts val="999"/>
              </a:spcBef>
              <a:spcAft>
                <a:spcPts val="0"/>
              </a:spcAft>
              <a:buFont typeface="Arial"/>
              <a:buAutoNum type="arabicPeriod" startAt="8"/>
              <a:defRPr/>
            </a:pPr>
            <a:r>
              <a:rPr sz="1800">
                <a:solidFill>
                  <a:schemeClr val="bg2">
                    <a:lumMod val="90000"/>
                  </a:schemeClr>
                </a:solidFill>
                <a:latin typeface="Calibri"/>
                <a:ea typeface="Calibri"/>
                <a:cs typeface="Calibri"/>
              </a:rPr>
              <a:t>Доклады не обязательны.</a:t>
            </a:r>
            <a:endParaRPr sz="1700" b="0" i="0" u="none" strike="noStrike" cap="none" spc="0">
              <a:solidFill>
                <a:schemeClr val="bg2">
                  <a:lumMod val="90000"/>
                </a:schemeClr>
              </a:solidFill>
              <a:latin typeface="Calibri"/>
              <a:cs typeface="Calibri"/>
            </a:endParaRPr>
          </a:p>
        </p:txBody>
      </p:sp>
      <p:cxnSp>
        <p:nvCxnSpPr>
          <p:cNvPr id="1750977763" name=""/>
          <p:cNvCxnSpPr>
            <a:cxnSpLocks/>
          </p:cNvCxnSpPr>
          <p:nvPr/>
        </p:nvCxnSpPr>
        <p:spPr bwMode="auto">
          <a:xfrm flipH="0" flipV="0">
            <a:off x="3830859" y="1690687"/>
            <a:ext cx="4732734" cy="531811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5693285" name="Объект 2"/>
          <p:cNvSpPr>
            <a:spLocks noGrp="1"/>
          </p:cNvSpPr>
          <p:nvPr/>
        </p:nvSpPr>
        <p:spPr bwMode="auto">
          <a:xfrm flipH="0" flipV="0">
            <a:off x="9384505" y="3931045"/>
            <a:ext cx="7179689" cy="47228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just">
              <a:lnSpc>
                <a:spcPct val="89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Темы докладов</a:t>
            </a:r>
            <a:endParaRPr sz="18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marR="0" indent="0" algn="just">
              <a:lnSpc>
                <a:spcPct val="89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endParaRPr sz="17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576761973" name="TextBox 5"/>
          <p:cNvSpPr txBox="1"/>
          <p:nvPr/>
        </p:nvSpPr>
        <p:spPr bwMode="auto">
          <a:xfrm flipH="0" flipV="0">
            <a:off x="918324" y="6493946"/>
            <a:ext cx="9054894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  <a:latin typeface="Times New Roman"/>
              </a:rPr>
              <a:t>Время выполнения: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сдача строго до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1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4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недели включительно, 5 баллов за доклад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16335295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681640" y="926046"/>
            <a:ext cx="3038474" cy="3000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r7-office/2024.3.2.622</Application>
  <DocSecurity>0</DocSecurity>
  <PresentationFormat>Широкоэкранный</PresentationFormat>
  <Paragraphs>0</Paragraphs>
  <Slides>29</Slides>
  <Notes>29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Microsoft Office User</dc:creator>
  <cp:keywords/>
  <dc:description/>
  <dc:identifier/>
  <dc:language/>
  <cp:lastModifiedBy>Леонов Дмитрий Алексеевич</cp:lastModifiedBy>
  <cp:revision>60</cp:revision>
  <dcterms:created xsi:type="dcterms:W3CDTF">2025-01-14T16:36:25Z</dcterms:created>
  <dcterms:modified xsi:type="dcterms:W3CDTF">2025-04-29T06:30:41Z</dcterms:modified>
  <cp:category/>
  <cp:contentStatus/>
  <cp:version/>
</cp:coreProperties>
</file>