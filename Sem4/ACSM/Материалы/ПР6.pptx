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954" y="28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AutoShape 2"/>
          <p:cNvSpPr>
            <a:spLocks noChangeArrowheads="1" noChangeAspect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AutoShape 4"/>
          <p:cNvSpPr>
            <a:spLocks noChangeArrowheads="1" noChangeAspect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8" name="Таблица 7"/>
          <p:cNvGraphicFramePr>
            <a:graphicFrameLocks xmlns:a="http://schemas.openxmlformats.org/drawingml/2006/main" noGrp="1"/>
          </p:cNvGraphicFramePr>
          <p:nvPr/>
        </p:nvGraphicFramePr>
        <p:xfrm>
          <a:off x="757929" y="1299298"/>
          <a:ext cx="10371342" cy="201168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697346"/>
                <a:gridCol w="921316"/>
                <a:gridCol w="1483008"/>
                <a:gridCol w="5876301"/>
                <a:gridCol w="1393371"/>
              </a:tblGrid>
              <a:tr h="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недели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Неделя выдачи</a:t>
                      </a:r>
                      <a:endParaRPr/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Наименование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Срок сдачи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функционала системы.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algn="just" defTabSz="914400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функций системы через диаграмму вариантов использования.</a:t>
                      </a:r>
                      <a:endParaRPr lang="ru-RU" sz="1200">
                        <a:solidFill>
                          <a:schemeClr val="dk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 анализа.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последовательности.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деятельности.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 Диаграммы компонентов, развертывания.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Доклад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13-14 неделя</a:t>
                      </a:r>
                      <a:endParaRPr/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14 неделя</a:t>
                      </a:r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Проек</a:t>
                      </a:r>
                      <a:r>
                        <a:rPr lang="ru-RU" sz="1200"/>
                        <a:t>т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15-16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xmlns:a="http://schemas.openxmlformats.org/drawingml/2006/main" noGrp="1"/>
          </p:cNvGraphicFramePr>
          <p:nvPr/>
        </p:nvGraphicFramePr>
        <p:xfrm>
          <a:off x="2037273" y="3699422"/>
          <a:ext cx="7020560" cy="164592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1170305"/>
                <a:gridCol w="2700020"/>
                <a:gridCol w="3150235"/>
              </a:tblGrid>
              <a:tr h="36576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в срок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после срока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6" name="Picture 2" descr="Теория и практика UML. Диаграмма последовательности | Статьи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901404" y="1"/>
            <a:ext cx="3178628" cy="2052222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/>
              <a:t>Истоки диаграммы </a:t>
            </a:r>
            <a:r>
              <a:rPr lang="ru-RU"/>
              <a:t>состояний – </a:t>
            </a:r>
            <a:br>
              <a:rPr lang="ru-RU"/>
            </a:br>
            <a:r>
              <a:rPr lang="ru-RU"/>
              <a:t>теория автоматов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474312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Диаграммы взаимодействий (</a:t>
            </a:r>
            <a:r>
              <a:rPr lang="en-US"/>
              <a:t>диаграммы последовательности или кооперации)</a:t>
            </a:r>
            <a:r>
              <a:rPr lang="ru-RU"/>
              <a:t> </a:t>
            </a:r>
            <a:r>
              <a:rPr lang="ru-RU"/>
              <a:t>моделируют поведение сообщества совместно работающих </a:t>
            </a:r>
            <a:r>
              <a:rPr lang="ru-RU"/>
              <a:t>автоматов*. </a:t>
            </a:r>
            <a:endParaRPr/>
          </a:p>
          <a:p>
            <a:pPr marL="0" indent="0">
              <a:buNone/>
              <a:defRPr/>
            </a:pPr>
            <a:r>
              <a:rPr lang="ru-RU"/>
              <a:t>Каждый автомат моделирует </a:t>
            </a:r>
            <a:r>
              <a:rPr lang="ru-RU"/>
              <a:t>поведение отдельного объекта. Автомат может показывать: </a:t>
            </a:r>
            <a:endParaRPr lang="ru-RU"/>
          </a:p>
          <a:p>
            <a:pPr>
              <a:defRPr/>
            </a:pPr>
            <a:r>
              <a:rPr lang="ru-RU"/>
              <a:t>передачу </a:t>
            </a:r>
            <a:r>
              <a:rPr lang="ru-RU"/>
              <a:t>потока управления от одного состояния объекта к другому (</a:t>
            </a:r>
            <a:r>
              <a:rPr lang="ru-RU">
                <a:solidFill>
                  <a:schemeClr val="accent6">
                    <a:lumMod val="75000"/>
                  </a:schemeClr>
                </a:solidFill>
              </a:rPr>
              <a:t>диаграмма состояний</a:t>
            </a:r>
            <a:r>
              <a:rPr lang="ru-RU"/>
              <a:t>) </a:t>
            </a:r>
            <a:endParaRPr lang="ru-RU"/>
          </a:p>
          <a:p>
            <a:pPr>
              <a:defRPr/>
            </a:pPr>
            <a:r>
              <a:rPr lang="ru-RU"/>
              <a:t>передачу </a:t>
            </a:r>
            <a:r>
              <a:rPr lang="ru-RU"/>
              <a:t>потока управления от одной деятельности к другой (</a:t>
            </a:r>
            <a:r>
              <a:rPr lang="ru-RU">
                <a:solidFill>
                  <a:schemeClr val="accent1">
                    <a:lumMod val="75000"/>
                  </a:schemeClr>
                </a:solidFill>
              </a:rPr>
              <a:t>диаграмма деятельности</a:t>
            </a:r>
            <a:r>
              <a:rPr lang="ru-RU"/>
              <a:t>)</a:t>
            </a:r>
            <a:endParaRPr/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111967" y="6211669"/>
            <a:ext cx="11968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latin typeface="Arial"/>
              </a:rPr>
              <a:t>* Абстрактная модель</a:t>
            </a:r>
            <a:r>
              <a:rPr lang="ru-RU">
                <a:latin typeface="Arial"/>
              </a:rPr>
              <a:t> </a:t>
            </a:r>
            <a:r>
              <a:rPr lang="ru-RU" u="sng">
                <a:latin typeface="Arial"/>
              </a:rPr>
              <a:t>дискретного устройства</a:t>
            </a:r>
            <a:r>
              <a:rPr lang="ru-RU">
                <a:latin typeface="Arial"/>
              </a:rPr>
              <a:t>, имеющего один вход, один выход и в каждый момент времени находящегося в одном состоянии из множества возможных</a:t>
            </a:r>
            <a:r>
              <a:rPr lang="ru-RU">
                <a:solidFill>
                  <a:srgbClr val="202122"/>
                </a:solidFill>
                <a:latin typeface="Arial"/>
              </a:rPr>
              <a:t>.</a:t>
            </a:r>
            <a:endParaRPr lang="ru-RU"/>
          </a:p>
        </p:txBody>
      </p:sp>
      <p:cxnSp>
        <p:nvCxnSpPr>
          <p:cNvPr id="11" name="Соединительная линия уступом 10"/>
          <p:cNvCxnSpPr>
            <a:cxnSpLocks/>
            <a:endCxn id="3" idx="0"/>
          </p:cNvCxnSpPr>
          <p:nvPr/>
        </p:nvCxnSpPr>
        <p:spPr bwMode="auto">
          <a:xfrm rot="10800000" flipV="1">
            <a:off x="6096001" y="1456409"/>
            <a:ext cx="3135923" cy="369216"/>
          </a:xfrm>
          <a:prstGeom prst="bentConnector2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Быстрое погружение в суть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399592"/>
            <a:ext cx="10787743" cy="545840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37500" lnSpcReduction="20000"/>
          </a:bodyPr>
          <a:lstStyle/>
          <a:p>
            <a:pPr>
              <a:lnSpc>
                <a:spcPct val="170000"/>
              </a:lnSpc>
              <a:defRPr/>
            </a:pPr>
            <a:r>
              <a:rPr lang="ru-RU" sz="7100" b="1">
                <a:solidFill>
                  <a:schemeClr val="accent6">
                    <a:lumMod val="75000"/>
                  </a:schemeClr>
                </a:solidFill>
                <a:latin typeface="Bender"/>
              </a:rPr>
              <a:t>Диаграмма состояний </a:t>
            </a:r>
            <a:r>
              <a:rPr lang="ru-RU" sz="7100">
                <a:solidFill>
                  <a:srgbClr val="0E0E11"/>
                </a:solidFill>
                <a:latin typeface="Bender"/>
              </a:rPr>
              <a:t>– это диаграмма, которая показывает автомат (объект - экземпляр класса), фокусируя внимание на его потенциальных состояниях и переходах между ними.</a:t>
            </a:r>
            <a:endParaRPr/>
          </a:p>
          <a:p>
            <a:pPr>
              <a:lnSpc>
                <a:spcPct val="150000"/>
              </a:lnSpc>
              <a:defRPr/>
            </a:pPr>
            <a:endParaRPr lang="ru-RU" sz="4800" b="1">
              <a:solidFill>
                <a:srgbClr val="0E0E11"/>
              </a:solidFill>
              <a:latin typeface="Bender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7100">
                <a:solidFill>
                  <a:srgbClr val="0E0E11"/>
                </a:solidFill>
                <a:latin typeface="Bender"/>
              </a:rPr>
              <a:t>Если </a:t>
            </a:r>
            <a:r>
              <a:rPr lang="ru-RU" sz="7100">
                <a:solidFill>
                  <a:srgbClr val="0E0E11"/>
                </a:solidFill>
                <a:latin typeface="Bender"/>
              </a:rPr>
              <a:t>проще, то…</a:t>
            </a:r>
            <a:endParaRPr lang="ru-RU" sz="7100" b="1">
              <a:solidFill>
                <a:srgbClr val="0E0E11"/>
              </a:solidFill>
              <a:latin typeface="Bender"/>
            </a:endParaRPr>
          </a:p>
          <a:p>
            <a:pPr>
              <a:lnSpc>
                <a:spcPct val="150000"/>
              </a:lnSpc>
              <a:defRPr/>
            </a:pPr>
            <a:endParaRPr lang="ru-RU" sz="7100" b="1">
              <a:solidFill>
                <a:srgbClr val="0E0E11"/>
              </a:solidFill>
              <a:latin typeface="Bender"/>
            </a:endParaRPr>
          </a:p>
          <a:p>
            <a:pPr>
              <a:lnSpc>
                <a:spcPct val="150000"/>
              </a:lnSpc>
              <a:defRPr/>
            </a:pPr>
            <a:r>
              <a:rPr lang="ru-RU" sz="7000">
                <a:solidFill>
                  <a:schemeClr val="accent6">
                    <a:lumMod val="75000"/>
                  </a:schemeClr>
                </a:solidFill>
                <a:latin typeface="Bender"/>
              </a:rPr>
              <a:t>Диаграмма состояний </a:t>
            </a:r>
            <a:r>
              <a:rPr lang="ru-RU" sz="7000">
                <a:solidFill>
                  <a:srgbClr val="0E0E11"/>
                </a:solidFill>
                <a:latin typeface="Bender"/>
              </a:rPr>
              <a:t>показывает, как экземпляр класса переходит из одного состояния в другое (и при каких условиях).</a:t>
            </a:r>
            <a:endParaRPr lang="ru-RU" sz="7000">
              <a:solidFill>
                <a:srgbClr val="0E0E11"/>
              </a:solidFill>
              <a:latin typeface="Bend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Основные понятия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Состоянием (</a:t>
            </a:r>
            <a:r>
              <a:rPr lang="en-US" b="1"/>
              <a:t>state) </a:t>
            </a:r>
            <a:r>
              <a:rPr lang="ru-RU"/>
              <a:t>называется ситуация или взаимодействие в процессе жизни объекта, в течение которой он удовлетворяет некоторым условиям, выполняет некоторые действия или ожидает некоторого события. </a:t>
            </a:r>
            <a:r>
              <a:rPr lang="ru-RU"/>
              <a:t>Каждое состояние на диаграмме состояний представляет именованную ситуацию или состояние, происходящее в процессе жизни объекта.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 b="1"/>
              <a:t>Объектом</a:t>
            </a:r>
            <a:r>
              <a:rPr lang="ru-RU"/>
              <a:t> является экземпляр класса.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Состав диаграммы состояний </a:t>
            </a:r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7200900" y="1825625"/>
            <a:ext cx="4152900" cy="4351338"/>
          </a:xfrm>
        </p:spPr>
        <p:txBody>
          <a:bodyPr/>
          <a:lstStyle/>
          <a:p>
            <a:pPr>
              <a:defRPr/>
            </a:pPr>
            <a:r>
              <a:rPr lang="ru-RU"/>
              <a:t>Наименование состояния. Должно быть описательным и уникальным.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Внутреннее действие. Выполняются при входе в состояние, во время состояния или выходе из него.</a:t>
            </a:r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19064" y="2792593"/>
            <a:ext cx="2048161" cy="1543265"/>
          </a:xfrm>
          <a:prstGeom prst="rect">
            <a:avLst/>
          </a:prstGeom>
        </p:spPr>
      </p:pic>
      <p:cxnSp>
        <p:nvCxnSpPr>
          <p:cNvPr id="7" name="Прямая со стрелкой 6"/>
          <p:cNvCxnSpPr>
            <a:cxnSpLocks/>
          </p:cNvCxnSpPr>
          <p:nvPr/>
        </p:nvCxnSpPr>
        <p:spPr bwMode="auto">
          <a:xfrm flipH="1">
            <a:off x="4149970" y="2066192"/>
            <a:ext cx="3050930" cy="9144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cxnSpLocks/>
          </p:cNvCxnSpPr>
          <p:nvPr/>
        </p:nvCxnSpPr>
        <p:spPr bwMode="auto">
          <a:xfrm flipH="1" flipV="1">
            <a:off x="4149970" y="3666392"/>
            <a:ext cx="3050930" cy="5938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Состав диаграммы состояний </a:t>
            </a:r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 bwMode="auto">
          <a:xfrm>
            <a:off x="7200899" y="1825624"/>
            <a:ext cx="4545623" cy="4962037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ru-RU"/>
              <a:t>Основные действия:</a:t>
            </a:r>
            <a:endParaRPr/>
          </a:p>
          <a:p>
            <a:pPr marL="0" indent="0">
              <a:buNone/>
              <a:defRPr/>
            </a:pPr>
            <a:r>
              <a:rPr lang="en-US" b="1"/>
              <a:t>entry</a:t>
            </a:r>
            <a:r>
              <a:rPr lang="ru-RU"/>
              <a:t> (вход)</a:t>
            </a:r>
            <a:r>
              <a:rPr lang="en-US"/>
              <a:t> </a:t>
            </a:r>
            <a:r>
              <a:rPr lang="ru-RU"/>
              <a:t>– действие, которое выполняется в момент входа в данное состояние;</a:t>
            </a:r>
            <a:endParaRPr/>
          </a:p>
          <a:p>
            <a:pPr marL="0" indent="0">
              <a:buNone/>
              <a:defRPr/>
            </a:pPr>
            <a:r>
              <a:rPr lang="en-US" b="1"/>
              <a:t>exit</a:t>
            </a:r>
            <a:r>
              <a:rPr lang="ru-RU"/>
              <a:t> (выход) </a:t>
            </a:r>
            <a:r>
              <a:rPr lang="ru-RU"/>
              <a:t>–</a:t>
            </a:r>
            <a:r>
              <a:rPr lang="ru-RU"/>
              <a:t> </a:t>
            </a:r>
            <a:r>
              <a:rPr lang="ru-RU"/>
              <a:t>действие, которое выполняется в момент выхода из данного состояния;</a:t>
            </a:r>
            <a:endParaRPr/>
          </a:p>
          <a:p>
            <a:pPr marL="0" indent="0">
              <a:buNone/>
              <a:defRPr/>
            </a:pPr>
            <a:r>
              <a:rPr lang="en-US" b="1"/>
              <a:t>do</a:t>
            </a:r>
            <a:r>
              <a:rPr lang="ru-RU"/>
              <a:t> (выполнить) </a:t>
            </a:r>
            <a:r>
              <a:rPr lang="ru-RU"/>
              <a:t>–</a:t>
            </a:r>
            <a:r>
              <a:rPr lang="ru-RU"/>
              <a:t> </a:t>
            </a:r>
            <a:r>
              <a:rPr lang="ru-RU"/>
              <a:t>выполняющаяся деятельность в течение всего времени, пока объект находится в данном состоянии; 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chemeClr val="bg2">
                    <a:lumMod val="75000"/>
                  </a:schemeClr>
                </a:solidFill>
              </a:rPr>
              <a:t>defer</a:t>
            </a:r>
            <a:r>
              <a:rPr lang="ru-RU">
                <a:solidFill>
                  <a:schemeClr val="bg2">
                    <a:lumMod val="75000"/>
                  </a:schemeClr>
                </a:solidFill>
              </a:rPr>
              <a:t> – событие, обработка которого предписывается в другом состоянии, но после того, как все операции в текущем будут </a:t>
            </a:r>
            <a:r>
              <a:rPr lang="ru-RU">
                <a:solidFill>
                  <a:schemeClr val="bg2">
                    <a:lumMod val="75000"/>
                  </a:schemeClr>
                </a:solidFill>
              </a:rPr>
              <a:t>завершены;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chemeClr val="bg2">
                    <a:lumMod val="75000"/>
                  </a:schemeClr>
                </a:solidFill>
              </a:rPr>
              <a:t>Include – </a:t>
            </a:r>
            <a:r>
              <a:rPr lang="ru-RU">
                <a:solidFill>
                  <a:schemeClr val="bg2">
                    <a:lumMod val="75000"/>
                  </a:schemeClr>
                </a:solidFill>
              </a:rPr>
              <a:t>используется для обращения к подавтомату, следующее за ней выражение действия содержит имя этого подавтомата</a:t>
            </a:r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19064" y="2792593"/>
            <a:ext cx="2048161" cy="154326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 bwMode="auto">
          <a:xfrm>
            <a:off x="7174519" y="1690687"/>
            <a:ext cx="4572003" cy="49650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00012" y="2678276"/>
            <a:ext cx="2067213" cy="1771897"/>
          </a:xfrm>
          <a:prstGeom prst="rect">
            <a:avLst/>
          </a:prstGeom>
        </p:spPr>
      </p:pic>
      <p:cxnSp>
        <p:nvCxnSpPr>
          <p:cNvPr id="8" name="Прямая со стрелкой 7"/>
          <p:cNvCxnSpPr>
            <a:cxnSpLocks/>
          </p:cNvCxnSpPr>
          <p:nvPr/>
        </p:nvCxnSpPr>
        <p:spPr bwMode="auto">
          <a:xfrm flipH="1" flipV="1">
            <a:off x="4149970" y="3666392"/>
            <a:ext cx="3050930" cy="5938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Состав диаграммы состояний</a:t>
            </a: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38200" y="2774164"/>
            <a:ext cx="8592749" cy="25054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5400000">
            <a:off x="1529287" y="4033237"/>
            <a:ext cx="422420" cy="649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Состав диаграммы состояний</a:t>
            </a: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38200" y="2774164"/>
            <a:ext cx="8592749" cy="2505425"/>
          </a:xfrm>
          <a:prstGeom prst="rect">
            <a:avLst/>
          </a:prstGeom>
        </p:spPr>
      </p:pic>
      <p:sp>
        <p:nvSpPr>
          <p:cNvPr id="5" name="Объект 2"/>
          <p:cNvSpPr txBox="1"/>
          <p:nvPr/>
        </p:nvSpPr>
        <p:spPr bwMode="auto">
          <a:xfrm>
            <a:off x="838200" y="1421946"/>
            <a:ext cx="11224846" cy="1277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2400"/>
              <a:t>Для соединения состояний используются связи, называемые </a:t>
            </a:r>
            <a:br>
              <a:rPr lang="en-US" sz="2400"/>
            </a:br>
            <a:r>
              <a:rPr lang="ru-RU" sz="2400" b="1"/>
              <a:t>переходами (</a:t>
            </a:r>
            <a:r>
              <a:rPr lang="en-US" sz="2400" b="1"/>
              <a:t>transitions) </a:t>
            </a:r>
            <a:r>
              <a:rPr lang="ru-RU" sz="2400"/>
              <a:t>и описания переходов, называемые </a:t>
            </a:r>
            <a:r>
              <a:rPr lang="ru-RU" sz="2400" b="1"/>
              <a:t>событиями (</a:t>
            </a:r>
            <a:r>
              <a:rPr lang="en-US" sz="2400" b="1"/>
              <a:t>events).</a:t>
            </a:r>
            <a:endParaRPr lang="ru-RU" sz="2400" b="1"/>
          </a:p>
        </p:txBody>
      </p:sp>
      <p:cxnSp>
        <p:nvCxnSpPr>
          <p:cNvPr id="6" name="Прямая со стрелкой 5"/>
          <p:cNvCxnSpPr>
            <a:cxnSpLocks/>
          </p:cNvCxnSpPr>
          <p:nvPr/>
        </p:nvCxnSpPr>
        <p:spPr bwMode="auto">
          <a:xfrm>
            <a:off x="1890346" y="2118946"/>
            <a:ext cx="2382716" cy="16089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cxnSpLocks/>
          </p:cNvCxnSpPr>
          <p:nvPr/>
        </p:nvCxnSpPr>
        <p:spPr bwMode="auto">
          <a:xfrm flipH="1">
            <a:off x="5556738" y="2118946"/>
            <a:ext cx="4325816" cy="8176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5400000">
            <a:off x="1529287" y="4033237"/>
            <a:ext cx="422420" cy="649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Состав диаграммы состояний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360484" y="5465640"/>
            <a:ext cx="11306907" cy="126047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b="1"/>
              <a:t>	Конечная точка</a:t>
            </a:r>
            <a:r>
              <a:rPr lang="ru-RU"/>
              <a:t>, которой заканчиваются переходи из состояния.</a:t>
            </a:r>
            <a:endParaRPr lang="ru-RU" b="1"/>
          </a:p>
          <a:p>
            <a:pPr marL="0" indent="0">
              <a:buNone/>
              <a:defRPr/>
            </a:pPr>
            <a:r>
              <a:rPr lang="ru-RU" b="1"/>
              <a:t>Начальная точка</a:t>
            </a:r>
            <a:r>
              <a:rPr lang="ru-RU"/>
              <a:t>, с которой начинаются переходы в состояния.</a:t>
            </a: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38200" y="2774164"/>
            <a:ext cx="8592749" cy="2505425"/>
          </a:xfrm>
          <a:prstGeom prst="rect">
            <a:avLst/>
          </a:prstGeom>
        </p:spPr>
      </p:pic>
      <p:sp>
        <p:nvSpPr>
          <p:cNvPr id="5" name="Объект 2"/>
          <p:cNvSpPr txBox="1"/>
          <p:nvPr/>
        </p:nvSpPr>
        <p:spPr bwMode="auto">
          <a:xfrm>
            <a:off x="838200" y="1421946"/>
            <a:ext cx="11224846" cy="1277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2400"/>
              <a:t>Для соединения состояний используются связи, называемые </a:t>
            </a:r>
            <a:br>
              <a:rPr lang="en-US" sz="2400"/>
            </a:br>
            <a:r>
              <a:rPr lang="ru-RU" sz="2400" b="1"/>
              <a:t>переходами (</a:t>
            </a:r>
            <a:r>
              <a:rPr lang="en-US" sz="2400" b="1"/>
              <a:t>transitions) </a:t>
            </a:r>
            <a:r>
              <a:rPr lang="ru-RU" sz="2400"/>
              <a:t>и описания переходов, называемые </a:t>
            </a:r>
            <a:r>
              <a:rPr lang="ru-RU" sz="2400" b="1"/>
              <a:t>событиями (</a:t>
            </a:r>
            <a:r>
              <a:rPr lang="en-US" sz="2400" b="1"/>
              <a:t>events).</a:t>
            </a:r>
            <a:endParaRPr lang="ru-RU" sz="2400" b="1"/>
          </a:p>
        </p:txBody>
      </p:sp>
      <p:cxnSp>
        <p:nvCxnSpPr>
          <p:cNvPr id="6" name="Прямая со стрелкой 5"/>
          <p:cNvCxnSpPr>
            <a:cxnSpLocks/>
          </p:cNvCxnSpPr>
          <p:nvPr/>
        </p:nvCxnSpPr>
        <p:spPr bwMode="auto">
          <a:xfrm>
            <a:off x="1890346" y="2118946"/>
            <a:ext cx="2382716" cy="16089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cxnSpLocks/>
          </p:cNvCxnSpPr>
          <p:nvPr/>
        </p:nvCxnSpPr>
        <p:spPr bwMode="auto">
          <a:xfrm flipH="1">
            <a:off x="5556738" y="2118946"/>
            <a:ext cx="4325816" cy="8176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cxnSpLocks/>
          </p:cNvCxnSpPr>
          <p:nvPr/>
        </p:nvCxnSpPr>
        <p:spPr bwMode="auto">
          <a:xfrm flipV="1">
            <a:off x="606669" y="4146965"/>
            <a:ext cx="395654" cy="18054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5400000">
            <a:off x="1529287" y="4033237"/>
            <a:ext cx="422420" cy="649876"/>
          </a:xfrm>
          <a:prstGeom prst="rect">
            <a:avLst/>
          </a:prstGeom>
        </p:spPr>
      </p:pic>
      <p:cxnSp>
        <p:nvCxnSpPr>
          <p:cNvPr id="12" name="Прямая со стрелкой 11"/>
          <p:cNvCxnSpPr>
            <a:cxnSpLocks/>
          </p:cNvCxnSpPr>
          <p:nvPr/>
        </p:nvCxnSpPr>
        <p:spPr bwMode="auto">
          <a:xfrm flipH="1" flipV="1">
            <a:off x="1688122" y="4569386"/>
            <a:ext cx="377313" cy="9609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Состав диаграммы состояний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411915" y="1825625"/>
            <a:ext cx="4299439" cy="49030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/>
            </a:pPr>
            <a:r>
              <a:rPr lang="ru-RU" b="1"/>
              <a:t>Составное состояние </a:t>
            </a:r>
            <a:r>
              <a:rPr lang="ru-RU"/>
              <a:t>(</a:t>
            </a:r>
            <a:r>
              <a:rPr lang="en-US"/>
              <a:t>composite state) – </a:t>
            </a:r>
            <a:r>
              <a:rPr lang="ru-RU"/>
              <a:t>сложное состояние, которое состоит из вложенных в него состояний.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 b="1"/>
              <a:t>Подсостояние</a:t>
            </a:r>
            <a:r>
              <a:rPr lang="en-US" b="1"/>
              <a:t> </a:t>
            </a:r>
            <a:endParaRPr/>
          </a:p>
          <a:p>
            <a:pPr marL="0" indent="0">
              <a:buNone/>
              <a:defRPr/>
            </a:pPr>
            <a:r>
              <a:rPr lang="en-US"/>
              <a:t>(</a:t>
            </a:r>
            <a:r>
              <a:rPr lang="en-US"/>
              <a:t>substate</a:t>
            </a:r>
            <a:r>
              <a:rPr lang="en-US"/>
              <a:t>)</a:t>
            </a:r>
            <a:r>
              <a:rPr lang="ru-RU"/>
              <a:t> – состояние, являющееся частью другого состояния.</a:t>
            </a:r>
            <a:br>
              <a:rPr lang="ru-RU"/>
            </a:br>
            <a:r>
              <a:rPr lang="ru-RU"/>
              <a:t>И</a:t>
            </a:r>
            <a:r>
              <a:rPr lang="ru-RU" i="1"/>
              <a:t> последовательные </a:t>
            </a:r>
            <a:r>
              <a:rPr lang="ru-RU"/>
              <a:t>подсостояния</a:t>
            </a:r>
            <a:r>
              <a:rPr lang="ru-RU" i="1"/>
              <a:t>.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 b="1"/>
              <a:t>Простое состояние </a:t>
            </a:r>
            <a:endParaRPr lang="en-US" b="1"/>
          </a:p>
          <a:p>
            <a:pPr marL="0" indent="0">
              <a:buNone/>
              <a:defRPr/>
            </a:pPr>
            <a:r>
              <a:rPr lang="ru-RU"/>
              <a:t>(</a:t>
            </a:r>
            <a:r>
              <a:rPr lang="en-US"/>
              <a:t>state)</a:t>
            </a:r>
            <a:r>
              <a:rPr lang="ru-RU"/>
              <a:t>– состояние, не имеющее внутренней структуры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Одно начальное и одно конечное события.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12321" y="2034622"/>
            <a:ext cx="5893987" cy="4364406"/>
          </a:xfrm>
          <a:prstGeom prst="rect">
            <a:avLst/>
          </a:prstGeom>
        </p:spPr>
      </p:pic>
      <p:cxnSp>
        <p:nvCxnSpPr>
          <p:cNvPr id="5" name="Прямая со стрелкой 4"/>
          <p:cNvCxnSpPr>
            <a:cxnSpLocks/>
          </p:cNvCxnSpPr>
          <p:nvPr/>
        </p:nvCxnSpPr>
        <p:spPr bwMode="auto">
          <a:xfrm flipH="1">
            <a:off x="4809392" y="5002823"/>
            <a:ext cx="2602524" cy="4659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cxnSpLocks/>
          </p:cNvCxnSpPr>
          <p:nvPr/>
        </p:nvCxnSpPr>
        <p:spPr bwMode="auto">
          <a:xfrm flipH="1">
            <a:off x="6049108" y="3402623"/>
            <a:ext cx="1362807" cy="87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cxnSpLocks/>
          </p:cNvCxnSpPr>
          <p:nvPr/>
        </p:nvCxnSpPr>
        <p:spPr bwMode="auto">
          <a:xfrm flipH="1">
            <a:off x="6506308" y="2034622"/>
            <a:ext cx="905608" cy="6734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852471" y="6352706"/>
            <a:ext cx="244380" cy="375969"/>
          </a:xfrm>
          <a:prstGeom prst="rect">
            <a:avLst/>
          </a:prstGeom>
        </p:spPr>
      </p:pic>
      <p:cxnSp>
        <p:nvCxnSpPr>
          <p:cNvPr id="17" name="Прямая со стрелкой 16"/>
          <p:cNvCxnSpPr>
            <a:cxnSpLocks/>
          </p:cNvCxnSpPr>
          <p:nvPr/>
        </p:nvCxnSpPr>
        <p:spPr bwMode="auto">
          <a:xfrm flipH="1">
            <a:off x="4127988" y="6330856"/>
            <a:ext cx="3283926" cy="2568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23275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Пример диаграммы</a:t>
            </a: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7766" y="757551"/>
            <a:ext cx="7497221" cy="6011114"/>
          </a:xfrm>
          <a:prstGeom prst="rect">
            <a:avLst/>
          </a:prstGeom>
        </p:spPr>
      </p:pic>
      <p:sp>
        <p:nvSpPr>
          <p:cNvPr id="5" name="Объект 2"/>
          <p:cNvSpPr>
            <a:spLocks noGrp="1"/>
          </p:cNvSpPr>
          <p:nvPr>
            <p:ph idx="1"/>
          </p:nvPr>
        </p:nvSpPr>
        <p:spPr bwMode="auto">
          <a:xfrm>
            <a:off x="7833945" y="745758"/>
            <a:ext cx="4026878" cy="4997207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  <a:defRPr/>
            </a:pPr>
            <a:r>
              <a:rPr lang="ru-RU" b="1"/>
              <a:t>Переход </a:t>
            </a:r>
            <a:r>
              <a:rPr lang="ru-RU"/>
              <a:t>(</a:t>
            </a:r>
            <a:r>
              <a:rPr lang="en-US"/>
              <a:t>transition) – </a:t>
            </a:r>
            <a:r>
              <a:rPr lang="ru-RU"/>
              <a:t>это отношение между двумя состояниями, показывающее, что объект, находящийся в исходном состоянии, должен выполнить определенное </a:t>
            </a:r>
            <a:r>
              <a:rPr lang="ru-RU">
                <a:solidFill>
                  <a:schemeClr val="accent2">
                    <a:lumMod val="75000"/>
                  </a:schemeClr>
                </a:solidFill>
              </a:rPr>
              <a:t>действие</a:t>
            </a:r>
            <a:r>
              <a:rPr lang="ru-RU"/>
              <a:t> и перейти в целевое состояние, как только произойдет </a:t>
            </a:r>
            <a:r>
              <a:rPr lang="ru-RU">
                <a:solidFill>
                  <a:schemeClr val="accent6">
                    <a:lumMod val="75000"/>
                  </a:schemeClr>
                </a:solidFill>
              </a:rPr>
              <a:t>указанное событие </a:t>
            </a:r>
            <a:r>
              <a:rPr lang="ru-RU"/>
              <a:t>и будут выполнены определенные </a:t>
            </a:r>
            <a:r>
              <a:rPr lang="ru-RU">
                <a:solidFill>
                  <a:srgbClr val="0070C0"/>
                </a:solidFill>
              </a:rPr>
              <a:t>сторожевые </a:t>
            </a:r>
            <a:r>
              <a:rPr lang="ru-RU">
                <a:solidFill>
                  <a:srgbClr val="0070C0"/>
                </a:solidFill>
              </a:rPr>
              <a:t>условия</a:t>
            </a:r>
            <a:r>
              <a:rPr lang="en-US"/>
              <a:t>.</a:t>
            </a:r>
            <a:endParaRPr lang="ru-RU"/>
          </a:p>
          <a:p>
            <a:pPr marL="0" indent="0" algn="just">
              <a:buNone/>
              <a:defRPr/>
            </a:pPr>
            <a:endParaRPr lang="ru-RU"/>
          </a:p>
          <a:p>
            <a:pPr marL="0" indent="0" algn="just">
              <a:buNone/>
              <a:defRPr/>
            </a:pPr>
            <a:r>
              <a:rPr lang="ru-RU"/>
              <a:t>Каждый переход может </a:t>
            </a:r>
            <a:r>
              <a:rPr lang="ru-RU"/>
              <a:t>быть помечен </a:t>
            </a:r>
            <a:r>
              <a:rPr lang="ru-RU"/>
              <a:t>строкой текста, которая имеет следующий общий формат</a:t>
            </a:r>
            <a:r>
              <a:rPr lang="ru-RU"/>
              <a:t>:</a:t>
            </a:r>
            <a:endParaRPr lang="en-US"/>
          </a:p>
          <a:p>
            <a:pPr marL="0" indent="0" algn="just">
              <a:buNone/>
              <a:defRPr/>
            </a:pPr>
            <a:r>
              <a:rPr lang="en-US"/>
              <a:t>&lt;</a:t>
            </a:r>
            <a:r>
              <a:rPr lang="ru-RU">
                <a:solidFill>
                  <a:schemeClr val="accent6">
                    <a:lumMod val="75000"/>
                  </a:schemeClr>
                </a:solidFill>
              </a:rPr>
              <a:t>сигнатура события</a:t>
            </a:r>
            <a:r>
              <a:rPr lang="en-US"/>
              <a:t>&gt;[&lt;</a:t>
            </a:r>
            <a:r>
              <a:rPr lang="ru-RU">
                <a:solidFill>
                  <a:srgbClr val="0070C0"/>
                </a:solidFill>
              </a:rPr>
              <a:t>сторожевое условие</a:t>
            </a:r>
            <a:r>
              <a:rPr lang="en-US"/>
              <a:t>&gt;]</a:t>
            </a:r>
            <a:r>
              <a:rPr lang="ru-RU"/>
              <a:t>/</a:t>
            </a:r>
            <a:r>
              <a:rPr lang="en-US"/>
              <a:t>&lt;</a:t>
            </a:r>
            <a:r>
              <a:rPr lang="ru-RU">
                <a:solidFill>
                  <a:schemeClr val="accent2">
                    <a:lumMod val="75000"/>
                  </a:schemeClr>
                </a:solidFill>
              </a:rPr>
              <a:t>выражение действия</a:t>
            </a:r>
            <a:r>
              <a:rPr lang="en-US"/>
              <a:t>&gt;</a:t>
            </a:r>
            <a:endParaRPr lang="ru-RU"/>
          </a:p>
          <a:p>
            <a:pPr marL="0" indent="0">
              <a:buNone/>
              <a:defRPr/>
            </a:pPr>
            <a:endParaRPr lang="ru-RU">
              <a:solidFill>
                <a:srgbClr val="0070C0"/>
              </a:solidFill>
            </a:endParaRPr>
          </a:p>
          <a:p>
            <a:pPr marL="0" indent="0">
              <a:buNone/>
              <a:defRPr/>
            </a:pPr>
            <a:r>
              <a:rPr lang="ru-RU" sz="2900"/>
              <a:t>Переход на себя</a:t>
            </a:r>
            <a:r>
              <a:rPr lang="ru-RU" sz="2900"/>
              <a:t>.</a:t>
            </a:r>
            <a:endParaRPr/>
          </a:p>
          <a:p>
            <a:pPr marL="0" indent="0">
              <a:buNone/>
              <a:defRPr/>
            </a:pPr>
            <a:endParaRPr lang="ru-RU" sz="2900"/>
          </a:p>
          <a:p>
            <a:pPr marL="0" indent="0">
              <a:buNone/>
              <a:defRPr/>
            </a:pPr>
            <a:r>
              <a:rPr lang="ru-RU" sz="2900" b="1"/>
              <a:t>Суперсостояние</a:t>
            </a:r>
            <a:r>
              <a:rPr lang="ru-RU" sz="2900"/>
              <a:t> </a:t>
            </a:r>
            <a:r>
              <a:rPr lang="en-US" sz="2900"/>
              <a:t>(</a:t>
            </a:r>
            <a:r>
              <a:rPr lang="en-US" sz="2900"/>
              <a:t>Superstate</a:t>
            </a:r>
            <a:r>
              <a:rPr lang="en-US" sz="2900"/>
              <a:t>)</a:t>
            </a:r>
            <a:r>
              <a:rPr lang="ru-RU" sz="2900"/>
              <a:t>.</a:t>
            </a:r>
            <a:endParaRPr/>
          </a:p>
          <a:p>
            <a:pPr marL="0" indent="0">
              <a:buNone/>
              <a:defRPr/>
            </a:pPr>
            <a:endParaRPr lang="ru-RU" sz="2900"/>
          </a:p>
          <a:p>
            <a:pPr marL="0" indent="0">
              <a:buNone/>
              <a:defRPr/>
            </a:pPr>
            <a:endParaRPr lang="ru-RU" sz="2900"/>
          </a:p>
          <a:p>
            <a:pPr marL="0" indent="0">
              <a:buNone/>
              <a:defRPr/>
            </a:pPr>
            <a:endParaRPr lang="ru-RU" sz="2900"/>
          </a:p>
          <a:p>
            <a:pPr marL="0" indent="0">
              <a:buNone/>
              <a:defRPr/>
            </a:pPr>
            <a:endParaRPr lang="ru-RU" sz="2900"/>
          </a:p>
          <a:p>
            <a:pPr marL="0" indent="0">
              <a:buNone/>
              <a:defRPr/>
            </a:pPr>
            <a:endParaRPr lang="ru-RU" sz="2900"/>
          </a:p>
          <a:p>
            <a:pPr marL="0" indent="0">
              <a:buNone/>
              <a:defRPr/>
            </a:pPr>
            <a:endParaRPr lang="ru-RU" sz="2900"/>
          </a:p>
          <a:p>
            <a:pPr marL="0" indent="0">
              <a:buNone/>
              <a:defRPr/>
            </a:pPr>
            <a:endParaRPr lang="ru-RU" sz="2900"/>
          </a:p>
        </p:txBody>
      </p:sp>
      <p:cxnSp>
        <p:nvCxnSpPr>
          <p:cNvPr id="6" name="Прямая со стрелкой 5"/>
          <p:cNvCxnSpPr>
            <a:cxnSpLocks/>
          </p:cNvCxnSpPr>
          <p:nvPr/>
        </p:nvCxnSpPr>
        <p:spPr bwMode="auto">
          <a:xfrm flipH="1" flipV="1">
            <a:off x="7584988" y="3261946"/>
            <a:ext cx="319297" cy="4220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 bwMode="auto">
          <a:xfrm flipH="1" flipV="1">
            <a:off x="7460511" y="4341813"/>
            <a:ext cx="373433" cy="1796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 bwMode="auto">
          <a:xfrm flipH="1">
            <a:off x="7060381" y="5196254"/>
            <a:ext cx="773563" cy="1905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Дополнительная информация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826977" y="3086101"/>
            <a:ext cx="5972908" cy="1930278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ru-RU"/>
              <a:t>Это далеко не всё, что возможно реализовать в диаграммах событий. За дополнительной информацией можно обратиться по </a:t>
            </a:r>
            <a:r>
              <a:rPr lang="en-US"/>
              <a:t>QR-</a:t>
            </a:r>
            <a:r>
              <a:rPr lang="ru-RU"/>
              <a:t>коду.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Презентация за авторством Сергея Калинова, </a:t>
            </a:r>
            <a:r>
              <a:rPr lang="ru-RU"/>
              <a:t>тимлид</a:t>
            </a:r>
            <a:r>
              <a:rPr lang="ru-RU"/>
              <a:t>а</a:t>
            </a:r>
            <a:r>
              <a:rPr lang="ru-RU"/>
              <a:t> команды разработчиков в компании </a:t>
            </a:r>
            <a:r>
              <a:rPr lang="en-US"/>
              <a:t>EPAM Systems</a:t>
            </a: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71049" y="2631988"/>
            <a:ext cx="3000793" cy="30007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/>
              <a:t>З</a:t>
            </a:r>
            <a:r>
              <a:rPr lang="ru-RU"/>
              <a:t>анятие 1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412386"/>
            <a:ext cx="7004538" cy="497962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10000"/>
          </a:bodyPr>
          <a:lstStyle/>
          <a:p>
            <a:pPr marL="514350" indent="-514350">
              <a:buAutoNum type="arabicPeriod"/>
              <a:defRPr/>
            </a:pPr>
            <a:r>
              <a:rPr lang="ru-RU" sz="3000">
                <a:solidFill>
                  <a:srgbClr val="000000"/>
                </a:solidFill>
                <a:latin typeface="Times New Roman"/>
              </a:rPr>
              <a:t>Описать </a:t>
            </a:r>
            <a:r>
              <a:rPr lang="ru-RU" sz="3000">
                <a:solidFill>
                  <a:srgbClr val="000000"/>
                </a:solidFill>
                <a:latin typeface="Times New Roman"/>
              </a:rPr>
              <a:t>возможные последовательности состояний и переходов, которые характеризуют поведение элемента исследуемой системы с помощью диаграммы состояний (индивидуальный вариант учебного проекта).  </a:t>
            </a:r>
            <a:br>
              <a:rPr lang="ru-RU" sz="3000">
                <a:solidFill>
                  <a:srgbClr val="000000"/>
                </a:solidFill>
                <a:latin typeface="Times New Roman"/>
              </a:rPr>
            </a:br>
            <a:endParaRPr lang="ru-RU" sz="3000">
              <a:solidFill>
                <a:srgbClr val="000000"/>
              </a:solidFill>
              <a:latin typeface="Times New Roman"/>
            </a:endParaRPr>
          </a:p>
          <a:p>
            <a:pPr marL="514350" indent="-514350">
              <a:buAutoNum type="arabicPeriod"/>
              <a:defRPr/>
            </a:pPr>
            <a:r>
              <a:rPr lang="ru-RU" sz="3000" strike="sngStrike">
                <a:solidFill>
                  <a:schemeClr val="bg2">
                    <a:lumMod val="75000"/>
                  </a:schemeClr>
                </a:solidFill>
                <a:latin typeface="Times New Roman"/>
              </a:rPr>
              <a:t>Описать </a:t>
            </a:r>
            <a:r>
              <a:rPr lang="ru-RU" sz="3000" strike="sngStrike">
                <a:solidFill>
                  <a:schemeClr val="bg2">
                    <a:lumMod val="75000"/>
                  </a:schemeClr>
                </a:solidFill>
                <a:latin typeface="Times New Roman"/>
              </a:rPr>
              <a:t>все системные операции посредством диаграммы деятельности. </a:t>
            </a:r>
            <a:endParaRPr/>
          </a:p>
          <a:p>
            <a:pPr marL="0" indent="0">
              <a:buNone/>
              <a:defRPr/>
            </a:pPr>
            <a:endParaRPr lang="ru-RU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ru-RU" sz="160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rgbClr val="000000"/>
                </a:solidFill>
                <a:latin typeface="Times New Roman"/>
              </a:rPr>
              <a:t>Результат работы: стандартный отчет, содержащий построенные диаграммы.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918325" y="6216134"/>
            <a:ext cx="6096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/>
              </a:rPr>
              <a:t>Время выполнения: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1 пара (из 2),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сдача на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11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неделе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594794" y="1412386"/>
            <a:ext cx="4229690" cy="4648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r7-office/2024.3.2.622</Application>
  <DocSecurity>0</DocSecurity>
  <PresentationFormat>Широкоэкранный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Microsoft Office User</dc:creator>
  <cp:keywords/>
  <dc:description/>
  <dc:identifier/>
  <dc:language/>
  <cp:lastModifiedBy>Anonymous</cp:lastModifiedBy>
  <cp:revision>43</cp:revision>
  <dcterms:created xsi:type="dcterms:W3CDTF">2025-01-14T16:36:25Z</dcterms:created>
  <dcterms:modified xsi:type="dcterms:W3CDTF">2025-04-13T22:13:53Z</dcterms:modified>
  <cp:category/>
  <cp:contentStatus/>
  <cp:version/>
</cp:coreProperties>
</file>