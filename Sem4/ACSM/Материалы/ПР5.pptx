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90" r:id="rId6"/>
    <p:sldId id="284" r:id="rId7"/>
    <p:sldId id="291" r:id="rId8"/>
    <p:sldId id="292" r:id="rId9"/>
    <p:sldId id="294" r:id="rId10"/>
    <p:sldId id="293" r:id="rId11"/>
    <p:sldId id="296" r:id="rId12"/>
    <p:sldId id="297" r:id="rId13"/>
    <p:sldId id="263" r:id="rId14"/>
    <p:sldId id="265" r:id="rId15"/>
    <p:sldId id="264" r:id="rId16"/>
    <p:sldId id="299" r:id="rId17"/>
    <p:sldId id="298" r:id="rId18"/>
    <p:sldId id="287" r:id="rId19"/>
    <p:sldId id="269" r:id="rId20"/>
    <p:sldId id="289" r:id="rId21"/>
    <p:sldId id="27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3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C3DAE-F082-4355-B693-C65446E28325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6CE25-24B0-4295-AAB7-A857E45290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56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6CE25-24B0-4295-AAB7-A857E45290D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402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17BF1-5886-4849-80A8-7CE327AF04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23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9A7FA-5773-88F7-296C-049910EE6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AEE62B-71E1-8F98-2F93-5E74CBB7E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5B14E1-1E14-B515-6230-7D5ED718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C5C4A7-222D-DA3D-5DFE-32499F48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363EDE-2C15-D255-420A-A3B7FCB4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40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E0335-84A1-06BD-D4D0-22F9C152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AD8C4-5FF3-5744-969C-914213809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713D2F-4200-BBF9-6FB2-88C6F6FF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EFF0A8-9136-1336-81E3-5751DFEC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1F43A-6F5D-A982-2876-9B3228F0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F7424-67D4-477E-30F4-735D7FBF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A2D58-EBB7-31F9-8249-F785C00B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AD1BA-EC25-B9E3-D77F-ACF4FD61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DCDD3-50E8-223D-F884-3657B0CC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E9E01-4874-7B25-06D4-C02F4057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05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4ACAD-0CBA-2DE3-73E9-B57158BC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5019D3-5907-716A-099B-42B4C3401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FF9AC2-10B0-FFF7-8287-CD8DB5BCD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419E1C-6CC6-1851-E840-5EAB7A3E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FFA14C-B0EE-B960-CE22-E1086EA4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B51858-1ECB-907D-4B48-2811AB21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58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BF15C-4945-9155-B926-B1D7065A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6B0510-B753-3300-33EC-CF3B1BB1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B75580-2402-6D28-B542-D737FF1AD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BCA0DD-27E4-AB4B-5882-A04F6149E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9F2799-064C-88F5-83E6-A8186684A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B1E95-EDC2-6D97-240D-B29B40A6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009213-6BD4-B39B-FC80-B862BCF18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84EE74-83F7-A337-3FC9-C767EA5D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58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478B9-F3FC-E5AE-328E-F6A9096A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87172A-785E-B138-84A7-565079E7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362C85-E62E-1390-9775-7FECE46B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11A300-530B-D881-D33C-19DCBE09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41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A8BC1B-C549-38B2-8055-4A1BFC2F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A85547-A9E0-EE2F-1325-4B14304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ED9657-F031-FB21-D3F3-E2C28D87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51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41564-4AA6-DE50-E155-0E27891C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31BAFE-0B1C-4FE2-7AC9-A1DFBCF4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5483F4-15DC-6381-C255-B50499F91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4C9D6E-5B89-F241-CF80-99FCDDC0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3BC5A9-6B51-7028-EA1E-E1F95D8E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8DD425-6DD3-50F5-6EEA-C8DF6271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39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B25AC-AFC0-460C-E962-B878C3E7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6E00F4-24DF-C95F-B34A-061CD0045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699F5E-BB63-A2DD-42C0-190C11A61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492C5B-5C20-FB80-D361-E10924BE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818766-CF97-DBAE-966F-5BC91967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FBAC2B-A30C-28C6-BF7F-59933978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2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6DA6D-5FF5-5395-BFA4-D6A78533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C115B4-6D56-D5FA-A4DC-05C6758A0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9ED8E-C8D1-62DC-641F-45DE2E7E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AC3F4A-C7B4-8117-4071-C28CE157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066853-E6C2-3B8C-77F2-2779FD30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7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2E057C-B853-31B6-65C5-A71A02053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FE209F-3482-995C-A39F-EA4DE56C2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B1EC8-66FB-6670-A67D-9631BFC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DBB2AD-35AA-498D-6669-227F1269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100DFB-06FB-C501-4B94-51F11D31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75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440F7-1F77-AAFF-211E-5F6BB575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281B7F-28E0-A1C6-BB9A-410CF5D74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0EA6D8-B92B-0C75-734B-78FDD4B38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744B-C440-D945-B2AD-69A0E3577F1F}" type="datetimeFigureOut">
              <a:rPr lang="ru-RU" smtClean="0"/>
              <a:t>26.03.2025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ECFEC0-C7A7-72B2-3154-E4E4E2221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33F9D-CE57-83B4-460B-036C24DD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20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A67918-E1DC-7A45-7DBC-FAF89D91F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94" y="149588"/>
            <a:ext cx="671606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1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AutoShape 4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757929" y="1299298"/>
          <a:ext cx="10371342" cy="20116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9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6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Номер недели</a:t>
                      </a:r>
                      <a:endParaRPr lang="ru-RU" sz="1200" b="1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Описание функций системы через диаграмму вариантов использования.</a:t>
                      </a:r>
                      <a:endParaRPr lang="ru-RU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 dirty="0"/>
                        <a:t>3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4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Построение UML – модели системы. Диаграмма классов анализа.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5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Построение UML – модели системы. Диаграмма последовательности.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7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 dirty="0"/>
                        <a:t>5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8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Построение UML – модели системы. Диаграмма классов.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9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10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Построение UML – модели системы. Диаграмма деятельности.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15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15-16 неделя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2037273" y="3699422"/>
          <a:ext cx="7020560" cy="16459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7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2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8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6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8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6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 dirty="0"/>
                        <a:t>6</a:t>
                      </a:r>
                      <a:endParaRPr lang="ru-RU" sz="1200" dirty="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Быстрое погружение в суть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545770"/>
            <a:ext cx="9965871" cy="531223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70000"/>
              </a:lnSpc>
            </a:pPr>
            <a:r>
              <a:rPr lang="ru-RU" sz="7100" b="1" dirty="0">
                <a:solidFill>
                  <a:srgbClr val="0E0E11"/>
                </a:solidFill>
                <a:latin typeface="Bender"/>
              </a:rPr>
              <a:t>Диаграмма классов </a:t>
            </a:r>
            <a:r>
              <a:rPr lang="ru-RU" sz="7100" dirty="0">
                <a:solidFill>
                  <a:srgbClr val="0E0E11"/>
                </a:solidFill>
                <a:latin typeface="Bender"/>
              </a:rPr>
              <a:t>представляет собой логическую модель статического представления моделируемой системы. Задача заключается в том, чтобы представить поведение более детально на логическом уровне.</a:t>
            </a:r>
          </a:p>
          <a:p>
            <a:pPr>
              <a:lnSpc>
                <a:spcPct val="150000"/>
              </a:lnSpc>
              <a:defRPr/>
            </a:pPr>
            <a:endParaRPr lang="ru-RU" sz="7100" b="1" dirty="0">
              <a:solidFill>
                <a:srgbClr val="0E0E11"/>
              </a:solidFill>
              <a:latin typeface="Bender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7100" dirty="0">
                <a:solidFill>
                  <a:srgbClr val="0E0E11"/>
                </a:solidFill>
                <a:latin typeface="Bender"/>
              </a:rPr>
              <a:t>Это сложно. Если проще, то…</a:t>
            </a:r>
            <a:endParaRPr lang="ru-RU" sz="7100" b="1" dirty="0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endParaRPr lang="ru-RU" sz="7100" b="1" dirty="0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r>
              <a:rPr lang="ru-RU" sz="7000" dirty="0">
                <a:solidFill>
                  <a:srgbClr val="0E0E11"/>
                </a:solidFill>
                <a:latin typeface="Bender"/>
              </a:rPr>
              <a:t>Диаграмма классов это графическое представление структуры программного кода системы.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А попроще?</a:t>
            </a:r>
            <a:endParaRPr lang="en-US" dirty="0"/>
          </a:p>
        </p:txBody>
      </p:sp>
      <p:pic>
        <p:nvPicPr>
          <p:cNvPr id="1030" name="Picture 6" descr="недорисованная лошадь - Все шаблоны - Создать мем - Meme-arsenal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945" y="3220633"/>
            <a:ext cx="4276237" cy="347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 bwMode="auto">
          <a:xfrm>
            <a:off x="6576646" y="1848827"/>
            <a:ext cx="54951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 dirty="0">
                <a:solidFill>
                  <a:srgbClr val="0E0E11"/>
                </a:solidFill>
                <a:latin typeface="Bender"/>
              </a:rPr>
              <a:t>Диаграмма классов анализа </a:t>
            </a:r>
            <a:endParaRPr lang="en-US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 bwMode="auto">
          <a:xfrm>
            <a:off x="434000" y="1825625"/>
            <a:ext cx="49998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 dirty="0">
                <a:solidFill>
                  <a:srgbClr val="0E0E11"/>
                </a:solidFill>
                <a:latin typeface="Bender"/>
              </a:rPr>
              <a:t>Диаграмма </a:t>
            </a:r>
            <a:r>
              <a:rPr lang="ru-RU" b="1" dirty="0">
                <a:solidFill>
                  <a:srgbClr val="0E0E11"/>
                </a:solidFill>
                <a:latin typeface="Bender"/>
              </a:rPr>
              <a:t>классов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49" y="2631661"/>
            <a:ext cx="2467319" cy="243874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138" y="2544893"/>
            <a:ext cx="2302754" cy="2115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А попроще?</a:t>
            </a:r>
            <a:endParaRPr lang="en-US" dirty="0"/>
          </a:p>
        </p:txBody>
      </p:sp>
      <p:pic>
        <p:nvPicPr>
          <p:cNvPr id="1030" name="Picture 6" descr="недорисованная лошадь - Все шаблоны - Создать мем - Meme-arsenal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945" y="3220633"/>
            <a:ext cx="4276237" cy="347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 bwMode="auto">
          <a:xfrm>
            <a:off x="6576646" y="1848827"/>
            <a:ext cx="54951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 dirty="0">
                <a:solidFill>
                  <a:srgbClr val="0E0E11"/>
                </a:solidFill>
                <a:latin typeface="Bender"/>
              </a:rPr>
              <a:t>Диаграмма классов анализа </a:t>
            </a:r>
            <a:endParaRPr lang="en-US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 bwMode="auto">
          <a:xfrm>
            <a:off x="434000" y="1825625"/>
            <a:ext cx="49998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 dirty="0">
                <a:solidFill>
                  <a:srgbClr val="0E0E11"/>
                </a:solidFill>
                <a:latin typeface="Bender"/>
              </a:rPr>
              <a:t>Диаграмма </a:t>
            </a:r>
            <a:r>
              <a:rPr lang="ru-RU" b="1" dirty="0">
                <a:solidFill>
                  <a:srgbClr val="0E0E11"/>
                </a:solidFill>
                <a:latin typeface="Bender"/>
              </a:rPr>
              <a:t>классов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49" y="2631661"/>
            <a:ext cx="2467319" cy="243874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138" y="2544893"/>
            <a:ext cx="2302754" cy="211502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94592" y="2031023"/>
            <a:ext cx="4897316" cy="4664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839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96100" y="2736436"/>
            <a:ext cx="3209925" cy="4575175"/>
          </a:xfrm>
        </p:spPr>
        <p:txBody>
          <a:bodyPr/>
          <a:lstStyle/>
          <a:p>
            <a:r>
              <a:rPr lang="ru-RU" dirty="0"/>
              <a:t>Класс</a:t>
            </a:r>
          </a:p>
          <a:p>
            <a:endParaRPr lang="ru-RU" dirty="0"/>
          </a:p>
          <a:p>
            <a:r>
              <a:rPr lang="ru-RU" dirty="0"/>
              <a:t>Атрибут</a:t>
            </a:r>
          </a:p>
          <a:p>
            <a:endParaRPr lang="ru-RU" sz="2000" dirty="0"/>
          </a:p>
          <a:p>
            <a:r>
              <a:rPr lang="ru-RU" dirty="0"/>
              <a:t>Метод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6390" y="2736436"/>
            <a:ext cx="2467319" cy="2438740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 bwMode="auto">
          <a:xfrm>
            <a:off x="9239250" y="500063"/>
            <a:ext cx="3209925" cy="176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4772025" y="2952750"/>
            <a:ext cx="2124075" cy="857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4572001" y="3648075"/>
            <a:ext cx="2324099" cy="307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5010153" y="4426881"/>
            <a:ext cx="1885947" cy="4737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05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Зоопарк (абстрактный пример)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33142" y="3754315"/>
            <a:ext cx="5655120" cy="2892670"/>
          </a:xfrm>
        </p:spPr>
        <p:txBody>
          <a:bodyPr>
            <a:normAutofit/>
          </a:bodyPr>
          <a:lstStyle/>
          <a:p>
            <a:r>
              <a:rPr lang="ru-RU" dirty="0"/>
              <a:t>Если Класс – «Животное», то каждый отдельный экземпляр этого класса будет отдельным животным (видом животного).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Но как их отличить друг от друга?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142" y="2080745"/>
            <a:ext cx="2857899" cy="1448002"/>
          </a:xfrm>
          <a:prstGeom prst="rect">
            <a:avLst/>
          </a:prstGeom>
        </p:spPr>
      </p:pic>
      <p:pic>
        <p:nvPicPr>
          <p:cNvPr id="1026" name="Picture 2" descr="ЗООПАРК | Мир дошколя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68" y="2015331"/>
            <a:ext cx="5324475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09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72600" y="1930339"/>
            <a:ext cx="4738654" cy="4351338"/>
          </a:xfrm>
        </p:spPr>
        <p:txBody>
          <a:bodyPr/>
          <a:lstStyle/>
          <a:p>
            <a:r>
              <a:rPr lang="ru-RU" b="1" dirty="0"/>
              <a:t>Атрибуты</a:t>
            </a:r>
            <a:r>
              <a:rPr lang="ru-RU" dirty="0"/>
              <a:t> описывают перечень значений, в рамках которых указываются свойства объектов (т.е. экземпляров) этого класса.</a:t>
            </a:r>
          </a:p>
          <a:p>
            <a:endParaRPr lang="ru-RU" dirty="0"/>
          </a:p>
          <a:p>
            <a:r>
              <a:rPr lang="ru-RU" dirty="0"/>
              <a:t>Класс может не иметь атрибутов или содержать любое их количество.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50" y="3277293"/>
            <a:ext cx="2857899" cy="1448002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3314701" y="4106008"/>
            <a:ext cx="2699237" cy="175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 bwMode="auto">
          <a:xfrm>
            <a:off x="6013938" y="1690688"/>
            <a:ext cx="4897316" cy="4664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013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4" y="3297174"/>
            <a:ext cx="3185506" cy="145108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23992" y="3901739"/>
            <a:ext cx="3587262" cy="2379938"/>
          </a:xfrm>
        </p:spPr>
        <p:txBody>
          <a:bodyPr>
            <a:normAutofit/>
          </a:bodyPr>
          <a:lstStyle/>
          <a:p>
            <a:r>
              <a:rPr lang="ru-RU" dirty="0"/>
              <a:t>Имя: Барсик</a:t>
            </a:r>
          </a:p>
          <a:p>
            <a:r>
              <a:rPr lang="en-US" dirty="0"/>
              <a:t>ID</a:t>
            </a:r>
            <a:r>
              <a:rPr lang="ru-RU" dirty="0"/>
              <a:t>: </a:t>
            </a:r>
            <a:r>
              <a:rPr lang="en-US" dirty="0"/>
              <a:t>5629</a:t>
            </a:r>
          </a:p>
          <a:p>
            <a:r>
              <a:rPr lang="ru-RU" dirty="0"/>
              <a:t>Возраст: </a:t>
            </a:r>
            <a:r>
              <a:rPr lang="en-US" dirty="0"/>
              <a:t>10</a:t>
            </a:r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3314701" y="4106008"/>
            <a:ext cx="2699237" cy="175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 bwMode="auto">
          <a:xfrm>
            <a:off x="6013938" y="1690688"/>
            <a:ext cx="4897316" cy="4664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530" y="2315134"/>
            <a:ext cx="914528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03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825" y="2775696"/>
            <a:ext cx="3458058" cy="1552792"/>
          </a:xfrm>
          <a:prstGeom prst="rect">
            <a:avLst/>
          </a:prstGeom>
        </p:spPr>
      </p:pic>
      <p:cxnSp>
        <p:nvCxnSpPr>
          <p:cNvPr id="10" name="Прямая со стрелкой 9"/>
          <p:cNvCxnSpPr/>
          <p:nvPr/>
        </p:nvCxnSpPr>
        <p:spPr>
          <a:xfrm>
            <a:off x="1406769" y="2007834"/>
            <a:ext cx="2804746" cy="15354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07568" y="1690689"/>
            <a:ext cx="3546231" cy="44862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Тип атрибута:</a:t>
            </a:r>
          </a:p>
          <a:p>
            <a:pPr>
              <a:lnSpc>
                <a:spcPct val="160000"/>
              </a:lnSpc>
            </a:pPr>
            <a:r>
              <a:rPr lang="ru-RU" dirty="0"/>
              <a:t>Перечень возможных типов включает строку, число с плавающей точкой, целое число, логическое зна­чение и другие перечислимые типы. </a:t>
            </a:r>
          </a:p>
          <a:p>
            <a:pPr>
              <a:lnSpc>
                <a:spcPct val="160000"/>
              </a:lnSpc>
            </a:pPr>
            <a:r>
              <a:rPr lang="ru-RU" dirty="0"/>
              <a:t>Для отображения типа используется двоеточие, которое отделяет имя атрибута от его типа.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5565531" y="1855177"/>
            <a:ext cx="2303584" cy="16881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бъект 2"/>
          <p:cNvSpPr txBox="1">
            <a:spLocks/>
          </p:cNvSpPr>
          <p:nvPr/>
        </p:nvSpPr>
        <p:spPr bwMode="auto">
          <a:xfrm>
            <a:off x="257909" y="1855177"/>
            <a:ext cx="3546231" cy="448627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dirty="0"/>
              <a:t>Видимость:</a:t>
            </a:r>
          </a:p>
          <a:p>
            <a:pPr>
              <a:lnSpc>
                <a:spcPct val="160000"/>
              </a:lnSpc>
            </a:pPr>
            <a:r>
              <a:rPr lang="ru-RU" b="1" dirty="0"/>
              <a:t>-</a:t>
            </a:r>
            <a:r>
              <a:rPr lang="en-US" b="1" dirty="0"/>
              <a:t>private </a:t>
            </a:r>
            <a:r>
              <a:rPr lang="en-US" dirty="0"/>
              <a:t>– </a:t>
            </a:r>
            <a:r>
              <a:rPr lang="ru-RU" dirty="0"/>
              <a:t>к ним нет доступа ни у каких других классов.</a:t>
            </a:r>
          </a:p>
          <a:p>
            <a:pPr>
              <a:lnSpc>
                <a:spcPct val="160000"/>
              </a:lnSpc>
            </a:pPr>
            <a:r>
              <a:rPr lang="ru-RU" b="1" dirty="0"/>
              <a:t>+</a:t>
            </a:r>
            <a:r>
              <a:rPr lang="en-US" b="1" dirty="0"/>
              <a:t>public </a:t>
            </a:r>
            <a:r>
              <a:rPr lang="en-US" dirty="0"/>
              <a:t>– </a:t>
            </a:r>
            <a:r>
              <a:rPr lang="ru-RU" dirty="0"/>
              <a:t>к нему могут получить доступы другие классы.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#protected </a:t>
            </a:r>
            <a:r>
              <a:rPr lang="en-US" dirty="0"/>
              <a:t>– </a:t>
            </a:r>
            <a:r>
              <a:rPr lang="ru-RU" dirty="0"/>
              <a:t>к нему может получить доступ лишь этот же класс или его подклассы.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~package/default </a:t>
            </a:r>
            <a:r>
              <a:rPr lang="en-US" dirty="0"/>
              <a:t>– </a:t>
            </a:r>
            <a:r>
              <a:rPr lang="ru-RU" dirty="0"/>
              <a:t>к нему может получить доступ любой класс в этой же группировке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335761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класса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45" y="2966176"/>
            <a:ext cx="3477110" cy="1857634"/>
          </a:xfrm>
          <a:prstGeom prst="rect">
            <a:avLst/>
          </a:prstGeom>
        </p:spPr>
      </p:pic>
      <p:sp>
        <p:nvSpPr>
          <p:cNvPr id="6" name="Объект 2"/>
          <p:cNvSpPr txBox="1">
            <a:spLocks/>
          </p:cNvSpPr>
          <p:nvPr/>
        </p:nvSpPr>
        <p:spPr bwMode="auto">
          <a:xfrm>
            <a:off x="5014546" y="1978025"/>
            <a:ext cx="6491654" cy="17968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b="1"/>
              <a:t>Операции (методы / функции) </a:t>
            </a:r>
            <a:r>
              <a:rPr lang="ru-RU"/>
              <a:t>- это то, что может выполнять класс, либо то, что вы (или другой класс) можете выполнять над данным классом.</a:t>
            </a:r>
          </a:p>
          <a:p>
            <a:pPr>
              <a:lnSpc>
                <a:spcPct val="150000"/>
              </a:lnSpc>
            </a:pP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2611315" y="2268415"/>
            <a:ext cx="2312377" cy="2224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907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78769" y="5521568"/>
            <a:ext cx="4932485" cy="8331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Имя: </a:t>
            </a:r>
            <a:r>
              <a:rPr lang="ru-RU" dirty="0"/>
              <a:t>Барсик -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ru-RU" dirty="0" err="1"/>
              <a:t>Мурзик</a:t>
            </a:r>
            <a:endParaRPr lang="ru-RU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45" y="2966176"/>
            <a:ext cx="3477110" cy="185763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 bwMode="auto">
          <a:xfrm>
            <a:off x="5169877" y="4642338"/>
            <a:ext cx="5741377" cy="17124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5014546" y="1978025"/>
            <a:ext cx="6491654" cy="17968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b="1"/>
              <a:t>Операции (методы / функции) </a:t>
            </a:r>
            <a:r>
              <a:rPr lang="ru-RU"/>
              <a:t>- это то, что может выполнять класс, либо то, что вы (или другой класс) можете выполнять над данным классом.</a:t>
            </a:r>
          </a:p>
          <a:p>
            <a:pPr>
              <a:lnSpc>
                <a:spcPct val="150000"/>
              </a:lnSpc>
            </a:pP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301" y="4724226"/>
            <a:ext cx="914528" cy="962159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H="1">
            <a:off x="2611315" y="2268415"/>
            <a:ext cx="2312377" cy="2224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1784839" y="4724226"/>
            <a:ext cx="3385038" cy="10611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47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Связи между классами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 dirty="0"/>
              <a:t>Связи между классами отображаются с использованием отношений пяти видов: </a:t>
            </a:r>
          </a:p>
          <a:p>
            <a:pPr>
              <a:lnSpc>
                <a:spcPct val="150000"/>
              </a:lnSpc>
              <a:defRPr/>
            </a:pPr>
            <a:r>
              <a:rPr lang="ru-RU" dirty="0"/>
              <a:t> ассоциаций; </a:t>
            </a:r>
          </a:p>
          <a:p>
            <a:pPr>
              <a:lnSpc>
                <a:spcPct val="150000"/>
              </a:lnSpc>
              <a:defRPr/>
            </a:pPr>
            <a:r>
              <a:rPr lang="ru-RU" dirty="0"/>
              <a:t> наследованием (обобщением); </a:t>
            </a:r>
          </a:p>
          <a:p>
            <a:pPr>
              <a:lnSpc>
                <a:spcPct val="150000"/>
              </a:lnSpc>
              <a:defRPr/>
            </a:pPr>
            <a:r>
              <a:rPr lang="ru-RU" dirty="0"/>
              <a:t> зависимостью; </a:t>
            </a:r>
          </a:p>
          <a:p>
            <a:pPr>
              <a:lnSpc>
                <a:spcPct val="150000"/>
              </a:lnSpc>
              <a:defRPr/>
            </a:pPr>
            <a:r>
              <a:rPr lang="ru-RU" dirty="0"/>
              <a:t> агрегацией; </a:t>
            </a:r>
          </a:p>
          <a:p>
            <a:pPr>
              <a:lnSpc>
                <a:spcPct val="150000"/>
              </a:lnSpc>
              <a:defRPr/>
            </a:pPr>
            <a:r>
              <a:rPr lang="ru-RU" dirty="0"/>
              <a:t> композицией.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16" y="3245827"/>
            <a:ext cx="31242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Отношение Обобщение / наследование</a:t>
            </a:r>
            <a:endParaRPr lang="en-US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6784" y="4404361"/>
            <a:ext cx="7043271" cy="238968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81" y="1434865"/>
            <a:ext cx="7150563" cy="2671144"/>
          </a:xfrm>
          <a:prstGeom prst="rect">
            <a:avLst/>
          </a:prstGeom>
        </p:spPr>
      </p:pic>
      <p:cxnSp>
        <p:nvCxnSpPr>
          <p:cNvPr id="9" name="Прямая со стрелкой 8"/>
          <p:cNvCxnSpPr/>
          <p:nvPr/>
        </p:nvCxnSpPr>
        <p:spPr>
          <a:xfrm>
            <a:off x="624254" y="3771900"/>
            <a:ext cx="6814038" cy="17145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 bwMode="auto">
          <a:xfrm>
            <a:off x="3297115" y="3965331"/>
            <a:ext cx="4141177" cy="15210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 bwMode="auto">
          <a:xfrm>
            <a:off x="5583115" y="3771900"/>
            <a:ext cx="1855177" cy="17145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3600" dirty="0"/>
              <a:t>Агрегация, Ассоциация, Композиция, Зависимость</a:t>
            </a:r>
            <a:endParaRPr lang="en-US" sz="36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4009291"/>
            <a:ext cx="10515600" cy="273440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Кратность: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u-RU" dirty="0"/>
              <a:t>Для ассоциации, агрегации и композиции может указываться кратность (англ. </a:t>
            </a:r>
            <a:r>
              <a:rPr lang="ru-RU" dirty="0" err="1"/>
              <a:t>multiplicity</a:t>
            </a:r>
            <a:r>
              <a:rPr lang="ru-RU" dirty="0"/>
              <a:t>), характеризующая общее количество экземпляров сущностей, участвующих в отношении. Она, как правило, указывается с каждой стороны отношения около соответствующей сущности. 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71" y="1690688"/>
            <a:ext cx="2195836" cy="15976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110222" cy="151850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551" y="1668709"/>
            <a:ext cx="2084818" cy="1694350"/>
          </a:xfrm>
          <a:prstGeom prst="rect">
            <a:avLst/>
          </a:prstGeom>
        </p:spPr>
      </p:pic>
      <p:cxnSp>
        <p:nvCxnSpPr>
          <p:cNvPr id="10" name="Прямая со стрелкой 9"/>
          <p:cNvCxnSpPr/>
          <p:nvPr/>
        </p:nvCxnSpPr>
        <p:spPr>
          <a:xfrm flipV="1">
            <a:off x="3525715" y="2411656"/>
            <a:ext cx="3156439" cy="1791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931" y="1623140"/>
            <a:ext cx="2511476" cy="2579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Зоопарк (абстрактный пример)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276" y="1825625"/>
            <a:ext cx="6943158" cy="4351338"/>
          </a:xfrm>
          <a:prstGeom prst="rect">
            <a:avLst/>
          </a:prstGeom>
        </p:spPr>
      </p:pic>
      <p:pic>
        <p:nvPicPr>
          <p:cNvPr id="5" name="Picture 2" descr="ЗООПАРК | Мир дошколя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718" y="1373492"/>
            <a:ext cx="3969456" cy="296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294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построения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При разработке диаграммы следует придерживаться следующих правил: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1. За основу диаграммы классов при ее разработке берется диаграмма классов анализа (</a:t>
            </a:r>
            <a:r>
              <a:rPr lang="ru-RU" b="1" dirty="0"/>
              <a:t>ПР3</a:t>
            </a:r>
            <a:r>
              <a:rPr lang="ru-RU" dirty="0"/>
              <a:t>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2. Для классов должны быть определены и специфицированы все атрибуты и методы. Их спецификация, как правило, выполняется с учетом выбранного языка программирования.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3. При определении методов рекомендуется использовать сообщения с ранее разработанных диаграмм последовательности и коммуникации (</a:t>
            </a:r>
            <a:r>
              <a:rPr lang="ru-RU" b="1" dirty="0"/>
              <a:t>ПР4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725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 более сложным примерам</a:t>
            </a:r>
          </a:p>
        </p:txBody>
      </p:sp>
      <p:pic>
        <p:nvPicPr>
          <p:cNvPr id="8194" name="Picture 2" descr="Мемы Человек паук показывает на человека паука 31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821" y="3069309"/>
            <a:ext cx="4085737" cy="269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7CAE1B-8BF2-42E1-92A3-AA630BCD0B99}"/>
              </a:ext>
            </a:extLst>
          </p:cNvPr>
          <p:cNvSpPr/>
          <p:nvPr/>
        </p:nvSpPr>
        <p:spPr>
          <a:xfrm>
            <a:off x="1375949" y="3662216"/>
            <a:ext cx="2920181" cy="150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Диаграмма классов анализа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79FF89-A619-43E4-AF90-F6FD63BEBA4D}"/>
              </a:ext>
            </a:extLst>
          </p:cNvPr>
          <p:cNvSpPr/>
          <p:nvPr/>
        </p:nvSpPr>
        <p:spPr>
          <a:xfrm>
            <a:off x="7421747" y="3711708"/>
            <a:ext cx="2920181" cy="150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Диаграмма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212711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rot="16200000">
            <a:off x="-3909647" y="681648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 dirty="0"/>
              <a:t>Пример диаграммы</a:t>
            </a:r>
            <a:br>
              <a:rPr lang="ru-RU" dirty="0"/>
            </a:br>
            <a:r>
              <a:rPr lang="ru-RU" dirty="0"/>
              <a:t> </a:t>
            </a:r>
            <a:r>
              <a:rPr lang="ru-RU" b="1" dirty="0"/>
              <a:t>классов анализа</a:t>
            </a:r>
            <a:endParaRPr lang="en-US" b="1" dirty="0"/>
          </a:p>
        </p:txBody>
      </p:sp>
      <p:pic>
        <p:nvPicPr>
          <p:cNvPr id="7170" name="Picture 2" descr="https://studfile.net/html/72024/253/html_xagszVyFNU.jrjP/htmlconvd-JUY9pu_html_4110d04e3912f8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64" y="12628"/>
            <a:ext cx="9826869" cy="6845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rot="16200000">
            <a:off x="-4914332" y="710679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 dirty="0"/>
              <a:t>Пример диаграммы </a:t>
            </a:r>
            <a:r>
              <a:rPr lang="ru-RU" sz="4000" b="1" dirty="0"/>
              <a:t>классов</a:t>
            </a:r>
            <a:endParaRPr lang="en-US" sz="4000" b="1" dirty="0"/>
          </a:p>
        </p:txBody>
      </p:sp>
      <p:pic>
        <p:nvPicPr>
          <p:cNvPr id="10242" name="Picture 2" descr="https://studfile.net/html/72024/253/html_xagszVyFNU.jrjP/htmlconvd-JUY9pu_html_bd767a9c9a04bc7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0" y="0"/>
            <a:ext cx="116138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320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Практическая работа 5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12386"/>
            <a:ext cx="10515600" cy="4979622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Times New Roman"/>
              </a:rPr>
              <a:t>Построить диаграмму классов анализа рассматриваемой системы (варианта учебного проекта).</a:t>
            </a:r>
          </a:p>
          <a:p>
            <a:pPr marL="514350" indent="-514350">
              <a:buAutoNum type="arabicPeriod"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 i="1" dirty="0">
                <a:solidFill>
                  <a:srgbClr val="000000"/>
                </a:solidFill>
                <a:latin typeface="Times New Roman"/>
              </a:rPr>
              <a:t>Пожалуйста, изучите файл задания, содержащий особенности построения диаграммы! Там целый лист А4, который я решил не выносить в презентацию. </a:t>
            </a:r>
          </a:p>
          <a:p>
            <a:pPr marL="0" indent="0">
              <a:buNone/>
              <a:defRPr/>
            </a:pPr>
            <a:endParaRPr lang="ru-RU" i="1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 sz="2900" dirty="0">
                <a:solidFill>
                  <a:srgbClr val="000000"/>
                </a:solidFill>
                <a:latin typeface="Times New Roman"/>
              </a:rPr>
              <a:t>2.     Заполнить таблицы 1,2 на основе полученной диаграммы в п.1: 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/>
              </a:rPr>
            </a:b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sz="16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rgbClr val="000000"/>
                </a:solidFill>
                <a:latin typeface="Times New Roman"/>
              </a:rPr>
              <a:t>Результат работы: стандартный отчет, содержащий построенную диаграмму и заполненные таблицы.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918325" y="6216134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  <a:latin typeface="Times New Roman"/>
              </a:rPr>
              <a:t>Время выполнения: 2 пара, сдача на 9 неделе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736" y="3722216"/>
            <a:ext cx="7220958" cy="6382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736" y="4609348"/>
            <a:ext cx="7192379" cy="866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679</Words>
  <Application>Microsoft Office PowerPoint</Application>
  <PresentationFormat>Широкоэкранный</PresentationFormat>
  <Paragraphs>157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Bender</vt:lpstr>
      <vt:lpstr>Calibri</vt:lpstr>
      <vt:lpstr>Calibri Light</vt:lpstr>
      <vt:lpstr>Droid Sans Fallback</vt:lpstr>
      <vt:lpstr>FreeSans</vt:lpstr>
      <vt:lpstr>Times New Roman</vt:lpstr>
      <vt:lpstr>Тема Office</vt:lpstr>
      <vt:lpstr>Презентация PowerPoint</vt:lpstr>
      <vt:lpstr>Презентация PowerPoint</vt:lpstr>
      <vt:lpstr>Быстрое погружение в суть</vt:lpstr>
      <vt:lpstr>А попроще?</vt:lpstr>
      <vt:lpstr>А попроще?</vt:lpstr>
      <vt:lpstr>Диаграмма классов</vt:lpstr>
      <vt:lpstr>Зоопарк (абстрактный пример)</vt:lpstr>
      <vt:lpstr>Атрибуты класса</vt:lpstr>
      <vt:lpstr>Атрибуты класса</vt:lpstr>
      <vt:lpstr>Атрибуты класса</vt:lpstr>
      <vt:lpstr>Операции класса</vt:lpstr>
      <vt:lpstr>Операции класса</vt:lpstr>
      <vt:lpstr>Связи между классами</vt:lpstr>
      <vt:lpstr>Отношение Обобщение / наследование</vt:lpstr>
      <vt:lpstr>Агрегация, Ассоциация, Композиция, Зависимость</vt:lpstr>
      <vt:lpstr>Зоопарк (абстрактный пример)</vt:lpstr>
      <vt:lpstr>Особенности построения</vt:lpstr>
      <vt:lpstr>К более сложным примерам</vt:lpstr>
      <vt:lpstr>Пример диаграммы  классов анализа</vt:lpstr>
      <vt:lpstr>Пример диаграммы классов</vt:lpstr>
      <vt:lpstr>Практическая работа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admin</cp:lastModifiedBy>
  <cp:revision>167</cp:revision>
  <dcterms:created xsi:type="dcterms:W3CDTF">2025-01-14T16:36:25Z</dcterms:created>
  <dcterms:modified xsi:type="dcterms:W3CDTF">2025-03-26T15:20:10Z</dcterms:modified>
</cp:coreProperties>
</file>