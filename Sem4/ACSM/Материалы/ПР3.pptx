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954" y="28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>
          <a:blip r:embed="rId1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AFB1744B-C440-D945-B2AD-69A0E3577F1F}" type="datetimeFigureOut">
              <a:rPr lang="ru-RU"/>
              <a:t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C1FA387-4F00-0A4B-8E4B-DD2C7EC86FB1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AutoShape 2"/>
          <p:cNvSpPr>
            <a:spLocks noChangeArrowheads="1" noChangeAspect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AutoShape 4"/>
          <p:cNvSpPr>
            <a:spLocks noChangeArrowheads="1" noChangeAspect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8" name="Таблица 7"/>
          <p:cNvGraphicFramePr>
            <a:graphicFrameLocks xmlns:a="http://schemas.openxmlformats.org/drawingml/2006/main" noGrp="1"/>
          </p:cNvGraphicFramePr>
          <p:nvPr/>
        </p:nvGraphicFramePr>
        <p:xfrm>
          <a:off x="757929" y="1299298"/>
          <a:ext cx="10371342" cy="201168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697346"/>
                <a:gridCol w="921316"/>
                <a:gridCol w="1483008"/>
                <a:gridCol w="5876301"/>
                <a:gridCol w="1393371"/>
              </a:tblGrid>
              <a:tr h="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недели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Неделя выдачи</a:t>
                      </a:r>
                      <a:endParaRPr/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Наименование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Срок сдачи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функционала системы.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algn="just" defTabSz="914400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функций системы через диаграмму вариантов использования.</a:t>
                      </a:r>
                      <a:endParaRPr lang="ru-RU" sz="1200">
                        <a:solidFill>
                          <a:schemeClr val="dk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 анализа.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последовательности.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10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деятельности.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 Диаграммы компонентов, развертывания.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Доклад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13-14 неделя</a:t>
                      </a:r>
                      <a:endParaRPr/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14 неделя</a:t>
                      </a:r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Проек</a:t>
                      </a:r>
                      <a:r>
                        <a:rPr lang="ru-RU" sz="1200"/>
                        <a:t>т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15-16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xmlns:a="http://schemas.openxmlformats.org/drawingml/2006/main" noGrp="1"/>
          </p:cNvGraphicFramePr>
          <p:nvPr/>
        </p:nvGraphicFramePr>
        <p:xfrm>
          <a:off x="2037273" y="3699422"/>
          <a:ext cx="7020560" cy="164592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1170305"/>
                <a:gridCol w="2700020"/>
                <a:gridCol w="3150235"/>
              </a:tblGrid>
              <a:tr h="36576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в срок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Максимальный балл при сдаче после срока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18288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67714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0578683" name="AutoShape 2"/>
          <p:cNvSpPr>
            <a:spLocks noChangeArrowheads="1" noChangeAspect="1"/>
          </p:cNvSpPr>
          <p:nvPr/>
        </p:nvSpPr>
        <p:spPr bwMode="auto">
          <a:xfrm>
            <a:off x="5943600" y="3276599"/>
            <a:ext cx="304799" cy="304799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59679523" name="AutoShape 4"/>
          <p:cNvSpPr>
            <a:spLocks noChangeArrowheads="1" noChangeAspect="1"/>
          </p:cNvSpPr>
          <p:nvPr/>
        </p:nvSpPr>
        <p:spPr bwMode="auto">
          <a:xfrm>
            <a:off x="6095999" y="3429000"/>
            <a:ext cx="304799" cy="304799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graphicFrame>
        <p:nvGraphicFramePr>
          <p:cNvPr id="2009245086" name="Таблица 7"/>
          <p:cNvGraphicFramePr>
            <a:graphicFrameLocks xmlns:a="http://schemas.openxmlformats.org/drawingml/2006/main"/>
          </p:cNvGraphicFramePr>
          <p:nvPr/>
        </p:nvGraphicFramePr>
        <p:xfrm>
          <a:off x="757928" y="1299297"/>
          <a:ext cx="10371341" cy="2011680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{21E4AEA4-8DFA-4A89-87EB-49C32662AFE0}</a:tableStyleId>
              </a:tblPr>
              <a:tblGrid>
                <a:gridCol w="697345"/>
                <a:gridCol w="921315"/>
                <a:gridCol w="1483007"/>
                <a:gridCol w="5876300"/>
                <a:gridCol w="1393370"/>
              </a:tblGrid>
              <a:tr h="0"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недели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Номер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Неделя выдачи</a:t>
                      </a:r>
                      <a:endParaRPr/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Наименование практики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Срок сдачи</a:t>
                      </a:r>
                      <a:endParaRPr lang="ru-RU" sz="1200" b="1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функционала системы.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2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marL="0" algn="just" defTabSz="914400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Описание функций системы через диаграмму вариантов использования.</a:t>
                      </a:r>
                      <a:endParaRPr lang="ru-RU" sz="1200">
                        <a:solidFill>
                          <a:schemeClr val="dk1"/>
                        </a:solidFill>
                        <a:latin typeface="Calibri"/>
                        <a:ea typeface="Arial"/>
                        <a:cs typeface="Arial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4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 анализа.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4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последовательности.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классов.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6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10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Диаграмма деятельности.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11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7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Построение UML – модели системы.  Диаграммы компонентов, развертывания.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8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12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Доклад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13-14 неделя</a:t>
                      </a:r>
                      <a:endParaRPr/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9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14 неделя</a:t>
                      </a:r>
                      <a:endParaRPr/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en-US" sz="1200"/>
                        <a:t>Проек</a:t>
                      </a:r>
                      <a:r>
                        <a:rPr lang="ru-RU" sz="1200"/>
                        <a:t>т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 algn="just">
                        <a:spcAft>
                          <a:spcPts val="0"/>
                        </a:spcAft>
                        <a:defRPr/>
                      </a:pPr>
                      <a:r>
                        <a:rPr lang="ru-RU" sz="1200"/>
                        <a:t>15-16 неделя</a:t>
                      </a:r>
                      <a:endParaRPr lang="ru-RU" sz="1200">
                        <a:latin typeface="Times New Roman"/>
                        <a:ea typeface="Droid Sans Fallback"/>
                        <a:cs typeface="FreeSans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Быстрое погружение в суть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8" y="1422399"/>
            <a:ext cx="9965871" cy="52069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25000" lnSpcReduction="15000"/>
          </a:bodyPr>
          <a:lstStyle/>
          <a:p>
            <a:pPr>
              <a:lnSpc>
                <a:spcPct val="150000"/>
              </a:lnSpc>
              <a:defRPr/>
            </a:pPr>
            <a:r>
              <a:rPr lang="ru-RU" sz="7200">
                <a:solidFill>
                  <a:srgbClr val="0E0E11"/>
                </a:solidFill>
                <a:latin typeface="Bender"/>
              </a:rPr>
              <a:t>Фундаментальными понятиями объектно-ориентированного подхода являются понятия </a:t>
            </a:r>
            <a:r>
              <a:rPr lang="ru-RU" sz="7200" b="1">
                <a:solidFill>
                  <a:srgbClr val="0E0E11"/>
                </a:solidFill>
                <a:latin typeface="Bender"/>
              </a:rPr>
              <a:t>объекта</a:t>
            </a:r>
            <a:r>
              <a:rPr lang="ru-RU" sz="7200">
                <a:solidFill>
                  <a:srgbClr val="0E0E11"/>
                </a:solidFill>
                <a:latin typeface="Bender"/>
              </a:rPr>
              <a:t> и </a:t>
            </a:r>
            <a:r>
              <a:rPr lang="ru-RU" sz="7200" b="1">
                <a:solidFill>
                  <a:srgbClr val="0E0E11"/>
                </a:solidFill>
                <a:latin typeface="Bender"/>
              </a:rPr>
              <a:t>класса</a:t>
            </a:r>
            <a:r>
              <a:rPr lang="ru-RU" sz="7200">
                <a:solidFill>
                  <a:srgbClr val="0E0E11"/>
                </a:solidFill>
                <a:latin typeface="Bender"/>
              </a:rPr>
              <a:t>, </a:t>
            </a:r>
            <a:r>
              <a:rPr lang="ru-RU" sz="7200">
                <a:solidFill>
                  <a:srgbClr val="0E0E11"/>
                </a:solidFill>
                <a:latin typeface="Bender"/>
              </a:rPr>
              <a:t>которые представляются абстракциями реальной или воображаемой сущности (набора сущностей). </a:t>
            </a:r>
            <a:endParaRPr lang="ru-RU" sz="7200">
              <a:solidFill>
                <a:srgbClr val="0E0E11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r>
              <a:rPr lang="ru-RU" sz="7200" b="1">
                <a:solidFill>
                  <a:srgbClr val="0E0E11"/>
                </a:solidFill>
                <a:latin typeface="Bender"/>
              </a:rPr>
              <a:t>Класс </a:t>
            </a:r>
            <a:r>
              <a:rPr lang="ru-RU" sz="7200" b="1">
                <a:solidFill>
                  <a:srgbClr val="0E0E11"/>
                </a:solidFill>
                <a:latin typeface="Bender"/>
              </a:rPr>
              <a:t>анализа </a:t>
            </a:r>
            <a:r>
              <a:rPr lang="ru-RU" sz="7200">
                <a:solidFill>
                  <a:srgbClr val="0E0E11"/>
                </a:solidFill>
                <a:latin typeface="Bender"/>
              </a:rPr>
              <a:t>– еще более абстрактная сущность, чем просто класс, представляет собой набор из одного или более классов. </a:t>
            </a:r>
            <a:r>
              <a:rPr lang="ru-RU" sz="7200">
                <a:solidFill>
                  <a:srgbClr val="0E0E11"/>
                </a:solidFill>
                <a:latin typeface="Bender"/>
              </a:rPr>
              <a:t>Таким образом, класс анализа – это укрупненная абстракция, которая на концептуальном уровне (без точного определения атрибутов и операций) описывает некоторый фрагмент системы</a:t>
            </a:r>
            <a:endParaRPr lang="ru-RU" sz="7200">
              <a:solidFill>
                <a:srgbClr val="0E0E11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endParaRPr lang="ru-RU" sz="7100" b="1">
              <a:solidFill>
                <a:srgbClr val="0E0E11"/>
              </a:solidFill>
              <a:latin typeface="Bender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r>
              <a:rPr lang="ru-RU" sz="7100">
                <a:solidFill>
                  <a:srgbClr val="0E0E11"/>
                </a:solidFill>
                <a:latin typeface="Bender"/>
              </a:rPr>
              <a:t>Это сложно. Если проще, то</a:t>
            </a:r>
            <a:r>
              <a:rPr lang="ru-RU" sz="7100">
                <a:solidFill>
                  <a:srgbClr val="0E0E11"/>
                </a:solidFill>
                <a:latin typeface="Bender"/>
              </a:rPr>
              <a:t>…</a:t>
            </a:r>
            <a:endParaRPr lang="ru-RU" sz="7100" b="1">
              <a:solidFill>
                <a:srgbClr val="0E0E11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endParaRPr lang="ru-RU" sz="3600" b="1">
              <a:solidFill>
                <a:srgbClr val="0E0E11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r>
              <a:rPr lang="ru-RU" sz="7100" b="1">
                <a:solidFill>
                  <a:srgbClr val="0E0E11"/>
                </a:solidFill>
                <a:latin typeface="Bender"/>
              </a:rPr>
              <a:t>Класс анализа </a:t>
            </a:r>
            <a:r>
              <a:rPr lang="ru-RU" sz="7100">
                <a:solidFill>
                  <a:srgbClr val="0E0E11"/>
                </a:solidFill>
                <a:latin typeface="Bender"/>
              </a:rPr>
              <a:t>– </a:t>
            </a:r>
            <a:r>
              <a:rPr lang="ru-RU" sz="7100">
                <a:solidFill>
                  <a:srgbClr val="0E0E11"/>
                </a:solidFill>
                <a:latin typeface="Bender"/>
              </a:rPr>
              <a:t>это укрупненная абстракция, которая на концептуальном уровне (без точного определения атрибутов и операций) описывает некоторый фрагмент системы. </a:t>
            </a:r>
            <a:endParaRPr lang="ru-RU" sz="7100">
              <a:solidFill>
                <a:srgbClr val="0E0E11"/>
              </a:solidFill>
              <a:latin typeface="Bender"/>
            </a:endParaRPr>
          </a:p>
          <a:p>
            <a:pPr>
              <a:lnSpc>
                <a:spcPct val="150000"/>
              </a:lnSpc>
              <a:defRPr/>
            </a:pPr>
            <a:endParaRPr lang="ru-RU" sz="7100">
              <a:solidFill>
                <a:srgbClr val="0E0E11"/>
              </a:solidFill>
              <a:latin typeface="Bender"/>
            </a:endParaRPr>
          </a:p>
          <a:p>
            <a:pPr marL="0" indent="0">
              <a:lnSpc>
                <a:spcPct val="150000"/>
              </a:lnSpc>
              <a:buNone/>
              <a:defRPr/>
            </a:pPr>
            <a:endParaRPr lang="ru-RU" sz="7100">
              <a:solidFill>
                <a:srgbClr val="0E0E11"/>
              </a:solidFill>
              <a:latin typeface="Bende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А попроще?</a:t>
            </a:r>
            <a:endParaRPr lang="en-US"/>
          </a:p>
        </p:txBody>
      </p:sp>
      <p:pic>
        <p:nvPicPr>
          <p:cNvPr id="1030" name="Picture 6" descr="недорисованная лошадь - Все шаблоны - Создать мем - Meme-arsenal.com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639945" y="3220633"/>
            <a:ext cx="4276237" cy="3474442"/>
          </a:xfrm>
          <a:prstGeom prst="rect">
            <a:avLst/>
          </a:prstGeom>
          <a:noFill/>
        </p:spPr>
      </p:pic>
      <p:sp>
        <p:nvSpPr>
          <p:cNvPr id="7" name="Объект 2"/>
          <p:cNvSpPr txBox="1"/>
          <p:nvPr/>
        </p:nvSpPr>
        <p:spPr bwMode="auto">
          <a:xfrm>
            <a:off x="6576646" y="1848827"/>
            <a:ext cx="54951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ru-RU">
                <a:solidFill>
                  <a:srgbClr val="0E0E11"/>
                </a:solidFill>
                <a:latin typeface="Bender"/>
              </a:rPr>
              <a:t>Диаграмма </a:t>
            </a:r>
            <a:r>
              <a:rPr lang="ru-RU" b="1">
                <a:solidFill>
                  <a:srgbClr val="0E0E11"/>
                </a:solidFill>
                <a:latin typeface="Bender"/>
              </a:rPr>
              <a:t>классов анализа</a:t>
            </a:r>
            <a:r>
              <a:rPr lang="ru-RU">
                <a:solidFill>
                  <a:srgbClr val="0E0E11"/>
                </a:solidFill>
                <a:latin typeface="Bender"/>
              </a:rPr>
              <a:t> </a:t>
            </a:r>
            <a:endParaRPr lang="en-US"/>
          </a:p>
        </p:txBody>
      </p:sp>
      <p:sp>
        <p:nvSpPr>
          <p:cNvPr id="8" name="Объект 2"/>
          <p:cNvSpPr txBox="1"/>
          <p:nvPr/>
        </p:nvSpPr>
        <p:spPr bwMode="auto">
          <a:xfrm>
            <a:off x="434000" y="1825625"/>
            <a:ext cx="499989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ru-RU">
                <a:solidFill>
                  <a:srgbClr val="0E0E11"/>
                </a:solidFill>
                <a:latin typeface="Bender"/>
              </a:rPr>
              <a:t>Диаграмма классов</a:t>
            </a:r>
            <a:endParaRPr/>
          </a:p>
          <a:p>
            <a:pPr>
              <a:defRPr/>
            </a:pPr>
            <a:endParaRPr lang="en-US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31949" y="2631661"/>
            <a:ext cx="2467319" cy="243874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248138" y="2544893"/>
            <a:ext cx="2302754" cy="21150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Диаграмма классов анализа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solidFill>
                  <a:srgbClr val="0E0E11"/>
                </a:solidFill>
                <a:latin typeface="Bender"/>
              </a:rPr>
              <a:t>Диаграмма </a:t>
            </a:r>
            <a:r>
              <a:rPr lang="ru-RU" b="1">
                <a:solidFill>
                  <a:srgbClr val="0E0E11"/>
                </a:solidFill>
                <a:latin typeface="Bender"/>
              </a:rPr>
              <a:t>классов анализа</a:t>
            </a:r>
            <a:r>
              <a:rPr lang="ru-RU">
                <a:solidFill>
                  <a:srgbClr val="0E0E11"/>
                </a:solidFill>
                <a:latin typeface="Bender"/>
              </a:rPr>
              <a:t> предназначена для определения внутренней архитектуры системы и состоит из ограниченного количества графических элементов (классов </a:t>
            </a:r>
            <a:r>
              <a:rPr lang="ru-RU">
                <a:solidFill>
                  <a:srgbClr val="0E0E11"/>
                </a:solidFill>
                <a:latin typeface="Bender"/>
              </a:rPr>
              <a:t>анализа / стереотипов).</a:t>
            </a:r>
            <a:endParaRPr/>
          </a:p>
          <a:p>
            <a:pPr>
              <a:defRPr/>
            </a:pPr>
            <a:r>
              <a:rPr lang="ru-RU"/>
              <a:t>Существует три вида классов анализа: </a:t>
            </a:r>
            <a:br>
              <a:rPr lang="ru-RU"/>
            </a:br>
            <a:r>
              <a:rPr lang="ru-RU"/>
              <a:t>• </a:t>
            </a:r>
            <a:r>
              <a:rPr lang="ru-RU"/>
              <a:t>граничный; </a:t>
            </a:r>
            <a:br>
              <a:rPr lang="ru-RU"/>
            </a:br>
            <a:r>
              <a:rPr lang="ru-RU"/>
              <a:t>• </a:t>
            </a:r>
            <a:r>
              <a:rPr lang="ru-RU"/>
              <a:t>управляющий; </a:t>
            </a:r>
            <a:br>
              <a:rPr lang="ru-RU"/>
            </a:br>
            <a:r>
              <a:rPr lang="ru-RU"/>
              <a:t>• </a:t>
            </a:r>
            <a:r>
              <a:rPr lang="ru-RU"/>
              <a:t>сущности.</a:t>
            </a:r>
            <a:endParaRPr lang="ru-RU">
              <a:solidFill>
                <a:srgbClr val="0E0E11"/>
              </a:solidFill>
              <a:latin typeface="Bender"/>
            </a:endParaRPr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Состав диаграммы</a:t>
            </a:r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00149" y="2012869"/>
            <a:ext cx="1398043" cy="7112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 bwMode="auto">
          <a:xfrm>
            <a:off x="2048112" y="1906846"/>
            <a:ext cx="53856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ru-RU" b="1"/>
              <a:t>Граничный класс</a:t>
            </a:r>
            <a:endParaRPr/>
          </a:p>
          <a:p>
            <a:pPr>
              <a:defRPr/>
            </a:pPr>
            <a:r>
              <a:rPr lang="ru-RU"/>
              <a:t>Показывает способ связи пользователя с ПО</a:t>
            </a:r>
            <a:endParaRPr/>
          </a:p>
          <a:p>
            <a:pPr>
              <a:defRPr/>
            </a:pPr>
            <a:r>
              <a:rPr lang="ru-RU"/>
              <a:t>Диалоговые окна, модальные окна, да хоть монитор</a:t>
            </a:r>
            <a:endParaRPr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5409" y="3329523"/>
            <a:ext cx="867521" cy="9726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 bwMode="auto">
          <a:xfrm>
            <a:off x="2048112" y="3154189"/>
            <a:ext cx="48195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/>
              <a:t>Управляющий класс</a:t>
            </a:r>
            <a:endParaRPr/>
          </a:p>
          <a:p>
            <a:pPr>
              <a:defRPr/>
            </a:pPr>
            <a:r>
              <a:rPr lang="ru-RU"/>
              <a:t>Отвечает за координацию, взаимодействие и управление другими объектами, выполняет сложные вычисления, управляет безопасностью, транзакциями и т. п.</a:t>
            </a:r>
            <a:endParaRPr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65409" y="5174179"/>
            <a:ext cx="867521" cy="81794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auto">
          <a:xfrm>
            <a:off x="2048112" y="5013532"/>
            <a:ext cx="511277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1"/>
              <a:t>Сущность</a:t>
            </a:r>
            <a:br>
              <a:rPr lang="ru-RU"/>
            </a:br>
            <a:r>
              <a:rPr lang="ru-RU"/>
              <a:t>Используется для моделирования долгоживущей, нередко сохраняемой информации. Классы сущности являются абстракциями основных понятий предметной области – людей, объектов, документов и т. д.</a:t>
            </a:r>
            <a:endParaRPr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169827" y="1715713"/>
            <a:ext cx="828791" cy="14384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 bwMode="auto">
          <a:xfrm>
            <a:off x="9170376" y="1973286"/>
            <a:ext cx="28119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b="1"/>
              <a:t>Актёр</a:t>
            </a:r>
            <a:endParaRPr lang="ru-RU" b="1"/>
          </a:p>
          <a:p>
            <a:pPr>
              <a:defRPr/>
            </a:pPr>
            <a:r>
              <a:rPr lang="ru-RU"/>
              <a:t>Его вы уже знаете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Связи между </a:t>
            </a:r>
            <a:r>
              <a:rPr lang="ru-RU"/>
              <a:t>классами анализа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  <a:defRPr/>
            </a:pPr>
            <a:r>
              <a:rPr lang="ru-RU"/>
              <a:t>Связи между классами анализа отображаются с использованием отношений пяти видов: </a:t>
            </a:r>
            <a:endParaRPr lang="ru-RU"/>
          </a:p>
          <a:p>
            <a:pPr>
              <a:lnSpc>
                <a:spcPct val="150000"/>
              </a:lnSpc>
              <a:defRPr/>
            </a:pPr>
            <a:r>
              <a:rPr lang="ru-RU"/>
              <a:t> </a:t>
            </a:r>
            <a:r>
              <a:rPr lang="ru-RU"/>
              <a:t>ассоциаций; </a:t>
            </a:r>
            <a:endParaRPr lang="ru-RU"/>
          </a:p>
          <a:p>
            <a:pPr>
              <a:lnSpc>
                <a:spcPct val="150000"/>
              </a:lnSpc>
              <a:defRPr/>
            </a:pPr>
            <a:r>
              <a:rPr lang="ru-RU"/>
              <a:t> наследованием (обобщением); 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/>
              <a:t> зависимостью; 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/>
              <a:t> агрегацией; </a:t>
            </a:r>
            <a:endParaRPr/>
          </a:p>
          <a:p>
            <a:pPr>
              <a:lnSpc>
                <a:spcPct val="150000"/>
              </a:lnSpc>
              <a:defRPr/>
            </a:pPr>
            <a:r>
              <a:rPr lang="ru-RU"/>
              <a:t> композицией.</a:t>
            </a:r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230816" y="3245827"/>
            <a:ext cx="3124200" cy="1790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Отношение </a:t>
            </a:r>
            <a:r>
              <a:rPr lang="ru-RU"/>
              <a:t>Ассоциация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1831975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ru-RU" b="1" i="1"/>
              <a:t>Отношение ассоциации </a:t>
            </a:r>
            <a:r>
              <a:rPr lang="ru-RU"/>
              <a:t>применительно к диаграмме классов анализа показывает, что объекты одного класса содержат информацию о существовании (наличии в памяти) объектов другого класса и между ними имеется некоторая логическая или семантическая связь. Если ассоциация указана сплошной линией без стрелок или в виде двунаправленной стрелки, то объекты одного класса будут содержать ссылку на объекты другого и наоборот. Если ассоциация указана однонаправленной стрелкой, то ссылка будет содержаться только в объектах класса, из которого исходит стрелка. Отношение ассоциации может указываться между классами анализа как одного, так и разных типов.</a:t>
            </a:r>
            <a:endParaRPr lang="en-US"/>
          </a:p>
        </p:txBody>
      </p:sp>
      <p:pic>
        <p:nvPicPr>
          <p:cNvPr id="3074" name="Picture 2" descr="http://drive.google.com/thumbnail?sz=w5000&amp;&amp;id=103iJnN-ZXeAIgZfBGdSnCoA9LsNEBVP-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201859" y="3792536"/>
            <a:ext cx="5753100" cy="26955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Отношение </a:t>
            </a:r>
            <a:r>
              <a:rPr lang="ru-RU"/>
              <a:t>Обобщение / наследование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Указывает, что потомок наследует все атрибуты своего предка</a:t>
            </a:r>
            <a:r>
              <a:rPr lang="ru-RU"/>
              <a:t>.</a:t>
            </a:r>
            <a:r>
              <a:rPr lang="en-US"/>
              <a:t> </a:t>
            </a:r>
            <a:r>
              <a:rPr lang="ru-RU"/>
              <a:t>Отношение обобщения может быть только между классами одного вида.</a:t>
            </a:r>
            <a:endParaRPr lang="en-US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976687" y="3620233"/>
            <a:ext cx="4238625" cy="1514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Отношение Зависимость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825625"/>
            <a:ext cx="10515600" cy="1190137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ru-RU"/>
              <a:t>Отношение </a:t>
            </a:r>
            <a:r>
              <a:rPr lang="ru-RU"/>
              <a:t> означает, что в спецификации или теле методов объектов одного класса (зависимого) выполняется обращение к атрибутам, методам или непосредственно к объектам другого класса (независимого).</a:t>
            </a:r>
            <a:endParaRPr lang="en-US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812633" y="3531834"/>
            <a:ext cx="4267796" cy="15527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Отношение Агрегация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500310"/>
            <a:ext cx="10515600" cy="1990237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ru-RU" b="1" i="1"/>
              <a:t>Отношение </a:t>
            </a:r>
            <a:r>
              <a:rPr lang="ru-RU" b="1" i="1"/>
              <a:t>агрегации</a:t>
            </a:r>
            <a:r>
              <a:rPr lang="ru-RU"/>
              <a:t> указывает на отношение «часть–целое» и отображается сплошной линией с </a:t>
            </a:r>
            <a:r>
              <a:rPr lang="ru-RU"/>
              <a:t>незакращенным</a:t>
            </a:r>
            <a:r>
              <a:rPr lang="ru-RU"/>
              <a:t> ромбиком со стороны «целого». Данное отношение, как и ассоциация, означает, что «объект–целое» содержит ссылку на «объект–часть». «Объект–часть» также может содержать ссылку на «объект–целое». Агрегация может указываться только между классами одного типа.</a:t>
            </a:r>
            <a:endParaRPr lang="en-US"/>
          </a:p>
        </p:txBody>
      </p:sp>
      <p:pic>
        <p:nvPicPr>
          <p:cNvPr id="5124" name="Picture 4" descr="http://drive.google.com/thumbnail?sz=w5000&amp;&amp;id=1tTaBAWQNcMeLIUTgiC3mNWxHqM1nihsr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960322" y="3757368"/>
            <a:ext cx="5827447" cy="226536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Отношение Композиция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838200" y="1582615"/>
            <a:ext cx="10515600" cy="2057401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ru-RU"/>
              <a:t>Аналогично агрегации</a:t>
            </a:r>
            <a:r>
              <a:rPr lang="ru-RU"/>
              <a:t>, в которой «части» не могут существовать отдельно от «целого». Применительно к классам (объектам) это означает, что при уничтожении объекта-«целого» должны быть уничтожены все связанные с ним объекты-«части». При этом допускается создание объектов-«частей» намного позже или уничтожение намного ранее объекта-«целого</a:t>
            </a:r>
            <a:r>
              <a:rPr lang="ru-RU"/>
              <a:t>».</a:t>
            </a:r>
            <a:endParaRPr lang="ru-RU"/>
          </a:p>
        </p:txBody>
      </p:sp>
      <p:pic>
        <p:nvPicPr>
          <p:cNvPr id="6146" name="Picture 2" descr="https://studfile.net/html/48724/112/html_F_S2XGPoTm.bOvI/htmlconvd-ke3g_t_html_242ded1811f2ef95.pn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558199" y="3730623"/>
            <a:ext cx="4591050" cy="28670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18" name="Picture 2" descr="https://scilead.ru/media/ckeditor_uploads/2023/05/15/image_kpeCeHm.pn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81951" y="1843087"/>
            <a:ext cx="9623410" cy="4491648"/>
          </a:xfrm>
          <a:prstGeom prst="rect">
            <a:avLst/>
          </a:prstGeom>
          <a:noFill/>
        </p:spPr>
      </p:pic>
      <p:sp>
        <p:nvSpPr>
          <p:cNvPr id="6" name="Заголовок 1"/>
          <p:cNvSpPr txBox="1"/>
          <p:nvPr/>
        </p:nvSpPr>
        <p:spPr bwMode="auto"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Пример диаграммы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Чтобы мозг закипел…</a:t>
            </a:r>
            <a:endParaRPr lang="ru-RU"/>
          </a:p>
        </p:txBody>
      </p:sp>
      <p:pic>
        <p:nvPicPr>
          <p:cNvPr id="8194" name="Picture 2" descr="Мемы Человек паук показывает на человека паука 31 фото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3859821" y="3069309"/>
            <a:ext cx="4085737" cy="2690151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 bwMode="auto">
          <a:xfrm>
            <a:off x="1375949" y="3662216"/>
            <a:ext cx="2920181" cy="15043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 b="1"/>
              <a:t>Диаграмма классов анализа</a:t>
            </a:r>
            <a:endParaRPr/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7421747" y="3711708"/>
            <a:ext cx="2920181" cy="150433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ru-RU"/>
              <a:t>Диаграмма классов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rot="16199998">
            <a:off x="-3909647" y="681647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Пример </a:t>
            </a:r>
            <a:r>
              <a:rPr lang="ru-RU"/>
              <a:t>диаграммы</a:t>
            </a:r>
            <a:br>
              <a:rPr lang="ru-RU"/>
            </a:br>
            <a:r>
              <a:rPr lang="ru-RU"/>
              <a:t> </a:t>
            </a:r>
            <a:r>
              <a:rPr lang="ru-RU" b="1"/>
              <a:t>классов анализа</a:t>
            </a:r>
            <a:endParaRPr lang="en-US" b="1"/>
          </a:p>
        </p:txBody>
      </p:sp>
      <p:pic>
        <p:nvPicPr>
          <p:cNvPr id="7170" name="Picture 2" descr="https://studfile.net/html/72024/253/html_xagszVyFNU.jrjP/htmlconvd-JUY9pu_html_4110d04e3912f831.jp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163764" y="12628"/>
            <a:ext cx="9826869" cy="684537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rot="16199998">
            <a:off x="-4914332" y="710679"/>
            <a:ext cx="105156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000"/>
              <a:t>Пример </a:t>
            </a:r>
            <a:r>
              <a:rPr lang="ru-RU" sz="4000"/>
              <a:t>диаграммы </a:t>
            </a:r>
            <a:r>
              <a:rPr lang="ru-RU" sz="4000" b="1"/>
              <a:t>классов</a:t>
            </a:r>
            <a:endParaRPr lang="en-US" sz="4000" b="1"/>
          </a:p>
        </p:txBody>
      </p:sp>
      <p:pic>
        <p:nvPicPr>
          <p:cNvPr id="10242" name="Picture 2" descr="https://studfile.net/html/72024/253/html_xagszVyFNU.jrjP/htmlconvd-JUY9pu_html_bd767a9c9a04bc78.jpg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578170" y="0"/>
            <a:ext cx="11613830" cy="68580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Практическая работа 3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514350" indent="-514350">
              <a:buAutoNum type="arabicPeriod"/>
              <a:defRPr/>
            </a:pPr>
            <a:r>
              <a:rPr lang="ru-RU">
                <a:solidFill>
                  <a:srgbClr val="000000"/>
                </a:solidFill>
                <a:latin typeface="Times New Roman"/>
              </a:rPr>
              <a:t>Построить диаграмму классов анализа рассматриваемой системы с учетом индивидуального варианта учебного проекта</a:t>
            </a:r>
            <a:r>
              <a:rPr lang="ru-RU">
                <a:solidFill>
                  <a:srgbClr val="000000"/>
                </a:solidFill>
                <a:latin typeface="Times New Roman"/>
              </a:rPr>
              <a:t>.</a:t>
            </a:r>
            <a:endParaRPr/>
          </a:p>
          <a:p>
            <a:pPr marL="514350" indent="-514350">
              <a:buAutoNum type="arabicPeriod"/>
              <a:defRPr/>
            </a:pPr>
            <a:endParaRPr lang="ru-RU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ru-RU" i="1">
                <a:solidFill>
                  <a:srgbClr val="000000"/>
                </a:solidFill>
                <a:latin typeface="Times New Roman"/>
              </a:rPr>
              <a:t>Пожалуйста, изучите файл задания, содержащий особенности построения диаграммы! Там целый лист А4, который я решил не выносить в презентацию. </a:t>
            </a:r>
            <a:br>
              <a:rPr lang="ru-RU">
                <a:solidFill>
                  <a:srgbClr val="000000"/>
                </a:solidFill>
                <a:latin typeface="Times New Roman"/>
              </a:rPr>
            </a:br>
            <a:endParaRPr lang="ru-RU">
              <a:solidFill>
                <a:srgbClr val="000000"/>
              </a:solidFill>
              <a:latin typeface="Times New Roman"/>
            </a:endParaRPr>
          </a:p>
          <a:p>
            <a:pPr marL="0" indent="0">
              <a:buNone/>
              <a:defRPr/>
            </a:pPr>
            <a:r>
              <a:rPr lang="ru-RU">
                <a:solidFill>
                  <a:srgbClr val="000000"/>
                </a:solidFill>
                <a:latin typeface="Times New Roman"/>
              </a:rPr>
              <a:t>Результат работы: стандартный отчет, содержащий построенную диаграмму и текстовое описание к ней.</a:t>
            </a:r>
            <a:endParaRPr lang="ru-RU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918325" y="6216134"/>
            <a:ext cx="6096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>
                <a:solidFill>
                  <a:srgbClr val="FF0000"/>
                </a:solidFill>
                <a:latin typeface="Times New Roman"/>
              </a:rPr>
              <a:t>Время выполнения: 1 </a:t>
            </a:r>
            <a:r>
              <a:rPr lang="ru-RU">
                <a:solidFill>
                  <a:srgbClr val="FF0000"/>
                </a:solidFill>
                <a:latin typeface="Times New Roman"/>
              </a:rPr>
              <a:t>пара, сдача на следующей паре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r7-office/2024.3.2.622</Application>
  <DocSecurity>0</DocSecurity>
  <PresentationFormat>Широкоэкранный</PresentationFormat>
  <Paragraphs>0</Paragraphs>
  <Slides>18</Slides>
  <Notes>18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Microsoft Office User</dc:creator>
  <cp:keywords/>
  <dc:description/>
  <dc:identifier/>
  <dc:language/>
  <cp:lastModifiedBy>Anonymous</cp:lastModifiedBy>
  <cp:revision>18</cp:revision>
  <dcterms:created xsi:type="dcterms:W3CDTF">2025-01-14T16:36:25Z</dcterms:created>
  <dcterms:modified xsi:type="dcterms:W3CDTF">2025-03-10T08:22:32Z</dcterms:modified>
  <cp:category/>
  <cp:contentStatus/>
  <cp:version/>
</cp:coreProperties>
</file>