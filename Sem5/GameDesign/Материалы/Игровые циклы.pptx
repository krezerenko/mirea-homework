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sldIdLst>
    <p:sldId id="273" r:id="rId2"/>
    <p:sldId id="275" r:id="rId3"/>
    <p:sldId id="274" r:id="rId4"/>
    <p:sldId id="276" r:id="rId5"/>
    <p:sldId id="280" r:id="rId6"/>
    <p:sldId id="279" r:id="rId7"/>
    <p:sldId id="281" r:id="rId8"/>
    <p:sldId id="282" r:id="rId9"/>
    <p:sldId id="267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0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7ADFA-76A5-424D-89D0-9B4F25CC35BC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43544-B95F-4FFB-901B-9464C17D52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465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D5DCA-C88B-3512-ECE8-CECE44A01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609A4F-7D6E-DB4F-C1C0-C6EA5FCB6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97DF5F-2914-5150-EB74-0B5B5020F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9CED-5AA8-455E-A1B1-F72960B44AA5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979A1D-11F2-4510-7DBA-2983DF2A9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E21172-D325-6FAE-C5B2-FF97D7F8F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44FF-DE14-4962-953B-48E75FDBB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8569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0D4CAE-47AE-FE5E-A1F4-DE94AC69F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C892A5-3469-56A7-1F1D-768F1ACF6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3A7DF8-1585-C90A-7589-B8415E4CC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9CED-5AA8-455E-A1B1-F72960B44AA5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012CD6-298B-A21A-5C09-DCFB4F7B5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0EA478-536E-E6D9-D660-F72545E5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44FF-DE14-4962-953B-48E75FDBB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96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A1E01A-78E6-0FCC-C70A-210590707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2C7B82-9610-E4F6-9C7E-31EC68E35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CF37ED-94C8-5C7A-ED94-3024B520D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9CED-5AA8-455E-A1B1-F72960B44AA5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6AD266-15D7-ED9B-CA8B-E2446FDBD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DC178C-B624-5C77-B37D-B227B3E0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44FF-DE14-4962-953B-48E75FDBB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696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43302-39C8-82F2-A0A6-4BED9DA42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AFA782-C789-AAC6-A397-A2243F7AAD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1894E1B-ADF8-8290-69A2-0DD6AE9EB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7D0D48-B0D7-3212-21C9-BD105F32B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9CED-5AA8-455E-A1B1-F72960B44AA5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AC68EF-9E72-24D4-72F4-A1F064733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B2B326-2CF6-8930-92DE-C905AF7D9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44FF-DE14-4962-953B-48E75FDBB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107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A62C2D-4925-ACE9-899A-ACA71EDC5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5F344F-662D-9174-FEDD-84B7151B3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31C14ED-3967-B2CB-E0E7-424234088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8650827-C8C0-A6F9-C8DA-E067793BAE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667962C-6BD8-FA9D-E843-7D3803C6A4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25F3050-FCB9-8A34-78D0-234E325BC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9CED-5AA8-455E-A1B1-F72960B44AA5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7778D38-1480-6542-6399-277812017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8D57326-DD08-1362-5FA1-EA3556B2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44FF-DE14-4962-953B-48E75FDBB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744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51FFA-A746-E5F5-86BD-617B3A4C5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3970A6-C759-711A-98EC-4C7823CD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9CED-5AA8-455E-A1B1-F72960B44AA5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213E5B5-91F3-53CD-23DD-086360EF6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839A870-6863-2FDA-4170-5C7925BD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44FF-DE14-4962-953B-48E75FDBB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15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0A0591B-252D-E35F-289F-412C37AC3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9CED-5AA8-455E-A1B1-F72960B44AA5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B645C62-5A63-01C8-0067-5FDBE1D8E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6A113F-A188-9EDB-22B8-5F1FC43F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44FF-DE14-4962-953B-48E75FDBB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2252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E241AB-BF33-8C91-25C3-5F7C2D9FC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4E5C58-BF2C-2D1B-6124-4B1672E7B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7DAECA-050D-64DC-627F-28D6AF506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EB67A6-2F35-CD88-D08A-3B5DA5D31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9CED-5AA8-455E-A1B1-F72960B44AA5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47EB8A-4BC5-2222-F90A-B06DA1EEE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8A962D-4BA5-D70B-6D95-85B0D1BCF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44FF-DE14-4962-953B-48E75FDBB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2600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8A84A0-6833-2BD2-0B99-094FF68D9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5B5CD3E-266A-F843-D807-42C0C3155A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174F122-5C34-9FF4-4852-751D47E57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37F846-66BA-B02E-3C90-99A5390C8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9CED-5AA8-455E-A1B1-F72960B44AA5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57F76F-D223-DC6C-596E-E4509CF0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C547B2-2EED-A6DC-43ED-008CEED23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44FF-DE14-4962-953B-48E75FDBB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190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53DC0F-406B-BDD0-F60C-47FA3CD2A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04DE70-42A7-E0A7-D85D-7EDAEDD8A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7E7B85-C6F0-27AF-4C8B-9028A5F30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9CED-5AA8-455E-A1B1-F72960B44AA5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35E748-8266-8D17-35D5-05BD4BA6E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9ADC23-548F-834B-0A50-077E1554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44FF-DE14-4962-953B-48E75FDBB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279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9D6CF3A-2C5E-9D98-2621-68DF630945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982FB0-C4BC-EAD8-35E6-BFD8B8049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9BC53E-BE44-84CA-C4D5-AC724C990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E9CED-5AA8-455E-A1B1-F72960B44AA5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0BF9A7-E32D-52AC-4260-B73827FF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C8FE7A-5BBA-D149-8AA1-B85772F33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144FF-DE14-4962-953B-48E75FDBB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323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B7103A-EBB9-A603-DCD5-DBFDB055A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482D39-62A5-E77F-81EE-EC617E5FC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BB4309-240F-8DE3-429B-8C594004B4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E9CED-5AA8-455E-A1B1-F72960B44AA5}" type="datetimeFigureOut">
              <a:rPr lang="ru-RU" smtClean="0"/>
              <a:t>06.02.2024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D22087-0BB1-850F-91B9-69FD45445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E170F3-FFED-7295-BBD5-4CC6A4015C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144FF-DE14-4962-953B-48E75FDBB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7044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ACC941C-1743-4C46-9B57-14EC10E85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351" y="0"/>
            <a:ext cx="4819650" cy="6855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2CF860-33E5-4D22-B787-AFC3FA17C93C}"/>
              </a:ext>
            </a:extLst>
          </p:cNvPr>
          <p:cNvSpPr txBox="1"/>
          <p:nvPr/>
        </p:nvSpPr>
        <p:spPr>
          <a:xfrm>
            <a:off x="457201" y="3715940"/>
            <a:ext cx="56387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“Люди не любят хаос. Нам нравится порядок – не строгая система, но некая стабильная структура, в рамках которой возможны незначительные изменения”.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8A3364E-8D82-4304-804D-D27D318E7015}"/>
              </a:ext>
            </a:extLst>
          </p:cNvPr>
          <p:cNvSpPr/>
          <p:nvPr/>
        </p:nvSpPr>
        <p:spPr>
          <a:xfrm>
            <a:off x="4819650" y="5473481"/>
            <a:ext cx="23509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Рэф Костер</a:t>
            </a:r>
            <a:endParaRPr lang="ru-RU" sz="3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57829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ADD662-862D-4C59-9CCD-7D55B799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Почему игры развлечение?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70D0F0-7C5C-4036-8E63-6C306DB96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Игры – упрощенная модель реальности</a:t>
            </a:r>
          </a:p>
          <a:p>
            <a:r>
              <a:rPr lang="ru-RU" dirty="0"/>
              <a:t>Её легко разбить на паттерны</a:t>
            </a:r>
          </a:p>
          <a:p>
            <a:r>
              <a:rPr lang="ru-RU" dirty="0"/>
              <a:t>Проще обучаться</a:t>
            </a:r>
          </a:p>
          <a:p>
            <a:r>
              <a:rPr lang="ru-RU" dirty="0"/>
              <a:t>Больше удовольствия</a:t>
            </a:r>
          </a:p>
        </p:txBody>
      </p:sp>
    </p:spTree>
    <p:extLst>
      <p:ext uri="{BB962C8B-B14F-4D97-AF65-F5344CB8AC3E}">
        <p14:creationId xmlns:p14="http://schemas.microsoft.com/office/powerpoint/2010/main" val="34666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9B47F-6042-4C4D-9887-0D1E89406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Игровые циклы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B38CD4-F3AF-44CE-B7CD-4531EEE011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10" r="19127"/>
          <a:stretch/>
        </p:blipFill>
        <p:spPr bwMode="auto">
          <a:xfrm>
            <a:off x="6096000" y="871537"/>
            <a:ext cx="5875199" cy="574357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889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843380-6B69-4A50-968D-6EC2C5DB2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Игровые циклы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9D668C-BBF0-4271-8B7A-CD5876C86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Игровые циклы — это повторение одних и тех же действий раз за разом. В надежде на изменение — это и есть игровые циклы.</a:t>
            </a:r>
          </a:p>
          <a:p>
            <a:r>
              <a:rPr lang="ru-RU" dirty="0"/>
              <a:t>Повторяющая последовательность действий – закономерность (паттерн), которая легко поддаётся изучению игроку.</a:t>
            </a:r>
          </a:p>
          <a:p>
            <a:r>
              <a:rPr lang="ru-RU" dirty="0"/>
              <a:t>Игровые действия перераспределяют ресурсы</a:t>
            </a:r>
          </a:p>
          <a:p>
            <a:endParaRPr lang="ru-RU" dirty="0"/>
          </a:p>
        </p:txBody>
      </p:sp>
      <p:pic>
        <p:nvPicPr>
          <p:cNvPr id="4" name="Рисунок 3" descr="undefined">
            <a:extLst>
              <a:ext uri="{FF2B5EF4-FFF2-40B4-BE49-F238E27FC236}">
                <a16:creationId xmlns:a16="http://schemas.microsoft.com/office/drawing/2014/main" id="{2A0A3F7E-FF21-413D-99AF-CF7BB7EE429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5556" y="4276542"/>
            <a:ext cx="4560888" cy="22163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9861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03B4D4-535F-468A-8CB3-72DA16A6E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9765A9-A724-450A-A17D-40BE1F566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Показывает связь механик в игре</a:t>
            </a:r>
          </a:p>
          <a:p>
            <a:r>
              <a:rPr lang="ru-RU" dirty="0"/>
              <a:t>Показывает последовательность механик в игре</a:t>
            </a:r>
          </a:p>
          <a:p>
            <a:r>
              <a:rPr lang="ru-RU" dirty="0"/>
              <a:t>Позволяет анализировать систему механик</a:t>
            </a:r>
          </a:p>
          <a:p>
            <a:r>
              <a:rPr lang="ru-RU" dirty="0"/>
              <a:t>Игроку легче находить паттерны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4877F43-29EE-44D2-81C9-89F997058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809" y="3300413"/>
            <a:ext cx="4515759" cy="338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39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84F6F48-28E0-44BC-9020-37CDEC9EA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Core</a:t>
            </a:r>
            <a:r>
              <a:rPr lang="ru-RU" dirty="0"/>
              <a:t> </a:t>
            </a:r>
            <a:r>
              <a:rPr lang="ru-RU" dirty="0" err="1"/>
              <a:t>gameplay</a:t>
            </a:r>
            <a:r>
              <a:rPr lang="ru-RU" dirty="0"/>
              <a:t> - это самые важные и ключевые виды </a:t>
            </a:r>
            <a:r>
              <a:rPr lang="ru-RU" dirty="0" err="1"/>
              <a:t>геймпла</a:t>
            </a:r>
            <a:r>
              <a:rPr lang="ru-RU" dirty="0"/>
              <a:t> в игре. Построен на </a:t>
            </a:r>
            <a:r>
              <a:rPr lang="en-US" dirty="0"/>
              <a:t>Core </a:t>
            </a:r>
            <a:r>
              <a:rPr lang="ru-RU" dirty="0"/>
              <a:t>механиках.</a:t>
            </a:r>
          </a:p>
          <a:p>
            <a:r>
              <a:rPr lang="ru-RU" dirty="0" err="1"/>
              <a:t>Core</a:t>
            </a:r>
            <a:r>
              <a:rPr lang="ru-RU" dirty="0"/>
              <a:t> </a:t>
            </a:r>
            <a:r>
              <a:rPr lang="ru-RU" dirty="0" err="1"/>
              <a:t>gameplay</a:t>
            </a:r>
            <a:r>
              <a:rPr lang="ru-RU" dirty="0"/>
              <a:t> </a:t>
            </a:r>
            <a:r>
              <a:rPr lang="ru-RU" dirty="0" err="1"/>
              <a:t>loop</a:t>
            </a:r>
            <a:r>
              <a:rPr lang="ru-RU" dirty="0"/>
              <a:t> – последовательность механик, зацикленный набор фундаментальных механик, которые определяют базовый игровой опыт. </a:t>
            </a:r>
            <a:r>
              <a:rPr lang="ru-RU" dirty="0" err="1"/>
              <a:t>Core</a:t>
            </a:r>
            <a:r>
              <a:rPr lang="ru-RU" dirty="0"/>
              <a:t> </a:t>
            </a:r>
            <a:r>
              <a:rPr lang="ru-RU" dirty="0" err="1"/>
              <a:t>loop</a:t>
            </a:r>
            <a:r>
              <a:rPr lang="ru-RU" dirty="0"/>
              <a:t> описывает наиболее повторяемую активность игрока в игре.</a:t>
            </a:r>
          </a:p>
          <a:p>
            <a:r>
              <a:rPr lang="ru-RU" dirty="0" err="1"/>
              <a:t>Gameplay</a:t>
            </a:r>
            <a:r>
              <a:rPr lang="ru-RU" dirty="0"/>
              <a:t> </a:t>
            </a:r>
            <a:r>
              <a:rPr lang="ru-RU" dirty="0" err="1"/>
              <a:t>loop</a:t>
            </a:r>
            <a:r>
              <a:rPr lang="ru-RU" dirty="0"/>
              <a:t> – всех возникающих в процессе игры циклы (и </a:t>
            </a:r>
            <a:r>
              <a:rPr lang="en-US" dirty="0"/>
              <a:t>core </a:t>
            </a:r>
            <a:r>
              <a:rPr lang="ru-RU" dirty="0"/>
              <a:t>и </a:t>
            </a:r>
            <a:r>
              <a:rPr lang="en-US" dirty="0"/>
              <a:t>meta)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0230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B6D5F7-2FC9-49F1-80EB-A19BAC591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Длительность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32385C-EAC7-4318-9325-F04473E02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Цели игрока:</a:t>
            </a:r>
          </a:p>
          <a:p>
            <a:pPr lvl="0"/>
            <a:r>
              <a:rPr lang="ru-RU" dirty="0"/>
              <a:t>Краткосрочные</a:t>
            </a:r>
          </a:p>
          <a:p>
            <a:pPr lvl="0"/>
            <a:r>
              <a:rPr lang="ru-RU" dirty="0"/>
              <a:t>Среднесрочные</a:t>
            </a:r>
          </a:p>
          <a:p>
            <a:pPr lvl="0"/>
            <a:r>
              <a:rPr lang="ru-RU" dirty="0"/>
              <a:t>Долгосрочные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Следовательно циклы бывают:</a:t>
            </a:r>
          </a:p>
          <a:p>
            <a:pPr lvl="0"/>
            <a:r>
              <a:rPr lang="ru-RU" dirty="0"/>
              <a:t>Краткосрочные</a:t>
            </a:r>
          </a:p>
          <a:p>
            <a:pPr lvl="0"/>
            <a:r>
              <a:rPr lang="ru-RU" dirty="0"/>
              <a:t>Среднесрочные</a:t>
            </a:r>
          </a:p>
          <a:p>
            <a:pPr lvl="0"/>
            <a:r>
              <a:rPr lang="ru-RU" dirty="0"/>
              <a:t>Долгосрочные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0217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FE0CD-E095-4B9C-8C49-F316D1F18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Поток ресурсов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9F15A9-D4E3-406D-81ED-850C52A0F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27226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Каждое действие меняет ситуацию в игре.</a:t>
            </a:r>
          </a:p>
          <a:p>
            <a:r>
              <a:rPr lang="ru-RU" dirty="0"/>
              <a:t>Ситуация выражается в переменных или ресурсах</a:t>
            </a:r>
          </a:p>
          <a:p>
            <a:pPr lvl="1"/>
            <a:r>
              <a:rPr lang="ru-RU" dirty="0"/>
              <a:t>Деньги</a:t>
            </a:r>
          </a:p>
          <a:p>
            <a:pPr lvl="1"/>
            <a:r>
              <a:rPr lang="ru-RU" dirty="0"/>
              <a:t>Здоровье</a:t>
            </a:r>
          </a:p>
          <a:p>
            <a:pPr lvl="1"/>
            <a:r>
              <a:rPr lang="ru-RU" dirty="0"/>
              <a:t>Кол-во врагов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9BFA84-4133-4B2D-B4F0-6CC28A139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312" y="3298238"/>
            <a:ext cx="6262687" cy="3559761"/>
          </a:xfrm>
          <a:prstGeom prst="rect">
            <a:avLst/>
          </a:prstGeom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34B9528B-A2F4-4457-ADAE-812F1995B06D}"/>
              </a:ext>
            </a:extLst>
          </p:cNvPr>
          <p:cNvSpPr txBox="1">
            <a:spLocks/>
          </p:cNvSpPr>
          <p:nvPr/>
        </p:nvSpPr>
        <p:spPr>
          <a:xfrm>
            <a:off x="838200" y="3752851"/>
            <a:ext cx="5091112" cy="26225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На диаграмме отображаются приток или  уток ресурсов</a:t>
            </a:r>
          </a:p>
          <a:p>
            <a:r>
              <a:rPr lang="ru-RU" dirty="0"/>
              <a:t>Данная диаграмма позволит проанализировать поток</a:t>
            </a:r>
          </a:p>
          <a:p>
            <a:pPr lvl="1"/>
            <a:r>
              <a:rPr lang="ru-RU" dirty="0"/>
              <a:t>Найти узкие месте</a:t>
            </a:r>
          </a:p>
          <a:p>
            <a:pPr lvl="1"/>
            <a:r>
              <a:rPr lang="ru-RU" dirty="0"/>
              <a:t>Найти места где ресурсов слишком много</a:t>
            </a:r>
          </a:p>
        </p:txBody>
      </p:sp>
    </p:spTree>
    <p:extLst>
      <p:ext uri="{BB962C8B-B14F-4D97-AF65-F5344CB8AC3E}">
        <p14:creationId xmlns:p14="http://schemas.microsoft.com/office/powerpoint/2010/main" val="758045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4719237-3F94-6AF3-7846-F179CCE37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14" y="0"/>
            <a:ext cx="11540971" cy="6901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1729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96A7666-AEBB-4DA0-243C-08719ABA9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8" y="0"/>
            <a:ext cx="10029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CDF6B7-B3D0-A099-3C48-B01D810F1864}"/>
              </a:ext>
            </a:extLst>
          </p:cNvPr>
          <p:cNvSpPr txBox="1"/>
          <p:nvPr/>
        </p:nvSpPr>
        <p:spPr>
          <a:xfrm>
            <a:off x="238539" y="198783"/>
            <a:ext cx="43295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Пример плохого цикла</a:t>
            </a:r>
          </a:p>
          <a:p>
            <a:r>
              <a:rPr lang="ru-RU" sz="2800" b="1" dirty="0"/>
              <a:t>Поток ресурсов непонятен</a:t>
            </a:r>
          </a:p>
        </p:txBody>
      </p:sp>
    </p:spTree>
    <p:extLst>
      <p:ext uri="{BB962C8B-B14F-4D97-AF65-F5344CB8AC3E}">
        <p14:creationId xmlns:p14="http://schemas.microsoft.com/office/powerpoint/2010/main" val="1428736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D8B2E5-C608-A41A-E2B1-16DBEA6BA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224" y="0"/>
            <a:ext cx="807577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065D25-C25E-1149-CD37-AB6CE917DAF3}"/>
              </a:ext>
            </a:extLst>
          </p:cNvPr>
          <p:cNvSpPr txBox="1"/>
          <p:nvPr/>
        </p:nvSpPr>
        <p:spPr>
          <a:xfrm>
            <a:off x="0" y="0"/>
            <a:ext cx="388920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Пример плохого цикла</a:t>
            </a:r>
          </a:p>
          <a:p>
            <a:r>
              <a:rPr lang="ru-RU" sz="2800" b="1" dirty="0"/>
              <a:t>Много элементов</a:t>
            </a:r>
          </a:p>
          <a:p>
            <a:r>
              <a:rPr lang="ru-RU" sz="2800" b="1" dirty="0"/>
              <a:t>Много ветвления</a:t>
            </a:r>
          </a:p>
          <a:p>
            <a:r>
              <a:rPr lang="ru-RU" sz="2800" b="1" dirty="0"/>
              <a:t>Лишние шаги</a:t>
            </a:r>
          </a:p>
          <a:p>
            <a:r>
              <a:rPr lang="ru-RU" sz="2800" b="1" dirty="0"/>
              <a:t>Непонятна основа игры</a:t>
            </a:r>
          </a:p>
        </p:txBody>
      </p:sp>
    </p:spTree>
    <p:extLst>
      <p:ext uri="{BB962C8B-B14F-4D97-AF65-F5344CB8AC3E}">
        <p14:creationId xmlns:p14="http://schemas.microsoft.com/office/powerpoint/2010/main" val="3566295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7B964E-EFD8-571F-42DE-42120C9281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534"/>
          <a:stretch/>
        </p:blipFill>
        <p:spPr>
          <a:xfrm>
            <a:off x="0" y="0"/>
            <a:ext cx="5077534" cy="1339931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481594A6-D261-1BF7-1668-4959F9D4D20C}"/>
              </a:ext>
            </a:extLst>
          </p:cNvPr>
          <p:cNvGrpSpPr/>
          <p:nvPr/>
        </p:nvGrpSpPr>
        <p:grpSpPr>
          <a:xfrm>
            <a:off x="2204296" y="2397412"/>
            <a:ext cx="1388522" cy="1189608"/>
            <a:chOff x="2204296" y="2104008"/>
            <a:chExt cx="1388522" cy="1189608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DEF3F1A2-C3BB-9967-DFFE-BCEE9B997EA9}"/>
                </a:ext>
              </a:extLst>
            </p:cNvPr>
            <p:cNvSpPr/>
            <p:nvPr/>
          </p:nvSpPr>
          <p:spPr>
            <a:xfrm>
              <a:off x="2254928" y="2104008"/>
              <a:ext cx="1287261" cy="11896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1927317-7069-66D4-356E-0674B5F3F0FF}"/>
                </a:ext>
              </a:extLst>
            </p:cNvPr>
            <p:cNvSpPr txBox="1"/>
            <p:nvPr/>
          </p:nvSpPr>
          <p:spPr>
            <a:xfrm>
              <a:off x="2204296" y="2514146"/>
              <a:ext cx="1388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Сражения</a:t>
              </a: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FF824E11-02BE-D600-9E23-A5D65DA7DFB1}"/>
              </a:ext>
            </a:extLst>
          </p:cNvPr>
          <p:cNvGrpSpPr/>
          <p:nvPr/>
        </p:nvGrpSpPr>
        <p:grpSpPr>
          <a:xfrm>
            <a:off x="2234753" y="4459835"/>
            <a:ext cx="1327608" cy="1189608"/>
            <a:chOff x="2234754" y="4644501"/>
            <a:chExt cx="1327608" cy="1189608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707DB188-180A-F230-177B-0AE8504FF744}"/>
                </a:ext>
              </a:extLst>
            </p:cNvPr>
            <p:cNvSpPr/>
            <p:nvPr/>
          </p:nvSpPr>
          <p:spPr>
            <a:xfrm>
              <a:off x="2254927" y="4644501"/>
              <a:ext cx="1287261" cy="11896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55F1358-02B3-076A-B9C3-51C963F14212}"/>
                </a:ext>
              </a:extLst>
            </p:cNvPr>
            <p:cNvSpPr txBox="1"/>
            <p:nvPr/>
          </p:nvSpPr>
          <p:spPr>
            <a:xfrm>
              <a:off x="2234754" y="5054639"/>
              <a:ext cx="1327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Прокачка</a:t>
              </a:r>
            </a:p>
          </p:txBody>
        </p:sp>
      </p:grpSp>
      <p:sp>
        <p:nvSpPr>
          <p:cNvPr id="12" name="Стрелка: изогнутая влево 11">
            <a:extLst>
              <a:ext uri="{FF2B5EF4-FFF2-40B4-BE49-F238E27FC236}">
                <a16:creationId xmlns:a16="http://schemas.microsoft.com/office/drawing/2014/main" id="{167BA457-62D6-7E51-F94A-B05F18C16772}"/>
              </a:ext>
            </a:extLst>
          </p:cNvPr>
          <p:cNvSpPr/>
          <p:nvPr/>
        </p:nvSpPr>
        <p:spPr>
          <a:xfrm>
            <a:off x="3721545" y="3061135"/>
            <a:ext cx="719091" cy="200591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3" name="Стрелка: изогнутая влево 12">
            <a:extLst>
              <a:ext uri="{FF2B5EF4-FFF2-40B4-BE49-F238E27FC236}">
                <a16:creationId xmlns:a16="http://schemas.microsoft.com/office/drawing/2014/main" id="{8B3BCADC-7869-2E6E-0B03-9AA4F348095C}"/>
              </a:ext>
            </a:extLst>
          </p:cNvPr>
          <p:cNvSpPr/>
          <p:nvPr/>
        </p:nvSpPr>
        <p:spPr>
          <a:xfrm rot="10800000">
            <a:off x="1305847" y="3048727"/>
            <a:ext cx="719091" cy="200591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5122" name="Picture 2" descr="Сбор монет ">
            <a:extLst>
              <a:ext uri="{FF2B5EF4-FFF2-40B4-BE49-F238E27FC236}">
                <a16:creationId xmlns:a16="http://schemas.microsoft.com/office/drawing/2014/main" id="{9CA28F75-6470-A430-70A2-E8DD6C1FD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275" y="15768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7B0ED064-924E-2008-29DB-8A50969D8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110" y="1422692"/>
            <a:ext cx="891959" cy="89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Плюс ">
            <a:extLst>
              <a:ext uri="{FF2B5EF4-FFF2-40B4-BE49-F238E27FC236}">
                <a16:creationId xmlns:a16="http://schemas.microsoft.com/office/drawing/2014/main" id="{37968FE5-9874-4A66-E0CA-3D745A61B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345" y="15768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Минус ">
            <a:extLst>
              <a:ext uri="{FF2B5EF4-FFF2-40B4-BE49-F238E27FC236}">
                <a16:creationId xmlns:a16="http://schemas.microsoft.com/office/drawing/2014/main" id="{D5B8406C-1BCF-35A8-BBBA-DFAF64076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545" y="3771686"/>
            <a:ext cx="511946" cy="51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Сбор монет ">
            <a:extLst>
              <a:ext uri="{FF2B5EF4-FFF2-40B4-BE49-F238E27FC236}">
                <a16:creationId xmlns:a16="http://schemas.microsoft.com/office/drawing/2014/main" id="{404CFCD7-6B26-E767-A9F8-00E27AF7A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3491" y="3713822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1BAEAF5A-B2D2-3DBA-11CE-7F8D49795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814" y="3581679"/>
            <a:ext cx="891959" cy="89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Плюс ">
            <a:extLst>
              <a:ext uri="{FF2B5EF4-FFF2-40B4-BE49-F238E27FC236}">
                <a16:creationId xmlns:a16="http://schemas.microsoft.com/office/drawing/2014/main" id="{C29C6000-FDB5-A7BF-0859-CBD35E456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583" y="5818082"/>
            <a:ext cx="511946" cy="51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Саморазвитие ">
            <a:extLst>
              <a:ext uri="{FF2B5EF4-FFF2-40B4-BE49-F238E27FC236}">
                <a16:creationId xmlns:a16="http://schemas.microsoft.com/office/drawing/2014/main" id="{BD8C7FB4-B38E-6BE4-B265-20551B0DD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61" y="5754781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0" descr="Саморазвитие ">
            <a:extLst>
              <a:ext uri="{FF2B5EF4-FFF2-40B4-BE49-F238E27FC236}">
                <a16:creationId xmlns:a16="http://schemas.microsoft.com/office/drawing/2014/main" id="{1D8DC5CD-FBE1-FC64-0BBC-562EF5D04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172" y="157687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2E77BA4-6E38-2806-0C1A-604741991682}"/>
              </a:ext>
            </a:extLst>
          </p:cNvPr>
          <p:cNvGrpSpPr/>
          <p:nvPr/>
        </p:nvGrpSpPr>
        <p:grpSpPr>
          <a:xfrm>
            <a:off x="7787196" y="745127"/>
            <a:ext cx="1287261" cy="1189608"/>
            <a:chOff x="2254928" y="2104008"/>
            <a:chExt cx="1287261" cy="1189608"/>
          </a:xfrm>
        </p:grpSpPr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78C2473F-B48F-7455-F419-2B062194CC6D}"/>
                </a:ext>
              </a:extLst>
            </p:cNvPr>
            <p:cNvSpPr/>
            <p:nvPr/>
          </p:nvSpPr>
          <p:spPr>
            <a:xfrm>
              <a:off x="2254928" y="2104008"/>
              <a:ext cx="1287261" cy="11896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9C0D70F-B42D-687D-00DB-418C3057505E}"/>
                </a:ext>
              </a:extLst>
            </p:cNvPr>
            <p:cNvSpPr txBox="1"/>
            <p:nvPr/>
          </p:nvSpPr>
          <p:spPr>
            <a:xfrm>
              <a:off x="2276851" y="2514146"/>
              <a:ext cx="12434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Авто атака</a:t>
              </a: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CBFA56E4-240D-A06A-C7FB-B0BA656643DC}"/>
              </a:ext>
            </a:extLst>
          </p:cNvPr>
          <p:cNvGrpSpPr/>
          <p:nvPr/>
        </p:nvGrpSpPr>
        <p:grpSpPr>
          <a:xfrm>
            <a:off x="7715207" y="2582078"/>
            <a:ext cx="1475084" cy="1189608"/>
            <a:chOff x="2161016" y="2104008"/>
            <a:chExt cx="1475084" cy="1189608"/>
          </a:xfrm>
        </p:grpSpPr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8641AD3F-6D67-E6AF-02DD-88DE5DBAD278}"/>
                </a:ext>
              </a:extLst>
            </p:cNvPr>
            <p:cNvSpPr/>
            <p:nvPr/>
          </p:nvSpPr>
          <p:spPr>
            <a:xfrm>
              <a:off x="2254928" y="2104008"/>
              <a:ext cx="1287261" cy="11896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235BF0E-4B2F-BE8A-7561-9A8C7B72C422}"/>
                </a:ext>
              </a:extLst>
            </p:cNvPr>
            <p:cNvSpPr txBox="1"/>
            <p:nvPr/>
          </p:nvSpPr>
          <p:spPr>
            <a:xfrm>
              <a:off x="2161016" y="2462619"/>
              <a:ext cx="147508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Применение</a:t>
              </a:r>
            </a:p>
            <a:p>
              <a:pPr algn="ctr"/>
              <a:r>
                <a:rPr lang="ru-RU" b="1" dirty="0" err="1">
                  <a:solidFill>
                    <a:schemeClr val="bg1"/>
                  </a:solidFill>
                </a:rPr>
                <a:t>скилов</a:t>
              </a:r>
              <a:endParaRPr lang="ru-RU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Стрелка: изогнутая влево 23">
            <a:extLst>
              <a:ext uri="{FF2B5EF4-FFF2-40B4-BE49-F238E27FC236}">
                <a16:creationId xmlns:a16="http://schemas.microsoft.com/office/drawing/2014/main" id="{F7FD7FE6-FCD7-3076-CBB6-0966F631FE6A}"/>
              </a:ext>
            </a:extLst>
          </p:cNvPr>
          <p:cNvSpPr/>
          <p:nvPr/>
        </p:nvSpPr>
        <p:spPr>
          <a:xfrm>
            <a:off x="9217981" y="1260760"/>
            <a:ext cx="719091" cy="200591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5" name="Стрелка: изогнутая влево 24">
            <a:extLst>
              <a:ext uri="{FF2B5EF4-FFF2-40B4-BE49-F238E27FC236}">
                <a16:creationId xmlns:a16="http://schemas.microsoft.com/office/drawing/2014/main" id="{1A7DFF8B-4ED2-D480-3F55-0EAD78DA9D93}"/>
              </a:ext>
            </a:extLst>
          </p:cNvPr>
          <p:cNvSpPr/>
          <p:nvPr/>
        </p:nvSpPr>
        <p:spPr>
          <a:xfrm rot="10800000">
            <a:off x="6802283" y="1248352"/>
            <a:ext cx="719091" cy="200591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5132" name="Picture 12" descr="Песочные часы ">
            <a:extLst>
              <a:ext uri="{FF2B5EF4-FFF2-40B4-BE49-F238E27FC236}">
                <a16:creationId xmlns:a16="http://schemas.microsoft.com/office/drawing/2014/main" id="{3B2C8172-8249-A0E0-524C-8505320A1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2202" y="1800182"/>
            <a:ext cx="1007368" cy="100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7034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154F7E-DA1B-A20B-018D-272EBBE1E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64117" cy="1905266"/>
          </a:xfrm>
          <a:prstGeom prst="rect">
            <a:avLst/>
          </a:prstGeom>
        </p:spPr>
      </p:pic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5367FDB6-51FC-93F9-EDE8-30FD75648E22}"/>
              </a:ext>
            </a:extLst>
          </p:cNvPr>
          <p:cNvGrpSpPr/>
          <p:nvPr/>
        </p:nvGrpSpPr>
        <p:grpSpPr>
          <a:xfrm>
            <a:off x="1766656" y="2681498"/>
            <a:ext cx="1287261" cy="1189608"/>
            <a:chOff x="2254928" y="2104008"/>
            <a:chExt cx="1287261" cy="1189608"/>
          </a:xfrm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A69A1577-1247-C1F7-485F-1CDA52964B49}"/>
                </a:ext>
              </a:extLst>
            </p:cNvPr>
            <p:cNvSpPr/>
            <p:nvPr/>
          </p:nvSpPr>
          <p:spPr>
            <a:xfrm>
              <a:off x="2254928" y="2104008"/>
              <a:ext cx="1287261" cy="11896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DF1C72-502C-2FD8-A0F2-2F241CA8D506}"/>
                </a:ext>
              </a:extLst>
            </p:cNvPr>
            <p:cNvSpPr txBox="1"/>
            <p:nvPr/>
          </p:nvSpPr>
          <p:spPr>
            <a:xfrm>
              <a:off x="2441542" y="2514146"/>
              <a:ext cx="9140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Паркур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04C3417-AD7E-F0B7-E68A-7708E7BFC0C2}"/>
              </a:ext>
            </a:extLst>
          </p:cNvPr>
          <p:cNvGrpSpPr/>
          <p:nvPr/>
        </p:nvGrpSpPr>
        <p:grpSpPr>
          <a:xfrm>
            <a:off x="4002459" y="2439145"/>
            <a:ext cx="1574975" cy="1455496"/>
            <a:chOff x="2254927" y="4644501"/>
            <a:chExt cx="1287261" cy="1189608"/>
          </a:xfrm>
        </p:grpSpPr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A3A32B17-0BCF-DA54-CA9B-A71274EB3784}"/>
                </a:ext>
              </a:extLst>
            </p:cNvPr>
            <p:cNvSpPr/>
            <p:nvPr/>
          </p:nvSpPr>
          <p:spPr>
            <a:xfrm>
              <a:off x="2254927" y="4644501"/>
              <a:ext cx="1287261" cy="11896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43D698-AE3B-6E10-9CD0-2345FA694A3F}"/>
                </a:ext>
              </a:extLst>
            </p:cNvPr>
            <p:cNvSpPr txBox="1"/>
            <p:nvPr/>
          </p:nvSpPr>
          <p:spPr>
            <a:xfrm>
              <a:off x="2280105" y="5088374"/>
              <a:ext cx="1236904" cy="3018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Головоломки</a:t>
              </a: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1363A796-3D11-A367-68A8-D3A29188071B}"/>
              </a:ext>
            </a:extLst>
          </p:cNvPr>
          <p:cNvGrpSpPr/>
          <p:nvPr/>
        </p:nvGrpSpPr>
        <p:grpSpPr>
          <a:xfrm>
            <a:off x="4182058" y="4778108"/>
            <a:ext cx="1287261" cy="1189608"/>
            <a:chOff x="2254928" y="2104008"/>
            <a:chExt cx="1287261" cy="1189608"/>
          </a:xfrm>
        </p:grpSpPr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6FBEA8F3-3E51-7A9F-65FA-B4F600C7A55A}"/>
                </a:ext>
              </a:extLst>
            </p:cNvPr>
            <p:cNvSpPr/>
            <p:nvPr/>
          </p:nvSpPr>
          <p:spPr>
            <a:xfrm>
              <a:off x="2254928" y="2104008"/>
              <a:ext cx="1287261" cy="11896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21F1C87-5389-BDA7-BF9E-6098FF15D1FC}"/>
                </a:ext>
              </a:extLst>
            </p:cNvPr>
            <p:cNvSpPr txBox="1"/>
            <p:nvPr/>
          </p:nvSpPr>
          <p:spPr>
            <a:xfrm>
              <a:off x="2616269" y="2514146"/>
              <a:ext cx="56457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Бой</a:t>
              </a:r>
            </a:p>
            <a:p>
              <a:pPr algn="ctr"/>
              <a:endParaRPr lang="ru-RU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42379956-B973-9C76-0918-C3CBC4C93586}"/>
              </a:ext>
            </a:extLst>
          </p:cNvPr>
          <p:cNvGrpSpPr/>
          <p:nvPr/>
        </p:nvGrpSpPr>
        <p:grpSpPr>
          <a:xfrm>
            <a:off x="1766656" y="4778108"/>
            <a:ext cx="1287261" cy="1189608"/>
            <a:chOff x="2254928" y="2104008"/>
            <a:chExt cx="1287261" cy="1189608"/>
          </a:xfrm>
        </p:grpSpPr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7BB0BF8E-F2E7-04F5-671E-7C27D7ED4315}"/>
                </a:ext>
              </a:extLst>
            </p:cNvPr>
            <p:cNvSpPr/>
            <p:nvPr/>
          </p:nvSpPr>
          <p:spPr>
            <a:xfrm>
              <a:off x="2254928" y="2104008"/>
              <a:ext cx="1287261" cy="11896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4EFAEDB-455E-545B-2893-DD94F15E947A}"/>
                </a:ext>
              </a:extLst>
            </p:cNvPr>
            <p:cNvSpPr txBox="1"/>
            <p:nvPr/>
          </p:nvSpPr>
          <p:spPr>
            <a:xfrm>
              <a:off x="2372611" y="2514146"/>
              <a:ext cx="10518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Cutscene</a:t>
              </a:r>
              <a:endParaRPr lang="ru-RU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Стрелка: изогнутая влево 20">
            <a:extLst>
              <a:ext uri="{FF2B5EF4-FFF2-40B4-BE49-F238E27FC236}">
                <a16:creationId xmlns:a16="http://schemas.microsoft.com/office/drawing/2014/main" id="{B4BD9331-F95D-B570-A225-4D38B967E6CB}"/>
              </a:ext>
            </a:extLst>
          </p:cNvPr>
          <p:cNvSpPr/>
          <p:nvPr/>
        </p:nvSpPr>
        <p:spPr>
          <a:xfrm rot="10800000">
            <a:off x="935935" y="3460968"/>
            <a:ext cx="543064" cy="151488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2" name="Стрелка: изогнутая влево 21">
            <a:extLst>
              <a:ext uri="{FF2B5EF4-FFF2-40B4-BE49-F238E27FC236}">
                <a16:creationId xmlns:a16="http://schemas.microsoft.com/office/drawing/2014/main" id="{8F1C8BBF-EBCD-6704-CEEA-BF95AA240564}"/>
              </a:ext>
            </a:extLst>
          </p:cNvPr>
          <p:cNvSpPr/>
          <p:nvPr/>
        </p:nvSpPr>
        <p:spPr>
          <a:xfrm rot="5400000">
            <a:off x="3353212" y="5481807"/>
            <a:ext cx="543064" cy="151488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3" name="Стрелка: изогнутая влево 22">
            <a:extLst>
              <a:ext uri="{FF2B5EF4-FFF2-40B4-BE49-F238E27FC236}">
                <a16:creationId xmlns:a16="http://schemas.microsoft.com/office/drawing/2014/main" id="{32DFB11F-5721-5360-E484-F1630E89305B}"/>
              </a:ext>
            </a:extLst>
          </p:cNvPr>
          <p:cNvSpPr/>
          <p:nvPr/>
        </p:nvSpPr>
        <p:spPr>
          <a:xfrm>
            <a:off x="5824468" y="3460968"/>
            <a:ext cx="543064" cy="151488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4" name="Стрелка: изогнутая влево 23">
            <a:extLst>
              <a:ext uri="{FF2B5EF4-FFF2-40B4-BE49-F238E27FC236}">
                <a16:creationId xmlns:a16="http://schemas.microsoft.com/office/drawing/2014/main" id="{E4262FD4-C800-E7C3-0B5A-230E4CCE57D0}"/>
              </a:ext>
            </a:extLst>
          </p:cNvPr>
          <p:cNvSpPr/>
          <p:nvPr/>
        </p:nvSpPr>
        <p:spPr>
          <a:xfrm rot="16200000">
            <a:off x="3256655" y="1555903"/>
            <a:ext cx="543064" cy="151488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3FCF0421-69DB-CEC9-ED9B-F402502ADF83}"/>
              </a:ext>
            </a:extLst>
          </p:cNvPr>
          <p:cNvGrpSpPr/>
          <p:nvPr/>
        </p:nvGrpSpPr>
        <p:grpSpPr>
          <a:xfrm>
            <a:off x="7850822" y="2985911"/>
            <a:ext cx="1287261" cy="1189608"/>
            <a:chOff x="2254928" y="2104008"/>
            <a:chExt cx="1287261" cy="1189608"/>
          </a:xfrm>
        </p:grpSpPr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32971754-8071-344F-08B6-BFBC43BE5E86}"/>
                </a:ext>
              </a:extLst>
            </p:cNvPr>
            <p:cNvSpPr/>
            <p:nvPr/>
          </p:nvSpPr>
          <p:spPr>
            <a:xfrm>
              <a:off x="2254928" y="2104008"/>
              <a:ext cx="1287261" cy="11896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4A45804-9F47-1C04-1D1D-F4F8C06BA6E7}"/>
                </a:ext>
              </a:extLst>
            </p:cNvPr>
            <p:cNvSpPr txBox="1"/>
            <p:nvPr/>
          </p:nvSpPr>
          <p:spPr>
            <a:xfrm>
              <a:off x="2390121" y="2514146"/>
              <a:ext cx="10168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Атакуем</a:t>
              </a:r>
            </a:p>
            <a:p>
              <a:pPr algn="ctr"/>
              <a:endParaRPr lang="ru-RU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B5806CE4-6767-816D-49D4-521979C0D471}"/>
              </a:ext>
            </a:extLst>
          </p:cNvPr>
          <p:cNvGrpSpPr/>
          <p:nvPr/>
        </p:nvGrpSpPr>
        <p:grpSpPr>
          <a:xfrm>
            <a:off x="10078849" y="2022115"/>
            <a:ext cx="1347293" cy="1189608"/>
            <a:chOff x="2224917" y="2104008"/>
            <a:chExt cx="1347293" cy="1189608"/>
          </a:xfrm>
        </p:grpSpPr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916758D4-0835-0DA8-B4BA-A29598CD8BCD}"/>
                </a:ext>
              </a:extLst>
            </p:cNvPr>
            <p:cNvSpPr/>
            <p:nvPr/>
          </p:nvSpPr>
          <p:spPr>
            <a:xfrm>
              <a:off x="2254928" y="2104008"/>
              <a:ext cx="1287261" cy="11896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653688F-FFD7-D138-6019-7181616374B7}"/>
                </a:ext>
              </a:extLst>
            </p:cNvPr>
            <p:cNvSpPr txBox="1"/>
            <p:nvPr/>
          </p:nvSpPr>
          <p:spPr>
            <a:xfrm>
              <a:off x="2224917" y="2514146"/>
              <a:ext cx="13472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Поглощаем</a:t>
              </a:r>
            </a:p>
            <a:p>
              <a:pPr algn="ctr"/>
              <a:endParaRPr lang="ru-RU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6FC0EB1B-4C64-FBAC-2CB6-77762D39F967}"/>
              </a:ext>
            </a:extLst>
          </p:cNvPr>
          <p:cNvGrpSpPr/>
          <p:nvPr/>
        </p:nvGrpSpPr>
        <p:grpSpPr>
          <a:xfrm>
            <a:off x="9002896" y="5581224"/>
            <a:ext cx="1391983" cy="1264330"/>
            <a:chOff x="2202566" y="2104008"/>
            <a:chExt cx="1391983" cy="1264330"/>
          </a:xfrm>
        </p:grpSpPr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47603D4A-1B6B-CA4F-29FB-904E30811D2F}"/>
                </a:ext>
              </a:extLst>
            </p:cNvPr>
            <p:cNvSpPr/>
            <p:nvPr/>
          </p:nvSpPr>
          <p:spPr>
            <a:xfrm>
              <a:off x="2254928" y="2104008"/>
              <a:ext cx="1287261" cy="11896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0A70994-4378-7C82-44A7-686DF12FD69F}"/>
                </a:ext>
              </a:extLst>
            </p:cNvPr>
            <p:cNvSpPr txBox="1"/>
            <p:nvPr/>
          </p:nvSpPr>
          <p:spPr>
            <a:xfrm>
              <a:off x="2202566" y="2445008"/>
              <a:ext cx="139198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Используем</a:t>
              </a:r>
            </a:p>
            <a:p>
              <a:pPr algn="ctr"/>
              <a:r>
                <a:rPr lang="ru-RU" b="1" dirty="0" err="1">
                  <a:solidFill>
                    <a:schemeClr val="bg1"/>
                  </a:solidFill>
                </a:rPr>
                <a:t>скил</a:t>
              </a:r>
              <a:endParaRPr lang="ru-RU" b="1" dirty="0">
                <a:solidFill>
                  <a:schemeClr val="bg1"/>
                </a:solidFill>
              </a:endParaRPr>
            </a:p>
            <a:p>
              <a:pPr algn="ctr"/>
              <a:endParaRPr lang="ru-RU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6" name="Стрелка: изогнутая влево 35">
            <a:extLst>
              <a:ext uri="{FF2B5EF4-FFF2-40B4-BE49-F238E27FC236}">
                <a16:creationId xmlns:a16="http://schemas.microsoft.com/office/drawing/2014/main" id="{DAF246D2-7C70-F25D-6D4C-56FEF86E5DDD}"/>
              </a:ext>
            </a:extLst>
          </p:cNvPr>
          <p:cNvSpPr/>
          <p:nvPr/>
        </p:nvSpPr>
        <p:spPr>
          <a:xfrm rot="14874059">
            <a:off x="9063361" y="1600089"/>
            <a:ext cx="543064" cy="151488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7" name="Стрелка: изогнутая влево 36">
            <a:extLst>
              <a:ext uri="{FF2B5EF4-FFF2-40B4-BE49-F238E27FC236}">
                <a16:creationId xmlns:a16="http://schemas.microsoft.com/office/drawing/2014/main" id="{58607C9A-3640-717A-3822-ED544A4FC0B5}"/>
              </a:ext>
            </a:extLst>
          </p:cNvPr>
          <p:cNvSpPr/>
          <p:nvPr/>
        </p:nvSpPr>
        <p:spPr>
          <a:xfrm rot="3732513">
            <a:off x="9651371" y="3130547"/>
            <a:ext cx="543064" cy="151488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146" name="Picture 2" descr="Песок ">
            <a:extLst>
              <a:ext uri="{FF2B5EF4-FFF2-40B4-BE49-F238E27FC236}">
                <a16:creationId xmlns:a16="http://schemas.microsoft.com/office/drawing/2014/main" id="{B4C371C5-2607-681F-867E-90D8CFBE3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9619" y="1246365"/>
            <a:ext cx="913325" cy="91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Плюс ">
            <a:extLst>
              <a:ext uri="{FF2B5EF4-FFF2-40B4-BE49-F238E27FC236}">
                <a16:creationId xmlns:a16="http://schemas.microsoft.com/office/drawing/2014/main" id="{D6905197-4C38-19D6-C06B-20805B2AD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0628" y="1352798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Стрелка: изогнутая влево 38">
            <a:extLst>
              <a:ext uri="{FF2B5EF4-FFF2-40B4-BE49-F238E27FC236}">
                <a16:creationId xmlns:a16="http://schemas.microsoft.com/office/drawing/2014/main" id="{5AEACB6A-DE0C-5101-795A-C0C49D7A4C8B}"/>
              </a:ext>
            </a:extLst>
          </p:cNvPr>
          <p:cNvSpPr/>
          <p:nvPr/>
        </p:nvSpPr>
        <p:spPr>
          <a:xfrm rot="19565243">
            <a:off x="9336934" y="4043695"/>
            <a:ext cx="543064" cy="151488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0" name="Стрелка: изогнутая влево 39">
            <a:extLst>
              <a:ext uri="{FF2B5EF4-FFF2-40B4-BE49-F238E27FC236}">
                <a16:creationId xmlns:a16="http://schemas.microsoft.com/office/drawing/2014/main" id="{CC90E051-1227-6E03-3B0A-025AE70733FE}"/>
              </a:ext>
            </a:extLst>
          </p:cNvPr>
          <p:cNvSpPr/>
          <p:nvPr/>
        </p:nvSpPr>
        <p:spPr>
          <a:xfrm rot="9323772">
            <a:off x="8292463" y="4483202"/>
            <a:ext cx="543064" cy="151488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41" name="Picture 2" descr="Песок ">
            <a:extLst>
              <a:ext uri="{FF2B5EF4-FFF2-40B4-BE49-F238E27FC236}">
                <a16:creationId xmlns:a16="http://schemas.microsoft.com/office/drawing/2014/main" id="{97F98705-E7C9-AD71-10B8-3073FBCB4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0628" y="4422951"/>
            <a:ext cx="913325" cy="91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8" descr="Минус ">
            <a:extLst>
              <a:ext uri="{FF2B5EF4-FFF2-40B4-BE49-F238E27FC236}">
                <a16:creationId xmlns:a16="http://schemas.microsoft.com/office/drawing/2014/main" id="{BACD1663-407A-951C-F812-F3836DF16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9191" y="4625932"/>
            <a:ext cx="511946" cy="51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1536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EAFD96A5-566F-402E-0E20-D408313C5BD1}"/>
              </a:ext>
            </a:extLst>
          </p:cNvPr>
          <p:cNvGrpSpPr/>
          <p:nvPr/>
        </p:nvGrpSpPr>
        <p:grpSpPr>
          <a:xfrm>
            <a:off x="4002459" y="2439145"/>
            <a:ext cx="1574975" cy="1455496"/>
            <a:chOff x="2254927" y="4644501"/>
            <a:chExt cx="1287261" cy="1189608"/>
          </a:xfrm>
        </p:grpSpPr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389E9D1F-642D-9412-67D4-7BD190665117}"/>
                </a:ext>
              </a:extLst>
            </p:cNvPr>
            <p:cNvSpPr/>
            <p:nvPr/>
          </p:nvSpPr>
          <p:spPr>
            <a:xfrm>
              <a:off x="2254927" y="4644501"/>
              <a:ext cx="1287261" cy="11896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78374B-B2F0-4AEC-06D7-B2A048D14E73}"/>
                </a:ext>
              </a:extLst>
            </p:cNvPr>
            <p:cNvSpPr txBox="1"/>
            <p:nvPr/>
          </p:nvSpPr>
          <p:spPr>
            <a:xfrm>
              <a:off x="2391944" y="5088374"/>
              <a:ext cx="1013233" cy="3018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Постройка</a:t>
              </a: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AD206EAA-92D5-5F5A-20E0-5DE1079CFCAA}"/>
              </a:ext>
            </a:extLst>
          </p:cNvPr>
          <p:cNvGrpSpPr/>
          <p:nvPr/>
        </p:nvGrpSpPr>
        <p:grpSpPr>
          <a:xfrm>
            <a:off x="2427541" y="3729803"/>
            <a:ext cx="1287261" cy="1189608"/>
            <a:chOff x="2254928" y="2104008"/>
            <a:chExt cx="1287261" cy="1189608"/>
          </a:xfrm>
        </p:grpSpPr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4B3C399-ADEC-456D-3610-595F2B439E70}"/>
                </a:ext>
              </a:extLst>
            </p:cNvPr>
            <p:cNvSpPr/>
            <p:nvPr/>
          </p:nvSpPr>
          <p:spPr>
            <a:xfrm>
              <a:off x="2254928" y="2104008"/>
              <a:ext cx="1287261" cy="11896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71D1A1A-E491-897F-97C9-3AB134A8D0FD}"/>
                </a:ext>
              </a:extLst>
            </p:cNvPr>
            <p:cNvSpPr txBox="1"/>
            <p:nvPr/>
          </p:nvSpPr>
          <p:spPr>
            <a:xfrm>
              <a:off x="2270022" y="2514146"/>
              <a:ext cx="12570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Ожидание</a:t>
              </a:r>
            </a:p>
            <a:p>
              <a:pPr algn="ctr"/>
              <a:endParaRPr lang="ru-RU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3A82F5D3-36C2-6DA2-066A-C809DE1C04B5}"/>
              </a:ext>
            </a:extLst>
          </p:cNvPr>
          <p:cNvGrpSpPr/>
          <p:nvPr/>
        </p:nvGrpSpPr>
        <p:grpSpPr>
          <a:xfrm>
            <a:off x="4537207" y="4956536"/>
            <a:ext cx="1287261" cy="1189608"/>
            <a:chOff x="2254928" y="2104008"/>
            <a:chExt cx="1287261" cy="1189608"/>
          </a:xfrm>
        </p:grpSpPr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1B1B0B3B-EE24-E6A9-A004-DB50CCB0572B}"/>
                </a:ext>
              </a:extLst>
            </p:cNvPr>
            <p:cNvSpPr/>
            <p:nvPr/>
          </p:nvSpPr>
          <p:spPr>
            <a:xfrm>
              <a:off x="2254928" y="2104008"/>
              <a:ext cx="1287261" cy="11896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110F59-8D94-D31D-12DF-F6C82A70939E}"/>
                </a:ext>
              </a:extLst>
            </p:cNvPr>
            <p:cNvSpPr txBox="1"/>
            <p:nvPr/>
          </p:nvSpPr>
          <p:spPr>
            <a:xfrm>
              <a:off x="2283518" y="2514146"/>
              <a:ext cx="12300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Настройка</a:t>
              </a:r>
            </a:p>
          </p:txBody>
        </p:sp>
      </p:grpSp>
      <p:sp>
        <p:nvSpPr>
          <p:cNvPr id="17" name="Стрелка: изогнутая влево 16">
            <a:extLst>
              <a:ext uri="{FF2B5EF4-FFF2-40B4-BE49-F238E27FC236}">
                <a16:creationId xmlns:a16="http://schemas.microsoft.com/office/drawing/2014/main" id="{9856CFA3-BBED-E3D1-9FAE-6DF5F5B92B22}"/>
              </a:ext>
            </a:extLst>
          </p:cNvPr>
          <p:cNvSpPr/>
          <p:nvPr/>
        </p:nvSpPr>
        <p:spPr>
          <a:xfrm rot="6917010">
            <a:off x="3300067" y="5007990"/>
            <a:ext cx="543064" cy="151488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8" name="Стрелка: изогнутая влево 17">
            <a:extLst>
              <a:ext uri="{FF2B5EF4-FFF2-40B4-BE49-F238E27FC236}">
                <a16:creationId xmlns:a16="http://schemas.microsoft.com/office/drawing/2014/main" id="{48710595-F7FE-ACBE-07BD-A6BD7FEE95C3}"/>
              </a:ext>
            </a:extLst>
          </p:cNvPr>
          <p:cNvSpPr/>
          <p:nvPr/>
        </p:nvSpPr>
        <p:spPr>
          <a:xfrm>
            <a:off x="5770208" y="3460968"/>
            <a:ext cx="543064" cy="151488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Стрелка: изогнутая влево 18">
            <a:extLst>
              <a:ext uri="{FF2B5EF4-FFF2-40B4-BE49-F238E27FC236}">
                <a16:creationId xmlns:a16="http://schemas.microsoft.com/office/drawing/2014/main" id="{EFF74CCF-396F-9BDF-45BB-D2A777B8B994}"/>
              </a:ext>
            </a:extLst>
          </p:cNvPr>
          <p:cNvSpPr/>
          <p:nvPr/>
        </p:nvSpPr>
        <p:spPr>
          <a:xfrm rot="14371497">
            <a:off x="2946521" y="2113448"/>
            <a:ext cx="543064" cy="151488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7FBB701-994A-8B03-C0E2-441946F03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0" y="14368"/>
            <a:ext cx="4706016" cy="1985350"/>
          </a:xfrm>
          <a:prstGeom prst="rect">
            <a:avLst/>
          </a:prstGeom>
        </p:spPr>
      </p:pic>
      <p:pic>
        <p:nvPicPr>
          <p:cNvPr id="22" name="Picture 2" descr="Сбор монет ">
            <a:extLst>
              <a:ext uri="{FF2B5EF4-FFF2-40B4-BE49-F238E27FC236}">
                <a16:creationId xmlns:a16="http://schemas.microsoft.com/office/drawing/2014/main" id="{269988CE-B02E-96FF-537B-749A6A215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041" y="4019807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Плюс ">
            <a:extLst>
              <a:ext uri="{FF2B5EF4-FFF2-40B4-BE49-F238E27FC236}">
                <a16:creationId xmlns:a16="http://schemas.microsoft.com/office/drawing/2014/main" id="{C1ABC742-B3A6-4053-25DB-20F684D90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441" y="4019807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8" descr="Минус ">
            <a:extLst>
              <a:ext uri="{FF2B5EF4-FFF2-40B4-BE49-F238E27FC236}">
                <a16:creationId xmlns:a16="http://schemas.microsoft.com/office/drawing/2014/main" id="{9E86E415-F4ED-C7A9-C6BD-767BE2CA6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688" y="2152137"/>
            <a:ext cx="511946" cy="51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Сбор монет ">
            <a:extLst>
              <a:ext uri="{FF2B5EF4-FFF2-40B4-BE49-F238E27FC236}">
                <a16:creationId xmlns:a16="http://schemas.microsoft.com/office/drawing/2014/main" id="{3C85076A-7674-0417-8468-8056D7A08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634" y="2094273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976841A5-0006-54E6-AAC4-F770F60A1C7C}"/>
              </a:ext>
            </a:extLst>
          </p:cNvPr>
          <p:cNvGrpSpPr/>
          <p:nvPr/>
        </p:nvGrpSpPr>
        <p:grpSpPr>
          <a:xfrm>
            <a:off x="7981722" y="279295"/>
            <a:ext cx="1574975" cy="1455496"/>
            <a:chOff x="2254927" y="4644501"/>
            <a:chExt cx="1287261" cy="1189608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D6F4F76C-34D5-B4C9-A97F-8BDE5461FFFF}"/>
                </a:ext>
              </a:extLst>
            </p:cNvPr>
            <p:cNvSpPr/>
            <p:nvPr/>
          </p:nvSpPr>
          <p:spPr>
            <a:xfrm>
              <a:off x="2254927" y="4644501"/>
              <a:ext cx="1287261" cy="11896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96C71F1-37DA-27B5-B1EF-A6FBC0278909}"/>
                </a:ext>
              </a:extLst>
            </p:cNvPr>
            <p:cNvSpPr txBox="1"/>
            <p:nvPr/>
          </p:nvSpPr>
          <p:spPr>
            <a:xfrm>
              <a:off x="2400561" y="4975175"/>
              <a:ext cx="995991" cy="5282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Построить</a:t>
              </a:r>
            </a:p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дороги</a:t>
              </a:r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83E69B35-1C6E-5104-B1FB-639311686E76}"/>
              </a:ext>
            </a:extLst>
          </p:cNvPr>
          <p:cNvGrpSpPr/>
          <p:nvPr/>
        </p:nvGrpSpPr>
        <p:grpSpPr>
          <a:xfrm>
            <a:off x="9899103" y="1271973"/>
            <a:ext cx="1801326" cy="1639904"/>
            <a:chOff x="2116175" y="4644501"/>
            <a:chExt cx="1472263" cy="1340328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63C3F04A-25DC-096F-D94E-E442E0FF7445}"/>
                </a:ext>
              </a:extLst>
            </p:cNvPr>
            <p:cNvSpPr/>
            <p:nvPr/>
          </p:nvSpPr>
          <p:spPr>
            <a:xfrm>
              <a:off x="2162426" y="4644501"/>
              <a:ext cx="1379763" cy="13403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1F61C78-D94F-2D80-D72D-E910142F0B9B}"/>
                </a:ext>
              </a:extLst>
            </p:cNvPr>
            <p:cNvSpPr txBox="1"/>
            <p:nvPr/>
          </p:nvSpPr>
          <p:spPr>
            <a:xfrm>
              <a:off x="2116175" y="5099747"/>
              <a:ext cx="1472263" cy="5282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Спроектировать</a:t>
              </a:r>
            </a:p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кварталы</a:t>
              </a:r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E98C23BF-D21D-9EC4-980C-43251CBF0186}"/>
              </a:ext>
            </a:extLst>
          </p:cNvPr>
          <p:cNvGrpSpPr/>
          <p:nvPr/>
        </p:nvGrpSpPr>
        <p:grpSpPr>
          <a:xfrm>
            <a:off x="7906152" y="2379903"/>
            <a:ext cx="1688151" cy="1639904"/>
            <a:chOff x="2162426" y="4644501"/>
            <a:chExt cx="1379763" cy="1340328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36833325-DC09-563C-611F-7F7EFA92C569}"/>
                </a:ext>
              </a:extLst>
            </p:cNvPr>
            <p:cNvSpPr/>
            <p:nvPr/>
          </p:nvSpPr>
          <p:spPr>
            <a:xfrm>
              <a:off x="2162426" y="4644501"/>
              <a:ext cx="1379763" cy="134032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B4860C4-F5CB-1209-9C78-014A8C1E8397}"/>
                </a:ext>
              </a:extLst>
            </p:cNvPr>
            <p:cNvSpPr txBox="1"/>
            <p:nvPr/>
          </p:nvSpPr>
          <p:spPr>
            <a:xfrm>
              <a:off x="2189392" y="4979068"/>
              <a:ext cx="1297331" cy="754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Построить </a:t>
              </a:r>
            </a:p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специальные </a:t>
              </a:r>
            </a:p>
            <a:p>
              <a:pPr algn="ctr"/>
              <a:r>
                <a:rPr lang="ru-RU" b="1" dirty="0">
                  <a:solidFill>
                    <a:schemeClr val="bg1"/>
                  </a:solidFill>
                </a:rPr>
                <a:t>здания</a:t>
              </a:r>
            </a:p>
          </p:txBody>
        </p:sp>
      </p:grpSp>
      <p:sp>
        <p:nvSpPr>
          <p:cNvPr id="38" name="Стрелка: изогнутая влево 37">
            <a:extLst>
              <a:ext uri="{FF2B5EF4-FFF2-40B4-BE49-F238E27FC236}">
                <a16:creationId xmlns:a16="http://schemas.microsoft.com/office/drawing/2014/main" id="{037E8F9B-6599-4D38-8DCA-624D711147E9}"/>
              </a:ext>
            </a:extLst>
          </p:cNvPr>
          <p:cNvSpPr/>
          <p:nvPr/>
        </p:nvSpPr>
        <p:spPr>
          <a:xfrm rot="17712882">
            <a:off x="10118663" y="-97898"/>
            <a:ext cx="543064" cy="151488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9" name="Стрелка: изогнутая влево 38">
            <a:extLst>
              <a:ext uri="{FF2B5EF4-FFF2-40B4-BE49-F238E27FC236}">
                <a16:creationId xmlns:a16="http://schemas.microsoft.com/office/drawing/2014/main" id="{B7FAFE0F-E17B-A3A9-A1AA-47CEE89879F1}"/>
              </a:ext>
            </a:extLst>
          </p:cNvPr>
          <p:cNvSpPr/>
          <p:nvPr/>
        </p:nvSpPr>
        <p:spPr>
          <a:xfrm rot="3495712">
            <a:off x="10142774" y="2944417"/>
            <a:ext cx="543064" cy="151488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0" name="Стрелка: изогнутая влево 39">
            <a:extLst>
              <a:ext uri="{FF2B5EF4-FFF2-40B4-BE49-F238E27FC236}">
                <a16:creationId xmlns:a16="http://schemas.microsoft.com/office/drawing/2014/main" id="{9735D5C3-9CB7-C51A-A0D9-FC68765105E8}"/>
              </a:ext>
            </a:extLst>
          </p:cNvPr>
          <p:cNvSpPr/>
          <p:nvPr/>
        </p:nvSpPr>
        <p:spPr>
          <a:xfrm rot="10800000">
            <a:off x="7267896" y="1242276"/>
            <a:ext cx="543064" cy="151488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1895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231</TotalTime>
  <Words>269</Words>
  <Application>Microsoft Office PowerPoint</Application>
  <PresentationFormat>Широкоэкранный</PresentationFormat>
  <Paragraphs>70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Презентация PowerPoint</vt:lpstr>
      <vt:lpstr>Почему игры развлечение?</vt:lpstr>
      <vt:lpstr>Игровые циклы</vt:lpstr>
      <vt:lpstr>Игровые циклы</vt:lpstr>
      <vt:lpstr>Польза</vt:lpstr>
      <vt:lpstr>Презентация PowerPoint</vt:lpstr>
      <vt:lpstr>Длительность</vt:lpstr>
      <vt:lpstr>Поток ресурсов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Crow XR</dc:creator>
  <cp:lastModifiedBy>Kubirill</cp:lastModifiedBy>
  <cp:revision>11</cp:revision>
  <dcterms:created xsi:type="dcterms:W3CDTF">2023-02-10T06:46:32Z</dcterms:created>
  <dcterms:modified xsi:type="dcterms:W3CDTF">2024-02-06T11:38:26Z</dcterms:modified>
</cp:coreProperties>
</file>