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4" r:id="rId10"/>
    <p:sldId id="263" r:id="rId11"/>
    <p:sldId id="265" r:id="rId12"/>
    <p:sldId id="262" r:id="rId13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4B528A3-1B56-4F11-A6E6-F679A95C78D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88DF796-3FA1-460C-BFF1-33E81C565C7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F4EA860-54D4-4585-BC29-3626D8DB549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F94EFF5-6A25-418C-8D1A-2096F97407B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77BEC4-8ABA-4AE0-9230-3957E826AB1B}" type="slidenum"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C6E68B-943B-47DE-BDC3-DB9FF4C9667B}" type="slidenum"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BEA0C9-42A1-45E6-80BA-C250D5A598A0}" type="slidenum"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4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2A6FC36-6717-488D-9B0F-C0BD74DB0AD7}" type="slidenum"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/>
          <p:cNvPicPr/>
          <p:nvPr/>
        </p:nvPicPr>
        <p:blipFill>
          <a:blip r:embed="rId2"/>
          <a:stretch/>
        </p:blipFill>
        <p:spPr>
          <a:xfrm>
            <a:off x="4618800" y="149040"/>
            <a:ext cx="841680" cy="929880"/>
          </a:xfrm>
          <a:prstGeom prst="rect">
            <a:avLst/>
          </a:prstGeom>
          <a:ln w="0">
            <a:noFill/>
          </a:ln>
        </p:spPr>
      </p:pic>
      <p:sp>
        <p:nvSpPr>
          <p:cNvPr id="27" name="Прямоугольник 26"/>
          <p:cNvSpPr/>
          <p:nvPr/>
        </p:nvSpPr>
        <p:spPr>
          <a:xfrm>
            <a:off x="1980720" y="1260000"/>
            <a:ext cx="6118920" cy="20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14"/>
              </a:spcAft>
            </a:pPr>
            <a:r>
              <a:rPr lang="ru-RU" sz="1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Федеральное государственное бюджетное образовательное учреждение высшего образования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"/>
              </a:spcAft>
            </a:pPr>
            <a:r>
              <a:rPr lang="ru-RU" sz="1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«МИРЭА – Российский технологический университет»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8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РТУ МИРЭА</a:t>
            </a: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Институт информационных технологий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Кафедра инструментального и прикладного программного обеспечения 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Дисциплина «Разработка серверных частей интернет-ресурсов»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-1" y="2942280"/>
            <a:ext cx="10080625" cy="101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КУРСОВАЯ РАБОТА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20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Серверная часть веб-приложения «</a:t>
            </a:r>
            <a:r>
              <a:rPr lang="ru-RU" sz="2000" b="1" dirty="0">
                <a:solidFill>
                  <a:srgbClr val="000000"/>
                </a:solidFill>
                <a:latin typeface="Times New Roman"/>
                <a:ea typeface="DejaVu Sans"/>
              </a:rPr>
              <a:t>Интернет-Магазин</a:t>
            </a:r>
            <a:r>
              <a:rPr lang="ru-RU" sz="20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»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80000" y="4192200"/>
            <a:ext cx="8458920" cy="12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5000"/>
              </a:lnSpc>
              <a:spcAft>
                <a:spcPts val="215"/>
              </a:spcAft>
            </a:pPr>
            <a:r>
              <a:rPr lang="ru-RU" sz="18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Студент: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DejaVu Sans"/>
              </a:rPr>
              <a:t>Комисарик М.А.</a:t>
            </a: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215"/>
              </a:spcAft>
            </a:pPr>
            <a:r>
              <a:rPr lang="ru-RU" sz="18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Группа: ИКБО-20-23</a:t>
            </a: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5000"/>
              </a:lnSpc>
              <a:spcAft>
                <a:spcPts val="40"/>
              </a:spcAft>
            </a:pPr>
            <a:r>
              <a:rPr lang="ru-RU" sz="18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Руководитель: старший преподаватель Романченко А.Е.</a:t>
            </a: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4050000" y="5229720"/>
            <a:ext cx="1978920" cy="52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u="none" strike="noStrike" dirty="0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Москва 2025</a:t>
            </a: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32" name="Прямоугольник 31"/>
          <p:cNvSpPr/>
          <p:nvPr/>
        </p:nvSpPr>
        <p:spPr>
          <a:xfrm>
            <a:off x="9392400" y="5040000"/>
            <a:ext cx="32076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86C154BE-BD05-425F-B03A-3286489624A1}" type="slidenum">
              <a:rPr lang="ru-RU" sz="18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2</a:t>
            </a:fld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4050000" y="180000"/>
            <a:ext cx="1978920" cy="53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Цель</a:t>
            </a:r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900000" y="694080"/>
            <a:ext cx="8278920" cy="38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244"/>
              </a:spcAft>
            </a:pPr>
            <a:r>
              <a:rPr lang="ru-RU" sz="1800" b="0" u="none" strike="noStrike" dirty="0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Разработка серверной части веб-приложения «Интернет-Магазин»</a:t>
            </a:r>
          </a:p>
        </p:txBody>
      </p:sp>
      <p:sp>
        <p:nvSpPr>
          <p:cNvPr id="35" name="Прямоугольник 34"/>
          <p:cNvSpPr/>
          <p:nvPr/>
        </p:nvSpPr>
        <p:spPr>
          <a:xfrm>
            <a:off x="4050000" y="1456280"/>
            <a:ext cx="1978920" cy="53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Задачи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0" y="1879080"/>
            <a:ext cx="9178920" cy="364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algn="just">
              <a:lnSpc>
                <a:spcPct val="15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Провести анализ предметной области разрабатываемого веб-приложения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Обосновать выбор технологий разработки веб-приложения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Разработать архитектуру веб-приложения на основе паттерна проектирования MVC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Спроектировать и реализовать слой логики базы данных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Реализовать слой серверной логики, включая систему аутентификации, управление корзиной и обработку заказов, используя технологию Java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Разработать слой клиентского представления веб-приложения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Выполнить презентацию по курсовой работе</a:t>
            </a:r>
            <a:endParaRPr lang="ru-RU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9392400" y="5040000"/>
            <a:ext cx="32076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33627FB8-8486-4F98-AB4B-F9A66B28ABD6}" type="slidenum">
              <a:rPr lang="ru-RU" sz="18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3</a:t>
            </a:fld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2565360" y="180000"/>
            <a:ext cx="4950000" cy="53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Анализ предметной области</a:t>
            </a:r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900000" y="694080"/>
            <a:ext cx="8278920" cy="38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1244"/>
              </a:spcAft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145108" y="1408680"/>
            <a:ext cx="9178920" cy="364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</a:pP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Для анализа были выбраны следующие веб-ресурсы:</a:t>
            </a:r>
            <a:endParaRPr lang="ru-RU" sz="1400" b="0" u="none" strike="noStrike" dirty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«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Dodo Pizza</a:t>
            </a: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» (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https://dodopizza.ru</a:t>
            </a: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),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«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Domino’s Pizza</a:t>
            </a: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» (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https://dominopizza.ru</a:t>
            </a: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),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«Яндекс Еда» (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https://eda.yandex.ru</a:t>
            </a:r>
            <a:r>
              <a:rPr lang="ru-RU" sz="14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).</a:t>
            </a:r>
            <a:endParaRPr lang="ru-RU" sz="1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1694" y="814754"/>
            <a:ext cx="4649075" cy="2200089"/>
          </a:xfrm>
          <a:prstGeom prst="rect">
            <a:avLst/>
          </a:prstGeom>
          <a:ln w="0">
            <a:noFill/>
          </a:ln>
        </p:spPr>
      </p:pic>
      <p:pic>
        <p:nvPicPr>
          <p:cNvPr id="45" name="Рисунок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77" y="2877606"/>
            <a:ext cx="4942762" cy="2350661"/>
          </a:xfrm>
          <a:prstGeom prst="rect">
            <a:avLst/>
          </a:prstGeom>
          <a:ln w="0">
            <a:noFill/>
          </a:ln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65" y="3123765"/>
            <a:ext cx="4801995" cy="2276209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49"/>
          <p:cNvSpPr/>
          <p:nvPr/>
        </p:nvSpPr>
        <p:spPr>
          <a:xfrm>
            <a:off x="180000" y="903240"/>
            <a:ext cx="8741262" cy="431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Java –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DejaVu Sans"/>
              </a:rPr>
              <a:t>Высокоуровневый о</a:t>
            </a: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бъектно-ориентированный язык программирования</a:t>
            </a:r>
            <a:endParaRPr lang="en-US" sz="2000" b="0" u="none" strike="noStrike" dirty="0">
              <a:solidFill>
                <a:srgbClr val="000000"/>
              </a:solidFill>
              <a:uFillTx/>
              <a:latin typeface="Times New Roman"/>
              <a:ea typeface="DejaVu Sans"/>
            </a:endParaRPr>
          </a:p>
          <a:p>
            <a:pPr>
              <a:lnSpc>
                <a:spcPct val="15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Spring Boot – MVC </a:t>
            </a: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фреймворк для веб-разработки на </a:t>
            </a:r>
            <a:r>
              <a:rPr lang="en-US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Java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PostgreSQL – 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Объектно-реляционная СУБД</a:t>
            </a: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Hibernate – ORM 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фреймворк для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Java</a:t>
            </a:r>
            <a:endParaRPr lang="ru-RU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Times New Roman"/>
              </a:rPr>
              <a:t>Docker – </a:t>
            </a: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/>
              </a:rPr>
              <a:t>Платформа для контейнеризации приложений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  <a:latin typeface="Times New Roman"/>
              </a:rPr>
              <a:t>Thymeleaf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 – Java-</a:t>
            </a:r>
            <a:r>
              <a:rPr lang="ru-RU" sz="2000" dirty="0" err="1">
                <a:solidFill>
                  <a:srgbClr val="000000"/>
                </a:solidFill>
                <a:latin typeface="Times New Roman"/>
              </a:rPr>
              <a:t>шаблонизатор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 веб-страниц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DejaVu Sans"/>
              </a:rPr>
              <a:t>JetBrains IntelliJ</a:t>
            </a: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 — Текстовый редактор для разработки на </a:t>
            </a:r>
            <a:r>
              <a:rPr lang="en-US" sz="2000" b="0" u="none" strike="noStrike" dirty="0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Java</a:t>
            </a:r>
            <a:endParaRPr lang="ru-RU" sz="2000" b="0" u="none" strike="noStrike" dirty="0">
              <a:solidFill>
                <a:srgbClr val="000000"/>
              </a:solidFill>
              <a:uFillTx/>
              <a:latin typeface="Times New Roman"/>
              <a:ea typeface="DejaVu Sans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HTML5, CSS3, JavaScript – </a:t>
            </a:r>
            <a:r>
              <a:rPr lang="ru-RU" sz="2000" dirty="0" err="1">
                <a:solidFill>
                  <a:srgbClr val="000000"/>
                </a:solidFill>
                <a:latin typeface="Times New Roman"/>
              </a:rPr>
              <a:t>Технологиии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 клиентской части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</a:pP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7" name="Рисунок 46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48" name="Прямоугольник 47"/>
          <p:cNvSpPr/>
          <p:nvPr/>
        </p:nvSpPr>
        <p:spPr>
          <a:xfrm>
            <a:off x="9387000" y="5040000"/>
            <a:ext cx="33192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D669C77D-97E1-45A1-A260-67AA0EB7F158}" type="slidenum">
              <a:rPr lang="ru-RU" sz="2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4</a:t>
            </a:fld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3195000" y="360000"/>
            <a:ext cx="3688920" cy="76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Технологии разработки</a:t>
            </a:r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26" name="Picture 2" descr="Java logo - Free Icon PNG, SVG">
            <a:extLst>
              <a:ext uri="{FF2B5EF4-FFF2-40B4-BE49-F238E27FC236}">
                <a16:creationId xmlns:a16="http://schemas.microsoft.com/office/drawing/2014/main" id="{42358BC3-D10F-954E-660C-EAD5582AD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825" y="1517257"/>
            <a:ext cx="1937312" cy="96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wnload - Thymeleaf">
            <a:extLst>
              <a:ext uri="{FF2B5EF4-FFF2-40B4-BE49-F238E27FC236}">
                <a16:creationId xmlns:a16="http://schemas.microsoft.com/office/drawing/2014/main" id="{1A729FD1-FB7C-57FF-48F9-F9104BDF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519" y="4768891"/>
            <a:ext cx="2610558" cy="52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Файл:JetBrains IntelliJ IDEA Product ...">
            <a:extLst>
              <a:ext uri="{FF2B5EF4-FFF2-40B4-BE49-F238E27FC236}">
                <a16:creationId xmlns:a16="http://schemas.microsoft.com/office/drawing/2014/main" id="{3BC57295-5C2B-1D5B-1209-78C9DE3EA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74" y="4674914"/>
            <a:ext cx="2998769" cy="76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Spring Framework Logo in SVG Vector or PNG File Format - Logo.wine">
            <a:extLst>
              <a:ext uri="{FF2B5EF4-FFF2-40B4-BE49-F238E27FC236}">
                <a16:creationId xmlns:a16="http://schemas.microsoft.com/office/drawing/2014/main" id="{6DF337AE-274B-2988-D311-3C65181D8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433" y="1412597"/>
            <a:ext cx="2807392" cy="187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ade Learning JavaScript Easier ...">
            <a:extLst>
              <a:ext uri="{FF2B5EF4-FFF2-40B4-BE49-F238E27FC236}">
                <a16:creationId xmlns:a16="http://schemas.microsoft.com/office/drawing/2014/main" id="{4C2B9D3E-F0F6-0A42-022C-842C5B76F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511" y="3592859"/>
            <a:ext cx="2454626" cy="137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BECFFDE-B740-2843-F41B-1ADDE656C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154" y="4756335"/>
            <a:ext cx="2435477" cy="55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stgresql original wordmark logo ...">
            <a:extLst>
              <a:ext uri="{FF2B5EF4-FFF2-40B4-BE49-F238E27FC236}">
                <a16:creationId xmlns:a16="http://schemas.microsoft.com/office/drawing/2014/main" id="{DE1278F1-057C-8D5F-E05B-C50C270E4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814" y="2651252"/>
            <a:ext cx="1117791" cy="111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ibernate (@Hibernate) / Posts / X">
            <a:extLst>
              <a:ext uri="{FF2B5EF4-FFF2-40B4-BE49-F238E27FC236}">
                <a16:creationId xmlns:a16="http://schemas.microsoft.com/office/drawing/2014/main" id="{0BAC4CCE-070B-655A-3203-BCAEB76B4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0" t="10828" r="11238" b="16478"/>
          <a:stretch/>
        </p:blipFill>
        <p:spPr bwMode="auto">
          <a:xfrm>
            <a:off x="7199630" y="2590573"/>
            <a:ext cx="1117791" cy="109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52" name="Прямоугольник 51"/>
          <p:cNvSpPr/>
          <p:nvPr/>
        </p:nvSpPr>
        <p:spPr>
          <a:xfrm>
            <a:off x="9387000" y="5040000"/>
            <a:ext cx="33192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35063315-C2A7-4DE0-AA50-4F7DBDB1DA1F}" type="slidenum">
              <a:rPr lang="ru-RU" sz="2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5</a:t>
            </a:fld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3195000" y="360000"/>
            <a:ext cx="3688920" cy="76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dirty="0">
                <a:solidFill>
                  <a:srgbClr val="000000"/>
                </a:solidFill>
                <a:latin typeface="Times New Roman"/>
              </a:rPr>
              <a:t>Разработка архитектуры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A63048-7E27-6927-E520-8D3943667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4011" y="968125"/>
            <a:ext cx="4097604" cy="166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F83E7D-182D-1B53-FA78-3789F4376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34813" y="3038099"/>
            <a:ext cx="5045187" cy="23834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CDDCF8-2C28-466D-1A2C-E7A7BD3C5CFA}"/>
              </a:ext>
            </a:extLst>
          </p:cNvPr>
          <p:cNvSpPr/>
          <p:nvPr/>
        </p:nvSpPr>
        <p:spPr>
          <a:xfrm>
            <a:off x="180000" y="903240"/>
            <a:ext cx="4444754" cy="431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/>
              </a:rPr>
              <a:t>Тестирование проводилось с помощью </a:t>
            </a:r>
            <a:r>
              <a:rPr lang="en-US" sz="2000" dirty="0">
                <a:solidFill>
                  <a:srgbClr val="000000"/>
                </a:solidFill>
                <a:latin typeface="Times New Roman"/>
              </a:rPr>
              <a:t>Docker Compose</a:t>
            </a:r>
            <a:endParaRPr lang="ru-RU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/>
              </a:rPr>
              <a:t>MVC – Model View Controller</a:t>
            </a:r>
          </a:p>
          <a:p>
            <a:pPr>
              <a:lnSpc>
                <a:spcPct val="150000"/>
              </a:lnSpc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Times New Roman"/>
              </a:rPr>
              <a:t>Model – 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Данные и бизнес-логика</a:t>
            </a:r>
            <a:endParaRPr lang="en-US" sz="20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–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страниц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–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запросов</a:t>
            </a:r>
            <a:endParaRPr lang="ru-RU" sz="2000" b="0" u="none" strike="noStrike" dirty="0">
              <a:solidFill>
                <a:srgbClr val="000000"/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8" descr="Download Spring Framework Logo in SVG Vector or PNG File Format - Logo.wine">
            <a:extLst>
              <a:ext uri="{FF2B5EF4-FFF2-40B4-BE49-F238E27FC236}">
                <a16:creationId xmlns:a16="http://schemas.microsoft.com/office/drawing/2014/main" id="{80E13FF2-958E-9FE9-412E-13F170894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90565"/>
            <a:ext cx="2807392" cy="187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Download - Thymeleaf">
            <a:extLst>
              <a:ext uri="{FF2B5EF4-FFF2-40B4-BE49-F238E27FC236}">
                <a16:creationId xmlns:a16="http://schemas.microsoft.com/office/drawing/2014/main" id="{6AAFA32D-0BB9-6EC9-39BE-C4621081F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314" y="4561811"/>
            <a:ext cx="2610558" cy="52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52" name="Прямоугольник 51"/>
          <p:cNvSpPr/>
          <p:nvPr/>
        </p:nvSpPr>
        <p:spPr>
          <a:xfrm>
            <a:off x="9387000" y="5040000"/>
            <a:ext cx="33192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35063315-C2A7-4DE0-AA50-4F7DBDB1DA1F}" type="slidenum">
              <a:rPr lang="ru-RU" sz="2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6</a:t>
            </a:fld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2496635" y="360000"/>
            <a:ext cx="5087354" cy="76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dirty="0">
                <a:solidFill>
                  <a:srgbClr val="000000"/>
                </a:solidFill>
                <a:latin typeface="Times New Roman"/>
              </a:rPr>
              <a:t>Разработка логики базы данных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CDDCF8-2C28-466D-1A2C-E7A7BD3C5CFA}"/>
              </a:ext>
            </a:extLst>
          </p:cNvPr>
          <p:cNvSpPr/>
          <p:nvPr/>
        </p:nvSpPr>
        <p:spPr>
          <a:xfrm>
            <a:off x="180000" y="903240"/>
            <a:ext cx="4444754" cy="431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/>
                <a:cs typeface="Times New Roman" panose="02020603050405020304" pitchFamily="18" charset="0"/>
              </a:rPr>
              <a:t>Сущности базы данных: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User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 – пользователь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Product – 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товар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Order – </a:t>
            </a: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заказ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 заказа</a:t>
            </a:r>
            <a:endParaRPr lang="ru-RU" sz="2000" dirty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C61687-72C7-5E29-4769-1CA07E525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24324" y="947762"/>
            <a:ext cx="5937885" cy="3446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298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52" name="Прямоугольник 51"/>
          <p:cNvSpPr/>
          <p:nvPr/>
        </p:nvSpPr>
        <p:spPr>
          <a:xfrm>
            <a:off x="9387000" y="5040000"/>
            <a:ext cx="33192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35063315-C2A7-4DE0-AA50-4F7DBDB1DA1F}" type="slidenum">
              <a:rPr lang="ru-RU" sz="2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7</a:t>
            </a:fld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2736585" y="360000"/>
            <a:ext cx="4607454" cy="76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u="none" strike="noStrike" dirty="0">
                <a:solidFill>
                  <a:srgbClr val="000000"/>
                </a:solidFill>
                <a:uFillTx/>
                <a:latin typeface="Times New Roman"/>
              </a:rPr>
              <a:t>Реализация серверной логики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CDDCF8-2C28-466D-1A2C-E7A7BD3C5CFA}"/>
              </a:ext>
            </a:extLst>
          </p:cNvPr>
          <p:cNvSpPr/>
          <p:nvPr/>
        </p:nvSpPr>
        <p:spPr>
          <a:xfrm>
            <a:off x="180000" y="903240"/>
            <a:ext cx="8788154" cy="431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/>
              </a:rPr>
              <a:t>Реализованы: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Регистрация и авторизация пользователей с помощью 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JWT</a:t>
            </a:r>
            <a:endParaRPr lang="ru-RU" sz="2000" dirty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Заполнение и просмотр информации о пользователе на странице профиля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Заполнение и просмотр корзины товаров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Создание, оформление заказов и просмотр истории заказов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заказами с админ-панели</a:t>
            </a:r>
          </a:p>
        </p:txBody>
      </p:sp>
    </p:spTree>
    <p:extLst>
      <p:ext uri="{BB962C8B-B14F-4D97-AF65-F5344CB8AC3E}">
        <p14:creationId xmlns:p14="http://schemas.microsoft.com/office/powerpoint/2010/main" val="214864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/>
          <p:cNvPicPr/>
          <p:nvPr/>
        </p:nvPicPr>
        <p:blipFill>
          <a:blip r:embed="rId2"/>
          <a:stretch/>
        </p:blipFill>
        <p:spPr>
          <a:xfrm>
            <a:off x="9180000" y="60840"/>
            <a:ext cx="738000" cy="838080"/>
          </a:xfrm>
          <a:prstGeom prst="rect">
            <a:avLst/>
          </a:prstGeom>
          <a:ln w="0">
            <a:noFill/>
          </a:ln>
        </p:spPr>
      </p:pic>
      <p:sp>
        <p:nvSpPr>
          <p:cNvPr id="52" name="Прямоугольник 51"/>
          <p:cNvSpPr/>
          <p:nvPr/>
        </p:nvSpPr>
        <p:spPr>
          <a:xfrm>
            <a:off x="9387000" y="5040000"/>
            <a:ext cx="331920" cy="42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35063315-C2A7-4DE0-AA50-4F7DBDB1DA1F}" type="slidenum">
              <a:rPr lang="ru-RU" sz="2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8</a:t>
            </a:fld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2170898" y="360000"/>
            <a:ext cx="5738827" cy="763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dirty="0">
                <a:solidFill>
                  <a:srgbClr val="000000"/>
                </a:solidFill>
                <a:latin typeface="Times New Roman"/>
              </a:rPr>
              <a:t>Разработка клиентского представления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CDDCF8-2C28-466D-1A2C-E7A7BD3C5CFA}"/>
              </a:ext>
            </a:extLst>
          </p:cNvPr>
          <p:cNvSpPr/>
          <p:nvPr/>
        </p:nvSpPr>
        <p:spPr>
          <a:xfrm>
            <a:off x="180000" y="903240"/>
            <a:ext cx="4444754" cy="431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b="0" u="none" strike="noStrike" dirty="0">
                <a:solidFill>
                  <a:srgbClr val="000000"/>
                </a:solidFill>
                <a:uFillTx/>
                <a:latin typeface="Times New Roman"/>
                <a:cs typeface="Times New Roman" panose="02020603050405020304" pitchFamily="18" charset="0"/>
              </a:rPr>
              <a:t>Реализованные страницы: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Меню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Корзина</a:t>
            </a:r>
            <a:endParaRPr lang="en-US" sz="2000" dirty="0">
              <a:solidFill>
                <a:srgbClr val="000000"/>
              </a:solidFill>
              <a:latin typeface="Times New Roman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Авторизация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Оформление заказа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Заказы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Профиль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AA0A71-249F-3FB9-077E-8C3DFA37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410" y="2947458"/>
            <a:ext cx="5304991" cy="251878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453361-3CB1-0BC7-62C0-C1B19EDEE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938" y="1046270"/>
            <a:ext cx="5017477" cy="238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0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504360" y="119088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marL="114840"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1" u="none" strike="noStrik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СПАСИБО ЗА ВНИМАНИЕ!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2879</TotalTime>
  <Words>334</Words>
  <Application>Microsoft Office PowerPoint</Application>
  <PresentationFormat>Произвольный</PresentationFormat>
  <Paragraphs>73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OpenSymbol</vt:lpstr>
      <vt:lpstr>Symbol</vt:lpstr>
      <vt:lpstr>Times New Roman</vt:lpstr>
      <vt:lpstr>Wingdings</vt:lpstr>
      <vt:lpstr>Office</vt:lpstr>
      <vt:lpstr>Office</vt:lpstr>
      <vt:lpstr>Office</vt:lpstr>
      <vt:lpstr>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dc:description/>
  <cp:lastModifiedBy>Mike Komi</cp:lastModifiedBy>
  <cp:revision>23</cp:revision>
  <dcterms:created xsi:type="dcterms:W3CDTF">2024-12-06T10:18:28Z</dcterms:created>
  <dcterms:modified xsi:type="dcterms:W3CDTF">2025-12-23T11:45:16Z</dcterms:modified>
  <dc:language>ru-RU</dc:language>
</cp:coreProperties>
</file>